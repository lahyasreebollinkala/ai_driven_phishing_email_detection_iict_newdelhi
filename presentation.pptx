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Accuracy</c:v>
                </c:pt>
              </c:strCache>
            </c:strRef>
          </c:tx>
          <c:spPr>
            <a:solidFill>
              <a:srgbClr val="00D4FF"/>
            </a:solidFill>
            <a:ln w="6350">
              <a:solidFill>
                <a:srgbClr val="FFFFFF"/>
              </a:solidFill>
            </a:ln>
          </c:spPr>
          <c:dLbls>
            <c:numFmt formatCode="0.0" sourceLinked="0"/>
            <c:txPr>
              <a:bodyPr/>
              <a:lstStyle/>
              <a:p>
                <a:pPr>
                  <a:defRPr sz="900">
                    <a:solidFill>
                      <a:srgbClr val="E2E8F0"/>
                    </a:solidFill>
                  </a:defRPr>
                </a:pPr>
              </a:p>
            </c:txPr>
            <c:showLegendKey val="0"/>
            <c:showVal val="0"/>
            <c:showCatName val="0"/>
            <c:showSerName val="0"/>
            <c:showPercent val="0"/>
            <c:showBubbleSize val="0"/>
            <c:showLeaderLines val="1"/>
          </c:dLbls>
          <c:cat>
            <c:strRef>
              <c:f>Sheet1!$A$2:$A$7</c:f>
              <c:strCache>
                <c:ptCount val="6"/>
                <c:pt idx="0">
                  <c:v>Neural Network</c:v>
                </c:pt>
                <c:pt idx="1">
                  <c:v>Logistic Regression</c:v>
                </c:pt>
                <c:pt idx="2">
                  <c:v>LightGBM</c:v>
                </c:pt>
                <c:pt idx="3">
                  <c:v>XGBoost</c:v>
                </c:pt>
                <c:pt idx="4">
                  <c:v>Random Forest</c:v>
                </c:pt>
                <c:pt idx="5">
                  <c:v>Naive Bayes</c:v>
                </c:pt>
              </c:strCache>
            </c:strRef>
          </c:cat>
          <c:val>
            <c:numRef>
              <c:f>Sheet1!$B$2:$B$7</c:f>
              <c:numCache>
                <c:formatCode>General</c:formatCode>
                <c:ptCount val="6"/>
                <c:pt idx="0">
                  <c:v>99.31</c:v>
                </c:pt>
                <c:pt idx="1">
                  <c:v>98.89</c:v>
                </c:pt>
                <c:pt idx="2">
                  <c:v>98.81</c:v>
                </c:pt>
                <c:pt idx="3">
                  <c:v>97.9</c:v>
                </c:pt>
                <c:pt idx="4">
                  <c:v>97.89</c:v>
                </c:pt>
                <c:pt idx="5">
                  <c:v>96.3</c:v>
                </c:pt>
              </c:numCache>
            </c:numRef>
          </c:val>
        </c:ser>
        <c:ser>
          <c:idx val="1"/>
          <c:order val="1"/>
          <c:tx>
            <c:strRef>
              <c:f>Sheet1!$C$1</c:f>
              <c:strCache>
                <c:ptCount val="1"/>
                <c:pt idx="0">
                  <c:v>Precision</c:v>
                </c:pt>
              </c:strCache>
            </c:strRef>
          </c:tx>
          <c:spPr>
            <a:solidFill>
              <a:srgbClr val="3B82F6"/>
            </a:solidFill>
            <a:ln w="6350">
              <a:solidFill>
                <a:srgbClr val="FFFFFF"/>
              </a:solidFill>
            </a:ln>
          </c:spPr>
          <c:dLbls>
            <c:numFmt formatCode="0.0" sourceLinked="0"/>
            <c:txPr>
              <a:bodyPr/>
              <a:lstStyle/>
              <a:p>
                <a:pPr>
                  <a:defRPr sz="900">
                    <a:solidFill>
                      <a:srgbClr val="E2E8F0"/>
                    </a:solidFill>
                  </a:defRPr>
                </a:pPr>
              </a:p>
            </c:txPr>
            <c:showLegendKey val="0"/>
            <c:showVal val="0"/>
            <c:showCatName val="0"/>
            <c:showSerName val="0"/>
            <c:showPercent val="0"/>
            <c:showBubbleSize val="0"/>
            <c:showLeaderLines val="1"/>
          </c:dLbls>
          <c:cat>
            <c:strRef>
              <c:f>Sheet1!$A$2:$A$7</c:f>
              <c:strCache>
                <c:ptCount val="6"/>
                <c:pt idx="0">
                  <c:v>Neural Network</c:v>
                </c:pt>
                <c:pt idx="1">
                  <c:v>Logistic Regression</c:v>
                </c:pt>
                <c:pt idx="2">
                  <c:v>LightGBM</c:v>
                </c:pt>
                <c:pt idx="3">
                  <c:v>XGBoost</c:v>
                </c:pt>
                <c:pt idx="4">
                  <c:v>Random Forest</c:v>
                </c:pt>
                <c:pt idx="5">
                  <c:v>Naive Bayes</c:v>
                </c:pt>
              </c:strCache>
            </c:strRef>
          </c:cat>
          <c:val>
            <c:numRef>
              <c:f>Sheet1!$C$2:$C$7</c:f>
              <c:numCache>
                <c:formatCode>General</c:formatCode>
                <c:ptCount val="6"/>
                <c:pt idx="0">
                  <c:v>99.49</c:v>
                </c:pt>
                <c:pt idx="1">
                  <c:v>98.89</c:v>
                </c:pt>
                <c:pt idx="2">
                  <c:v>98.6</c:v>
                </c:pt>
                <c:pt idx="3">
                  <c:v>97.19</c:v>
                </c:pt>
                <c:pt idx="4">
                  <c:v>97.32</c:v>
                </c:pt>
                <c:pt idx="5">
                  <c:v>98.83</c:v>
                </c:pt>
              </c:numCache>
            </c:numRef>
          </c:val>
        </c:ser>
        <c:ser>
          <c:idx val="2"/>
          <c:order val="2"/>
          <c:tx>
            <c:strRef>
              <c:f>Sheet1!$D$1</c:f>
              <c:strCache>
                <c:ptCount val="1"/>
                <c:pt idx="0">
                  <c:v>Recall</c:v>
                </c:pt>
              </c:strCache>
            </c:strRef>
          </c:tx>
          <c:spPr>
            <a:solidFill>
              <a:srgbClr val="10B981"/>
            </a:solidFill>
            <a:ln w="6350">
              <a:solidFill>
                <a:srgbClr val="FFFFFF"/>
              </a:solidFill>
            </a:ln>
          </c:spPr>
          <c:dLbls>
            <c:numFmt formatCode="0.0" sourceLinked="0"/>
            <c:txPr>
              <a:bodyPr/>
              <a:lstStyle/>
              <a:p>
                <a:pPr>
                  <a:defRPr sz="900">
                    <a:solidFill>
                      <a:srgbClr val="E2E8F0"/>
                    </a:solidFill>
                  </a:defRPr>
                </a:pPr>
              </a:p>
            </c:txPr>
            <c:showLegendKey val="0"/>
            <c:showVal val="0"/>
            <c:showCatName val="0"/>
            <c:showSerName val="0"/>
            <c:showPercent val="0"/>
            <c:showBubbleSize val="0"/>
            <c:showLeaderLines val="1"/>
          </c:dLbls>
          <c:cat>
            <c:strRef>
              <c:f>Sheet1!$A$2:$A$7</c:f>
              <c:strCache>
                <c:ptCount val="6"/>
                <c:pt idx="0">
                  <c:v>Neural Network</c:v>
                </c:pt>
                <c:pt idx="1">
                  <c:v>Logistic Regression</c:v>
                </c:pt>
                <c:pt idx="2">
                  <c:v>LightGBM</c:v>
                </c:pt>
                <c:pt idx="3">
                  <c:v>XGBoost</c:v>
                </c:pt>
                <c:pt idx="4">
                  <c:v>Random Forest</c:v>
                </c:pt>
                <c:pt idx="5">
                  <c:v>Naive Bayes</c:v>
                </c:pt>
              </c:strCache>
            </c:strRef>
          </c:cat>
          <c:val>
            <c:numRef>
              <c:f>Sheet1!$D$2:$D$7</c:f>
              <c:numCache>
                <c:formatCode>General</c:formatCode>
                <c:ptCount val="6"/>
                <c:pt idx="0">
                  <c:v>99.18</c:v>
                </c:pt>
                <c:pt idx="1">
                  <c:v>98.96</c:v>
                </c:pt>
                <c:pt idx="2">
                  <c:v>99.1</c:v>
                </c:pt>
                <c:pt idx="3">
                  <c:v>98.79</c:v>
                </c:pt>
                <c:pt idx="4">
                  <c:v>98.64</c:v>
                </c:pt>
                <c:pt idx="5">
                  <c:v>93.95</c:v>
                </c:pt>
              </c:numCache>
            </c:numRef>
          </c:val>
        </c:ser>
        <c:ser>
          <c:idx val="3"/>
          <c:order val="3"/>
          <c:tx>
            <c:strRef>
              <c:f>Sheet1!$E$1</c:f>
              <c:strCache>
                <c:ptCount val="1"/>
                <c:pt idx="0">
                  <c:v>F1 Score</c:v>
                </c:pt>
              </c:strCache>
            </c:strRef>
          </c:tx>
          <c:spPr>
            <a:solidFill>
              <a:srgbClr val="F59E0B"/>
            </a:solidFill>
            <a:ln w="6350">
              <a:solidFill>
                <a:srgbClr val="FFFFFF"/>
              </a:solidFill>
            </a:ln>
          </c:spPr>
          <c:dLbls>
            <c:numFmt formatCode="0.0" sourceLinked="0"/>
            <c:txPr>
              <a:bodyPr/>
              <a:lstStyle/>
              <a:p>
                <a:pPr>
                  <a:defRPr sz="900">
                    <a:solidFill>
                      <a:srgbClr val="E2E8F0"/>
                    </a:solidFill>
                  </a:defRPr>
                </a:pPr>
              </a:p>
            </c:txPr>
            <c:showLegendKey val="0"/>
            <c:showVal val="0"/>
            <c:showCatName val="0"/>
            <c:showSerName val="0"/>
            <c:showPercent val="0"/>
            <c:showBubbleSize val="0"/>
            <c:showLeaderLines val="1"/>
          </c:dLbls>
          <c:cat>
            <c:strRef>
              <c:f>Sheet1!$A$2:$A$7</c:f>
              <c:strCache>
                <c:ptCount val="6"/>
                <c:pt idx="0">
                  <c:v>Neural Network</c:v>
                </c:pt>
                <c:pt idx="1">
                  <c:v>Logistic Regression</c:v>
                </c:pt>
                <c:pt idx="2">
                  <c:v>LightGBM</c:v>
                </c:pt>
                <c:pt idx="3">
                  <c:v>XGBoost</c:v>
                </c:pt>
                <c:pt idx="4">
                  <c:v>Random Forest</c:v>
                </c:pt>
                <c:pt idx="5">
                  <c:v>Naive Bayes</c:v>
                </c:pt>
              </c:strCache>
            </c:strRef>
          </c:cat>
          <c:val>
            <c:numRef>
              <c:f>Sheet1!$E$2:$E$7</c:f>
              <c:numCache>
                <c:formatCode>General</c:formatCode>
                <c:ptCount val="6"/>
                <c:pt idx="0">
                  <c:v>99.34</c:v>
                </c:pt>
                <c:pt idx="1">
                  <c:v>98.93</c:v>
                </c:pt>
                <c:pt idx="2">
                  <c:v>98.85</c:v>
                </c:pt>
                <c:pt idx="3">
                  <c:v>97.99</c:v>
                </c:pt>
                <c:pt idx="4">
                  <c:v>97.98</c:v>
                </c:pt>
                <c:pt idx="5">
                  <c:v>96.33</c:v>
                </c:pt>
              </c:numCache>
            </c:numRef>
          </c:val>
        </c:ser>
        <c:gapWidth val="9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E2E8F0"/>
                </a:solidFill>
                <a:latin typeface="Segoe UI"/>
              </a:defRPr>
            </a:pPr>
          </a:p>
        </c:txPr>
        <c:crossAx val="-2113994440"/>
        <c:crosses val="autoZero"/>
        <c:auto val="1"/>
        <c:lblAlgn val="ctr"/>
        <c:lblOffset val="100"/>
        <c:noMultiLvlLbl val="0"/>
      </c:catAx>
      <c:valAx>
        <c:axId val="-2113994440"/>
        <c:scaling>
          <c:max val="101.0"/>
          <c:min val="90.0"/>
        </c:scaling>
        <c:delete val="0"/>
        <c:axPos val="l"/>
        <c:majorGridlines>
          <c:spPr>
            <a:ln w="6350">
              <a:solidFill>
                <a:srgbClr val="2A325C"/>
              </a:solidFill>
            </a:ln>
          </c:spPr>
        </c:majorGridlines>
        <c:numFmt formatCode="0.0" sourceLinked="0"/>
        <c:majorTickMark val="out"/>
        <c:minorTickMark val="none"/>
        <c:tickLblPos val="nextTo"/>
        <c:txPr>
          <a:bodyPr/>
          <a:lstStyle/>
          <a:p>
            <a:pPr>
              <a:defRPr sz="1000">
                <a:solidFill>
                  <a:srgbClr val="E2E8F0"/>
                </a:solidFill>
              </a:defRPr>
            </a:pPr>
          </a:p>
        </c:txPr>
        <c:crossAx val="-2068027336"/>
        <c:crosses val="autoZero"/>
      </c:valAx>
    </c:plotArea>
    <c:legend>
      <c:legendPos val="b"/>
      <c:overlay val="0"/>
      <c:txPr>
        <a:bodyPr/>
        <a:lstStyle/>
        <a:p>
          <a:pPr>
            <a:defRPr sz="1100">
              <a:solidFill>
                <a:srgbClr val="E2E8F0"/>
              </a:solidFill>
              <a:latin typeface="Segoe UI"/>
            </a:defRPr>
          </a:pPr>
        </a:p>
      </c:txPr>
    </c:legend>
    <c:dispBlanksAs val="gap"/>
  </c:chart>
  <c:spPr>
    <a:solidFill>
      <a:srgbClr val="0A0E27"/>
    </a:solidFill>
  </c:spPr>
  <c:txPr>
    <a:bodyPr/>
    <a:lstStyle/>
    <a:p>
      <a:pPr>
        <a:defRPr sz="1100">
          <a:solidFill>
            <a:srgbClr val="E2E8F0"/>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panel. Good morning/afternoon, respected judges, faculty members, and friends. I am Lahya Sree Bollinkala, and I present my final-year B.Tech project titled 'AI-Driven Phishing Email Detection Using NLP'. Today I will walk you through a production-grade machine-learning system that detects phishing emails by combining natural-language processing with engineered structural features, and ships as a Streamlit web application, a FastAPI REST service, and a Docker container. The system was developed at the Indian Institute of Computing &amp; Technology, New Delhi for the academic year 2026-2027.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big picture before diving into detail. This is an end-to-end machine-learning project. We merged seven public email datasets into a corpus of roughly 165,000 emails, cleaned them with an NLP pipeline, engineered a hybrid feature set of 10,015 features, and benchmarked six classifiers. The best model - a Neural Network - reached 99.31% accuracy with a 99.34% F1 score. The system is deployed through a cyber-themed Streamlit dashboard, a FastAPI REST API, and is fully containerised with Docker. Four key numbers to remember: 127,428 emails trained on, 6 models compared, 99.31% accuracy, and a best-model prediction time of about 0.6 seconds per email.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Phishing remains one of the most effective attack vectors because it targets the human rather than the machine. Attackers craft emails that create urgency, impersonate trusted brands, and embed links to credential-harvesting pages. Traditional defenses have three weaknesses: rule-based keyword filters are trivial to bypass with paraphrasing; blacklists and URL reputation fail against newly registered domains, the so-called zero-hour attacks; and users cannot reliably detect socially engineered messages, especially now that generative AI produces near-perfect English. This creates a clear need for a detection system that analyses the actual content and structure of the email, which is exactly what this project implements.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Motivation comes from three directions. First, the security reality - phishing drives credential theft and business-email-compromise, and spam filters alone cannot stop targeted attacks. Second, the technical gap - most existing filters rely on metadata and blacklists rather than semantic and structural content analysis; we combine both. Third, the academic opportunity - this project demonstrates a complete machine-learning lifecycle: data engineering, NLP, feature engineering, model comparison, evaluation, and deployment, which is precisely the skill set expected of a final-year B.Tech student in an IEEE-style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six concrete objectives, each mapped to a delivered module: one, build a multi-source corpus by merging seven datasets into a unified schema; two, design an NLP preprocessing pipeline for email text; three, engineer a hybrid feature set combining 10,000 TF-IDF terms with 15 metadata features; four, benchmark six machine-learning classifiers under identical conditions; five, build a production inference engine with confidence scores, risk scoring, and natural-language explanations; and six, deploy the system as a Streamlit UI, a FastAPI API, and a Docker image. Every objective corresponds to a working component you will see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position the contribution, we analyse the limitations of existing systems. Rule-based systems match fixed keyword patterns and break immediately when wording changes. Blacklist and URL-reputation systems only detect previously reported infrastructure. Standard spam filters such as Bayesian classifiers treat the email as a bag of tokens and ignore structure like URL density and subject characteristics. Finally, a common problem in simple ML baselines is that they either use text features alone or metadata alone - never both. Our system is designed to close these gaps by using cleaned semantic content plus structural metadata together in one model, trained on a large multi-source corpus.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proposed system is a modular pipeline. Raw email text first passes through NLP preprocessing - HTML stripping, URL and signature removal, tokenization, stopword removal, and WordNet lemmatization. Then feature engineering combines a 10,000-term TF-IDF representation with 15 scaled metadata features. Six classifiers are trained and the best is selected by F1 score. At inference time, the system returns a verdict, a confidence value, a 0-100 risk score, the suspicious keywords detected, extracted URLs, an explanation, and an actionable recommendation. The same engine is exposed through a web UI, a REST API, and a CLI training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layer merges seven public email corpora. The largest is the Phishing Email dataset with over 82,000 labeled phishing samples. CEAS-08 contributes roughly 39,000 spam and phishing messages from the 2008 CEAS challenge. Enron provides almost 30,000 genuine corporate emails, which anchors the legitimate class. SpamAssassin adds about 5,800 spam-and-ham messages, the Nigerian Fraud corpus captures 4-1-9 advance-fee scam templates, Ling and Nazario round out the spam and phishing coverage. The merging logic in DatasetLoader normalises each file's heterogeneous schema - some have subject and body, some only text - into one common schema with a source_dataset column for traceability.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merging we obtained 164,972 emails. Cleaning and de-duplication left 127,428 usable samples, which were split 80/20 in a stratified fashion with a fixed random seed of 42, giving about 101,942 training and 25,486 test emails. The class distribution is nearly balanced - 51.7% phishing versus 48.3% legitimate - which is good for training, though the gradient-boosted models still received class weights. This pie and bar chart on the right is generated by our evaluation module. The final feature matrix has 10,015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Preprocessing follows a strict 12-step order. We lowercase, strip HTML tags, remove URLs and email addresses, cut off signature blocks, remove punctuation, numbers and emoji, tokenize with NLTK, drop English stopwords and single-character tokens, and finally lemmatize every token using WordNet. Quality controls include truncating emails beyond 50,000 characters, removing duplicate cleaned texts, dropping empty rows, and discarding texts shorter than 10 characters. Each step is an isolated method in TextPreprocessor, so the pipeline is fully testable - and there are unit tests verifying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engineering produces a single sparse matrix by horizontally stacking two feature blocks. The first block is TF-IDF on the cleaned text, capped at 10,000 terms using unigrams and bigrams. The second block is 15 metadata features extracted from the ORIGINAL raw text - this matters because structural signals such as URL count and uppercase ratio would be destroyed by cleaning. Metadata is standardized with StandardScaler so gradients stay stable. The fit happens on training data only, which prevents data leakage, and the same transform is applied to test and inference time. Total: 10,015 features.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TF-IDF, or term frequency - inverse document frequency, weights each term by how often it appears in a document and down-weights terms that appear across most documents, so common words carry less signal. The TfidfVectorizer is configured with max_features 10,000, n-gram range (1,2) for unigrams and bigrams, minimum document frequency of 3, a maximum document frequency of 95%, sublinear term frequency scaling 1+log(tf) to tame very frequent terms, and unicode accent stripping. This gives the models a compact but expressive vocabulary of phishing and legitimate phrasing.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bag of words, the system engineers 15 hand-crafted metadata features from the raw email. Length and content features: email length, word count, character count, and average word length. Structural markers: URL count, digit count, special-character count, uppercase word count, and the number of exclamation and question marks. A social-engineering score counts how many curated suspicious keywords appear - words like 'urgent', 'verify', 'password', 'lottery', 'click here'. Subject analytics capture whether a subject exists and its length. Lexical style features include unique-word ratio and uppercase ratio. These 15 features are a major reason the models generalise beyond vocabulary.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benchmark six distinct learning algorithms so the comparison is meaningful. Logistic Regression, a linear model with L2-style lbfgs optimisation and balanced class weights, trains in under 6 seconds. Multinomial Naive Bayes with alpha 0.1 is the baseline, running in 0.04 seconds. Random Forest uses 200 trees with depth limit 50. XGBoost and LightGBM are gradient-boosted learners with 200 trees, learning rate 0.1, and scale_pos_weight derived from the measured class ratio. Finally, a Neural Network MLP with three hidden layers of 256, 128 and 64 neurons, ReLU activation, Adam optimisation, early stopping and a batch size of 256 - this is our best performer. Configs live in one place, src/config.py.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pipeline is orchestrated by main.py in eight steps. We reuse cached cleaned data to avoid re-cleaning, split into train and test before fitting any feature - a crucial anti-leakage design - fit the vectorizer and scaler on training data only, train all six models, evaluate each on the held-out test set, choose the best model by F1 score with ROC-AUC as tiebreaker, save the best model plus metadata to joblib artifacts, and generate all reports and charts. Class imbalance is handled with class_weight balanced for sklearn models and scale_pos_weight for the boosted trees. A full run takes roughly 25-30 minutes on typical hardware, dominated by the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complete benchmark from the latest run, sorted by F1 score. The Neural Network leads with 99.31% accuracy and a 99.34% F1, and effectively perfect ROC and PR AUC values of 99.96%. Logistic Regression is the surprise second - 98.89% accuracy trained in only 5.8 seconds, making it the best accuracy-to-cost trade-off. LightGBM is the best boosted tree at 98.81%. The full CSV is saved to reports/model_comparison.csv and is regenerated on every training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results, a quick note on the metrics used. Accuracy is overall correctness. Precision measures how many emails flagged as phishing actually are phishing - it penalises false alarms. Recall measures what fraction of real phishing emails we catch - it penalises missed attacks. F1 is the harmonic mean of precision and recall, and because a missed phishing email is more harmful than a false alarm in this domain, we optimise model selection on F1. ROC-AUC and PR-AUC are threshold-independent; PR-AUC is especially informative here because the classes are mildly imbalanced.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native PowerPoint chart, editable like any normal chart, plots Accuracy, Precision, Recall and F1 for all six models. Notice every model is above 96%, which confirms the feature set carries strong signal. The Neural Network leads across all four metrics, while Naive Bayes trails on recall at 93.95% - it is conservative and misses more genuine phishing messages. This consistency across metrics makes the Neural Network the clear production choice, despite its longer training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confusion matrix shows exactly where a model errs. This grid is generated for all six models. For the best model, the Neural Network: 12,239 legitimate emails correctly classified, 67 legitimate emails falsely flagged as phishing - these are false alarms; 108 phishing emails missed - these are the dangerous misses; and 13,072 phishing emails correctly caught. The asymmetric cost matters: missing a real phishing email (108 cases) is far more serious than a false alarm (67 cases), which is why we also inspect recall.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ROC curve plots the true-positive rate against the false-positive rate across all thresholds. All six models sit near the top-left corner, with AUC values from 0.9957 for Naive Bayes up to 0.9996 for the Neural Network. An AUC of 1.0 is a perfect classifier, and 0.5 is random guessing - we are within striking distance of perfection. The curves are nearly overlapping at this scale, which is a strong visual argument for the quality of the feature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precision-recall curve is often more honest than ROC under class imbalance, because it focuses on the positive class we care about - phishing. Here again the Neural Network and Logistic Regression dominate the top-right corner, maintaining high precision even at high recall. PR-AUC values are all above 0.9958. A point worth mentioning in a viva: high precision keeps false alarms low for users, while high recall keeps missed attacks low - this curve shows both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system architecture. Raw datasets live under dataset/raw and are merged by DatasetLoader in src/preprocessing.py. The NLP cleaning pipeline and feature engineering live in feature_engineering.py. Six models are trained and evaluated by train_models.py and evaluate_models.py, which also generate every chart you see in this deck. Trained artifacts - the best model, the TF-IDF vectorizer, and the metadata scaler - are persisted as joblib files under models/ and loaded lazily at startup by the PhishingDetector in src/predict.py. Two interfaces expose the engine: the Streamlit app in app/ and the FastAPI service in src/api.py. Docker wraps everything with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workflow diagram shows the end-to-end flow at a glance. Seven datasets are ingested and merged; the NLP pipeline cleans the text; the feature engineer builds the 10,015-feature matrix; six models are trained and evaluated; the best model is saved; and it is deployed simultaneously to a Streamlit UI and a FastAPI API. At inference, new emails flow through the same cleaning and transform steps before the saved model returns a verdict. Everything below the fold - models, reports, images - is regenerated automatically by one command: python main.py.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prediction pipeline is where the project meets production. An email arrives by pasted text, an uploaded .txt or .eml file, or a CSV batch. It is cleaned by the exact same TextPreprocessor used in training. Features are built with the saved vectorizer and scaler - never refit - and passed to the model, which returns a probability. The risk score combines model confidence with 60% weight, suspicious keywords with 25% weight, and detected URLs with 15% weight, producing a 0-100 score with four risk levels. The system then emits a verdict, a confidence, an explanation, and a recommendation, and can generate a downloadable text report. Batch CSV scanning appends these columns per 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Streamlit dashboard, called AI Phishing Shield, has five pages. Dashboard shows KPIs, a threat distribution donut, a model leaderboard, and session prediction history. The Email Detector accepts paste, file upload, or batch CSV and renders a live cyber-risk gauge. Dataset Analytics shows class distribution, source datasets, wordclouds, top words, length histograms, and a correlation heatmap. Model Performance presents the metrics table, ROC and PR curves, confusion matrices, feature importance, and classification reports. The About page documents the architecture and tech stack. There is a light and dark theme toggle, and the entire theme is consistent with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screenshots of the running application. Top-left, the Security Dashboard with KPI cards, the threat distribution donut, and the model leaderboard. Top-right, the Email Detector page with the paste/upload interface and the interactive cyber-risk gauge. Bottom-left, Dataset Analytics showing class ratio and data-origin distribution. Bottom-right, the Model Performance page with the interactive metrics comparison. During the live demonstration I will run a phishing sample and show the highlighted keywords, the risk gauge, and the downloadable report.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advantages. First, accuracy: 99.31% with an F1 of 99.34% across a large, diverse corpus. Second, robustness: hybrid features combine semantic content with structural metadata, so the model is not fooled by merely rephrasing. Third, explainability: every prediction comes with confidence, a 0-100 risk score, flagged keywords, detected URLs, and a plain-English explanation. Fourth, multi-interface deployment: Streamlit UI, FastAPI REST API with auto-generated Swagger docs, CLI pipeline, and Docker. Fifth, engineering quality: unit tests, config-driven hyperparameters, reproducible random seeds, and cached cleaning for fast iteration. Sixth, transparency: reports and all charts are auto-generated for audit.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equally important to state limitations honestly. The dataset is English-only, so non-English phishing is out of scope. The system analyses text and metadata, not attachment payloads or image content, so image-only phishing emails can slip through. Crafted messages that deliberately avoid typical vocabulary may still evade detection, though metadata features reduce this. Training is memory-intensive - the neural network alone takes about 13 minutes and several GB of RAM. The model is a point-in-time snapshot; as attacker language evolves, periodic retraining is required. Finally, recent generative-AI phishing that imitates legitimate writing styles raises the detection ceiling.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branches in several directions. Model-wise, we could add modern architectures such as transformers - fine-tuning BERT-style models on the cleaned corpus. Domain-wise, we could add URL lexical and reputational analysis, domain age checks, header authentication inspection such as SPF, DKIM, and DMARC, and attachment sandboxing. Deployment-wise, we could add real-time integration into mail servers through the FastAPI service, continuous retraining as new labeled samples arrive, and a multi-language corpus. For research, adversarial robustness testing and explainability methods such as SHAP could turn this into a stronger research paper.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designed, implemented, evaluated, and deployed an end-to-end machine-learning system for phishing email detection. We merged seven datasets into a 127,428-email training corpus, built a modular NLP and feature-engineering pipeline with 10,015 features, benchmarked six classifiers, and selected a Neural Network achieving 99.31% accuracy and 99.34% F1. The system ships as a Streamlit dashboard, a FastAPI API, and a Docker image, with full reports and visualizations generated automatically. The project demonstrates the entire ML lifecycle, from raw data to a deployed, explainable product.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include the public datasets: the Phishing Email dataset, CEAS-08, Enron, SpamAssassin, Ling-Spam, Nazario, and the Nigerian Fraud corpus. On the engineering side: scikit-learn for preprocessing, models and metrics; NLTK and WordNet for tokenization and lemmatization; XGBoost and LightGBM for the boosted learners; Streamlit for the UI; FastAPI and Uvicorn for the REST API; and Docker for packaging. For the slide deck itself we used python-pptx. Full version pins are in requirements.txt, and the Dockerfile mirrors the exact versions that trained the serialized models.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attention. I am happy to take questions on any aspect - the NLP pipeline, feature engineering, model selection, the evaluation metrics, or the deployment architecture. The source code, trained artifacts, reports and this presentation are all part of the project deliverable for IICT New Delhi, academic year 2026-2027.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914400"/>
            <a:ext cx="914400" cy="914400"/>
          </a:xfrm>
          <a:prstGeom prst="ellipse">
            <a:avLst/>
          </a:prstGeom>
          <a:solidFill>
            <a:srgbClr val="00D4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54480" y="548640"/>
            <a:ext cx="548640" cy="548640"/>
          </a:xfrm>
          <a:prstGeom prst="ellipse">
            <a:avLst/>
          </a:prstGeom>
          <a:solidFill>
            <a:srgbClr val="7C3AED">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457200"/>
            <a:ext cx="402336" cy="402336"/>
          </a:xfrm>
          <a:prstGeom prst="ellipse">
            <a:avLst/>
          </a:prstGeom>
          <a:solidFill>
            <a:srgbClr val="10B981">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21440" y="6126480"/>
            <a:ext cx="1005840" cy="1005840"/>
          </a:xfrm>
          <a:prstGeom prst="ellipse">
            <a:avLst/>
          </a:prstGeom>
          <a:solidFill>
            <a:srgbClr val="7C3AE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972800" y="6309360"/>
            <a:ext cx="512064" cy="512064"/>
          </a:xfrm>
          <a:prstGeom prst="ellipse">
            <a:avLst/>
          </a:prstGeom>
          <a:solidFill>
            <a:srgbClr val="00D4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200" y="6309360"/>
            <a:ext cx="914400" cy="914400"/>
          </a:xfrm>
          <a:prstGeom prst="ellipse">
            <a:avLst/>
          </a:prstGeom>
          <a:solidFill>
            <a:srgbClr val="00D4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1097280" y="777240"/>
            <a:ext cx="502920" cy="228600"/>
          </a:xfrm>
          <a:prstGeom prst="line">
            <a:avLst/>
          </a:prstGeom>
          <a:ln w="12700">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00200" y="777240"/>
            <a:ext cx="9555480" cy="5394960"/>
          </a:xfrm>
          <a:prstGeom prst="line">
            <a:avLst/>
          </a:prstGeom>
          <a:ln w="12700">
            <a:solidFill>
              <a:srgbClr val="2A325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566928"/>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FINAL YEAR B.TECH PROJECT  ·  IEEE-STYLE PROJECT DEMONSTRATION</a:t>
            </a:r>
          </a:p>
        </p:txBody>
      </p:sp>
      <p:sp>
        <p:nvSpPr>
          <p:cNvPr id="15" name="Rounded Rectangle 14"/>
          <p:cNvSpPr/>
          <p:nvPr/>
        </p:nvSpPr>
        <p:spPr>
          <a:xfrm>
            <a:off x="822960" y="1078992"/>
            <a:ext cx="4937760" cy="384048"/>
          </a:xfrm>
          <a:prstGeom prst="roundRect">
            <a:avLst>
              <a:gd name="adj" fmla="val 50000"/>
            </a:avLst>
          </a:prstGeom>
          <a:solidFill>
            <a:srgbClr val="1A1F3A"/>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1078992"/>
            <a:ext cx="4937760" cy="384048"/>
          </a:xfrm>
          <a:prstGeom prst="rect">
            <a:avLst/>
          </a:prstGeom>
          <a:noFill/>
        </p:spPr>
        <p:txBody>
          <a:bodyPr wrap="square" anchor="ctr" lIns="50800" rIns="50800" tIns="0" bIns="0">
            <a:spAutoFit/>
          </a:bodyPr>
          <a:lstStyle/>
          <a:p>
            <a:pPr algn="ctr">
              <a:lnSpc>
                <a:spcPct val="100000"/>
              </a:lnSpc>
              <a:spcBef>
                <a:spcPts val="0"/>
              </a:spcBef>
              <a:spcAft>
                <a:spcPts val="0"/>
              </a:spcAft>
            </a:pPr>
            <a:r>
              <a:rPr sz="1200" b="1" i="0">
                <a:solidFill>
                  <a:srgbClr val="9CA9D0"/>
                </a:solidFill>
                <a:latin typeface="Segoe UI"/>
              </a:rPr>
              <a:t>Indian Institute of Computing &amp; Technology (IICT), New Delhi</a:t>
            </a:r>
          </a:p>
        </p:txBody>
      </p:sp>
      <p:sp>
        <p:nvSpPr>
          <p:cNvPr id="17" name="Rounded Rectangle 16"/>
          <p:cNvSpPr/>
          <p:nvPr/>
        </p:nvSpPr>
        <p:spPr>
          <a:xfrm>
            <a:off x="5148072" y="1572768"/>
            <a:ext cx="1901952" cy="1307592"/>
          </a:xfrm>
          <a:prstGeom prst="roundRect">
            <a:avLst>
              <a:gd name="adj" fmla="val 35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4910328" y="2618841"/>
            <a:ext cx="2377440" cy="1236268"/>
          </a:xfrm>
          <a:prstGeom prst="triangl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exagon 18"/>
          <p:cNvSpPr/>
          <p:nvPr/>
        </p:nvSpPr>
        <p:spPr>
          <a:xfrm>
            <a:off x="10250424" y="1197864"/>
            <a:ext cx="713232" cy="713232"/>
          </a:xfrm>
          <a:prstGeom prst="hexag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41356" y="888796"/>
            <a:ext cx="332841" cy="332841"/>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939881" y="888796"/>
            <a:ext cx="332841" cy="332841"/>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41356" y="1887321"/>
            <a:ext cx="332841" cy="332841"/>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939881" y="1887321"/>
            <a:ext cx="332841" cy="332841"/>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127248"/>
            <a:ext cx="10515600" cy="914400"/>
          </a:xfrm>
          <a:prstGeom prst="rect">
            <a:avLst/>
          </a:prstGeom>
          <a:noFill/>
        </p:spPr>
        <p:txBody>
          <a:bodyPr wrap="square" anchor="t" lIns="0" rIns="0" tIns="0" bIns="0">
            <a:spAutoFit/>
          </a:bodyPr>
          <a:lstStyle/>
          <a:p>
            <a:pPr algn="ctr">
              <a:lnSpc>
                <a:spcPct val="100000"/>
              </a:lnSpc>
              <a:spcBef>
                <a:spcPts val="0"/>
              </a:spcBef>
              <a:spcAft>
                <a:spcPts val="0"/>
              </a:spcAft>
            </a:pPr>
            <a:r>
              <a:rPr sz="4400" b="1" i="0">
                <a:solidFill>
                  <a:srgbClr val="FFFFFF"/>
                </a:solidFill>
                <a:latin typeface="Segoe UI"/>
              </a:rPr>
              <a:t>AI-Driven Phishing Email Detection</a:t>
            </a:r>
          </a:p>
        </p:txBody>
      </p:sp>
      <p:sp>
        <p:nvSpPr>
          <p:cNvPr id="25" name="TextBox 24"/>
          <p:cNvSpPr txBox="1"/>
          <p:nvPr/>
        </p:nvSpPr>
        <p:spPr>
          <a:xfrm>
            <a:off x="822960" y="3822191"/>
            <a:ext cx="10515600" cy="457200"/>
          </a:xfrm>
          <a:prstGeom prst="rect">
            <a:avLst/>
          </a:prstGeom>
          <a:noFill/>
        </p:spPr>
        <p:txBody>
          <a:bodyPr wrap="square" anchor="t" lIns="0" rIns="0" tIns="0" bIns="0">
            <a:spAutoFit/>
          </a:bodyPr>
          <a:lstStyle/>
          <a:p>
            <a:pPr algn="ctr">
              <a:lnSpc>
                <a:spcPct val="100000"/>
              </a:lnSpc>
              <a:spcBef>
                <a:spcPts val="0"/>
              </a:spcBef>
              <a:spcAft>
                <a:spcPts val="0"/>
              </a:spcAft>
            </a:pPr>
            <a:r>
              <a:rPr sz="2000" b="0" i="0">
                <a:solidFill>
                  <a:srgbClr val="00D4FF"/>
                </a:solidFill>
                <a:latin typeface="Segoe UI"/>
              </a:rPr>
              <a:t>Using Natural Language Processing &amp; Machine Learning</a:t>
            </a:r>
          </a:p>
        </p:txBody>
      </p:sp>
      <p:sp>
        <p:nvSpPr>
          <p:cNvPr id="26" name="Rounded Rectangle 25"/>
          <p:cNvSpPr/>
          <p:nvPr/>
        </p:nvSpPr>
        <p:spPr>
          <a:xfrm>
            <a:off x="1463040" y="4709160"/>
            <a:ext cx="3017520" cy="1051560"/>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63040" y="4856378"/>
            <a:ext cx="50800" cy="757123"/>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27632" y="4835347"/>
            <a:ext cx="2743200" cy="850392"/>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127,428</a:t>
            </a:r>
          </a:p>
          <a:p>
            <a:pPr algn="l">
              <a:lnSpc>
                <a:spcPct val="100000"/>
              </a:lnSpc>
              <a:spcBef>
                <a:spcPts val="200"/>
              </a:spcBef>
              <a:spcAft>
                <a:spcPts val="0"/>
              </a:spcAft>
            </a:pPr>
            <a:r>
              <a:rPr sz="1100" b="0" i="0">
                <a:solidFill>
                  <a:srgbClr val="9CA9D0"/>
                </a:solidFill>
                <a:latin typeface="Segoe UI"/>
              </a:rPr>
              <a:t>Emails Trained</a:t>
            </a:r>
          </a:p>
        </p:txBody>
      </p:sp>
      <p:sp>
        <p:nvSpPr>
          <p:cNvPr id="29" name="Rounded Rectangle 28"/>
          <p:cNvSpPr/>
          <p:nvPr/>
        </p:nvSpPr>
        <p:spPr>
          <a:xfrm>
            <a:off x="4709160" y="4709160"/>
            <a:ext cx="3017520" cy="1051560"/>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09160" y="4856378"/>
            <a:ext cx="50800" cy="757123"/>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73752" y="4835347"/>
            <a:ext cx="2743200" cy="850392"/>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6</a:t>
            </a:r>
          </a:p>
          <a:p>
            <a:pPr algn="l">
              <a:lnSpc>
                <a:spcPct val="100000"/>
              </a:lnSpc>
              <a:spcBef>
                <a:spcPts val="200"/>
              </a:spcBef>
              <a:spcAft>
                <a:spcPts val="0"/>
              </a:spcAft>
            </a:pPr>
            <a:r>
              <a:rPr sz="1100" b="0" i="0">
                <a:solidFill>
                  <a:srgbClr val="9CA9D0"/>
                </a:solidFill>
                <a:latin typeface="Segoe UI"/>
              </a:rPr>
              <a:t>Classifiers Benchmarked</a:t>
            </a:r>
          </a:p>
        </p:txBody>
      </p:sp>
      <p:sp>
        <p:nvSpPr>
          <p:cNvPr id="32" name="Rounded Rectangle 31"/>
          <p:cNvSpPr/>
          <p:nvPr/>
        </p:nvSpPr>
        <p:spPr>
          <a:xfrm>
            <a:off x="7955280" y="4709160"/>
            <a:ext cx="3017520" cy="1051560"/>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55280" y="4856378"/>
            <a:ext cx="50800" cy="757123"/>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19872" y="4835347"/>
            <a:ext cx="2743200" cy="850392"/>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99.31%</a:t>
            </a:r>
          </a:p>
          <a:p>
            <a:pPr algn="l">
              <a:lnSpc>
                <a:spcPct val="100000"/>
              </a:lnSpc>
              <a:spcBef>
                <a:spcPts val="200"/>
              </a:spcBef>
              <a:spcAft>
                <a:spcPts val="0"/>
              </a:spcAft>
            </a:pPr>
            <a:r>
              <a:rPr sz="1100" b="0" i="0">
                <a:solidFill>
                  <a:srgbClr val="9CA9D0"/>
                </a:solidFill>
                <a:latin typeface="Segoe UI"/>
              </a:rPr>
              <a:t>Best Accuracy (MLP)</a:t>
            </a:r>
          </a:p>
        </p:txBody>
      </p:sp>
      <p:sp>
        <p:nvSpPr>
          <p:cNvPr id="35" name="TextBox 34"/>
          <p:cNvSpPr txBox="1"/>
          <p:nvPr/>
        </p:nvSpPr>
        <p:spPr>
          <a:xfrm>
            <a:off x="822960" y="6053328"/>
            <a:ext cx="10515600" cy="365760"/>
          </a:xfrm>
          <a:prstGeom prst="rect">
            <a:avLst/>
          </a:prstGeom>
          <a:noFill/>
        </p:spPr>
        <p:txBody>
          <a:bodyPr wrap="square" anchor="t" lIns="0" rIns="0" tIns="0" bIns="0">
            <a:spAutoFit/>
          </a:bodyPr>
          <a:lstStyle/>
          <a:p>
            <a:pPr algn="ctr">
              <a:lnSpc>
                <a:spcPct val="100000"/>
              </a:lnSpc>
              <a:spcBef>
                <a:spcPts val="0"/>
              </a:spcBef>
              <a:spcAft>
                <a:spcPts val="0"/>
              </a:spcAft>
            </a:pPr>
            <a:r>
              <a:rPr sz="1200" b="0" i="0">
                <a:solidFill>
                  <a:srgbClr val="9CA9D0"/>
                </a:solidFill>
                <a:latin typeface="Segoe UI"/>
              </a:rPr>
              <a:t>Candidate: Lahya Sree Bollinkala   ·   Academic Year 2026–2027   ·   Streamlit · FastAPI · Scikit-Learn · Docker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01 · OVERVIEW</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Project Overview</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874519"/>
            <a:ext cx="5486400" cy="3108960"/>
          </a:xfrm>
          <a:prstGeom prst="rect">
            <a:avLst/>
          </a:prstGeom>
          <a:noFill/>
        </p:spPr>
        <p:txBody>
          <a:bodyPr wrap="square" anchor="t" lIns="0" rIns="0" tIns="0" bIns="0">
            <a:spAutoFit/>
          </a:bodyPr>
          <a:lstStyle/>
          <a:p>
            <a:pPr algn="l">
              <a:lnSpc>
                <a:spcPct val="115000"/>
              </a:lnSpc>
              <a:spcBef>
                <a:spcPts val="0"/>
              </a:spcBef>
              <a:spcAft>
                <a:spcPts val="800"/>
              </a:spcAft>
            </a:pPr>
            <a:r>
              <a:rPr sz="1500" b="0" i="0">
                <a:solidFill>
                  <a:srgbClr val="E2E8F0"/>
                </a:solidFill>
                <a:latin typeface="Segoe UI"/>
              </a:rPr>
              <a:t>Production-grade ML system for real-time email threat classification.</a:t>
            </a:r>
          </a:p>
          <a:p>
            <a:pPr algn="l" marL="183000" indent="-183000">
              <a:lnSpc>
                <a:spcPct val="110000"/>
              </a:lnSpc>
              <a:spcBef>
                <a:spcPts val="0"/>
              </a:spcBef>
              <a:spcAft>
                <a:spcPts val="500"/>
              </a:spcAft>
            </a:pPr>
            <a:r>
              <a:rPr sz="1300" b="1">
                <a:solidFill>
                  <a:srgbClr val="E2E8F0"/>
                </a:solidFill>
                <a:latin typeface="Segoe UI"/>
              </a:rPr>
              <a:t>▪  </a:t>
            </a:r>
            <a:r>
              <a:rPr sz="1300" b="0" i="0">
                <a:solidFill>
                  <a:srgbClr val="E2E8F0"/>
                </a:solidFill>
                <a:latin typeface="Segoe UI"/>
              </a:rPr>
              <a:t>Merges 7 public email datasets into one unified corpus.</a:t>
            </a:r>
          </a:p>
          <a:p>
            <a:pPr algn="l" marL="183000" indent="-183000">
              <a:lnSpc>
                <a:spcPct val="110000"/>
              </a:lnSpc>
              <a:spcBef>
                <a:spcPts val="0"/>
              </a:spcBef>
              <a:spcAft>
                <a:spcPts val="500"/>
              </a:spcAft>
            </a:pPr>
            <a:r>
              <a:rPr sz="1300" b="1">
                <a:solidFill>
                  <a:srgbClr val="E2E8F0"/>
                </a:solidFill>
                <a:latin typeface="Segoe UI"/>
              </a:rPr>
              <a:t>▪  </a:t>
            </a:r>
            <a:r>
              <a:rPr sz="1300" b="0" i="0">
                <a:solidFill>
                  <a:srgbClr val="E2E8F0"/>
                </a:solidFill>
                <a:latin typeface="Segoe UI"/>
              </a:rPr>
              <a:t>Hybrid features: 10,000 TF-IDF terms + 15 metadata features.</a:t>
            </a:r>
          </a:p>
          <a:p>
            <a:pPr algn="l" marL="183000" indent="-183000">
              <a:lnSpc>
                <a:spcPct val="110000"/>
              </a:lnSpc>
              <a:spcBef>
                <a:spcPts val="0"/>
              </a:spcBef>
              <a:spcAft>
                <a:spcPts val="500"/>
              </a:spcAft>
            </a:pPr>
            <a:r>
              <a:rPr sz="1300" b="1">
                <a:solidFill>
                  <a:srgbClr val="E2E8F0"/>
                </a:solidFill>
                <a:latin typeface="Segoe UI"/>
              </a:rPr>
              <a:t>▪  </a:t>
            </a:r>
            <a:r>
              <a:rPr sz="1300" b="0" i="0">
                <a:solidFill>
                  <a:srgbClr val="E2E8F0"/>
                </a:solidFill>
                <a:latin typeface="Segoe UI"/>
              </a:rPr>
              <a:t>6 ML classifiers benchmarked on accuracy, precision, recall, F1, ROC &amp; PR-AUC.</a:t>
            </a:r>
          </a:p>
          <a:p>
            <a:pPr algn="l" marL="183000" indent="-183000">
              <a:lnSpc>
                <a:spcPct val="110000"/>
              </a:lnSpc>
              <a:spcBef>
                <a:spcPts val="0"/>
              </a:spcBef>
              <a:spcAft>
                <a:spcPts val="500"/>
              </a:spcAft>
            </a:pPr>
            <a:r>
              <a:rPr sz="1300" b="1">
                <a:solidFill>
                  <a:srgbClr val="E2E8F0"/>
                </a:solidFill>
                <a:latin typeface="Segoe UI"/>
              </a:rPr>
              <a:t>▪  </a:t>
            </a:r>
            <a:r>
              <a:rPr sz="1300" b="0" i="0">
                <a:solidFill>
                  <a:srgbClr val="E2E8F0"/>
                </a:solidFill>
                <a:latin typeface="Segoe UI"/>
              </a:rPr>
              <a:t>Inference engine: verdict, confidence, risk score (0–100), explanation &amp; report.</a:t>
            </a:r>
          </a:p>
          <a:p>
            <a:pPr algn="l" marL="183000" indent="-183000">
              <a:lnSpc>
                <a:spcPct val="110000"/>
              </a:lnSpc>
              <a:spcBef>
                <a:spcPts val="0"/>
              </a:spcBef>
              <a:spcAft>
                <a:spcPts val="500"/>
              </a:spcAft>
            </a:pPr>
            <a:r>
              <a:rPr sz="1300" b="1">
                <a:solidFill>
                  <a:srgbClr val="E2E8F0"/>
                </a:solidFill>
                <a:latin typeface="Segoe UI"/>
              </a:rPr>
              <a:t>▪  </a:t>
            </a:r>
            <a:r>
              <a:rPr sz="1300" b="0" i="0">
                <a:solidFill>
                  <a:srgbClr val="E2E8F0"/>
                </a:solidFill>
                <a:latin typeface="Segoe UI"/>
              </a:rPr>
              <a:t>Deployed as Streamlit UI + FastAPI REST API + Docker.</a:t>
            </a:r>
          </a:p>
        </p:txBody>
      </p:sp>
      <p:sp>
        <p:nvSpPr>
          <p:cNvPr id="11" name="Rectangle 10"/>
          <p:cNvSpPr/>
          <p:nvPr/>
        </p:nvSpPr>
        <p:spPr>
          <a:xfrm>
            <a:off x="548640" y="4206240"/>
            <a:ext cx="5486400" cy="25400"/>
          </a:xfrm>
          <a:prstGeom prst="rect">
            <a:avLst/>
          </a:prstGeom>
          <a:solidFill>
            <a:srgbClr val="2A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370832"/>
            <a:ext cx="5486400" cy="1463040"/>
          </a:xfrm>
          <a:prstGeom prst="rect">
            <a:avLst/>
          </a:prstGeom>
          <a:noFill/>
        </p:spPr>
        <p:txBody>
          <a:bodyPr wrap="square" anchor="t" lIns="0" rIns="0" tIns="0" bIns="0">
            <a:spAutoFit/>
          </a:bodyPr>
          <a:lstStyle/>
          <a:p>
            <a:pPr algn="l">
              <a:lnSpc>
                <a:spcPct val="100000"/>
              </a:lnSpc>
              <a:spcBef>
                <a:spcPts val="0"/>
              </a:spcBef>
              <a:spcAft>
                <a:spcPts val="600"/>
              </a:spcAft>
            </a:pPr>
            <a:r>
              <a:rPr sz="1400" b="1" i="0">
                <a:solidFill>
                  <a:srgbClr val="00D4FF"/>
                </a:solidFill>
                <a:latin typeface="Segoe UI"/>
              </a:rPr>
              <a:t>Tech Stack</a:t>
            </a:r>
          </a:p>
          <a:p>
            <a:pPr algn="l">
              <a:lnSpc>
                <a:spcPct val="125000"/>
              </a:lnSpc>
              <a:spcBef>
                <a:spcPts val="0"/>
              </a:spcBef>
              <a:spcAft>
                <a:spcPts val="0"/>
              </a:spcAft>
            </a:pPr>
            <a:r>
              <a:rPr sz="1200" b="0" i="0">
                <a:solidFill>
                  <a:srgbClr val="9CA9D0"/>
                </a:solidFill>
                <a:latin typeface="Segoe UI"/>
              </a:rPr>
              <a:t>Python 3.14 · scikit-learn · NLTK · XGBoost · LightGBM · Streamlit · FastAPI · Plotly · Docker · pytest</a:t>
            </a:r>
          </a:p>
        </p:txBody>
      </p:sp>
      <p:sp>
        <p:nvSpPr>
          <p:cNvPr id="13" name="Rounded Rectangle 12"/>
          <p:cNvSpPr/>
          <p:nvPr/>
        </p:nvSpPr>
        <p:spPr>
          <a:xfrm>
            <a:off x="6400800" y="1874519"/>
            <a:ext cx="2468880" cy="2084831"/>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n 13"/>
          <p:cNvSpPr/>
          <p:nvPr/>
        </p:nvSpPr>
        <p:spPr>
          <a:xfrm>
            <a:off x="7380122" y="2093975"/>
            <a:ext cx="510235" cy="566928"/>
          </a:xfrm>
          <a:prstGeom prst="can">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926079"/>
            <a:ext cx="2468880" cy="914400"/>
          </a:xfrm>
          <a:prstGeom prst="rect">
            <a:avLst/>
          </a:prstGeom>
          <a:noFill/>
        </p:spPr>
        <p:txBody>
          <a:bodyPr wrap="square" anchor="t" lIns="0" rIns="0" tIns="0" bIns="0">
            <a:spAutoFit/>
          </a:bodyPr>
          <a:lstStyle/>
          <a:p>
            <a:pPr algn="ctr">
              <a:lnSpc>
                <a:spcPct val="100000"/>
              </a:lnSpc>
              <a:spcBef>
                <a:spcPts val="0"/>
              </a:spcBef>
              <a:spcAft>
                <a:spcPts val="0"/>
              </a:spcAft>
            </a:pPr>
            <a:r>
              <a:rPr sz="2400" b="1" i="0">
                <a:solidFill>
                  <a:srgbClr val="FFFFFF"/>
                </a:solidFill>
                <a:latin typeface="Segoe UI"/>
              </a:rPr>
              <a:t>127,428</a:t>
            </a:r>
          </a:p>
          <a:p>
            <a:pPr algn="ctr">
              <a:lnSpc>
                <a:spcPct val="100000"/>
              </a:lnSpc>
              <a:spcBef>
                <a:spcPts val="0"/>
              </a:spcBef>
              <a:spcAft>
                <a:spcPts val="0"/>
              </a:spcAft>
            </a:pPr>
            <a:r>
              <a:rPr sz="1200" b="0" i="0">
                <a:solidFill>
                  <a:srgbClr val="9CA9D0"/>
                </a:solidFill>
                <a:latin typeface="Segoe UI"/>
              </a:rPr>
              <a:t>Emails trained</a:t>
            </a:r>
          </a:p>
        </p:txBody>
      </p:sp>
      <p:sp>
        <p:nvSpPr>
          <p:cNvPr id="16" name="Rounded Rectangle 15"/>
          <p:cNvSpPr/>
          <p:nvPr/>
        </p:nvSpPr>
        <p:spPr>
          <a:xfrm>
            <a:off x="9006840" y="1874519"/>
            <a:ext cx="2468880" cy="2084831"/>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Gear 6 16"/>
          <p:cNvSpPr/>
          <p:nvPr/>
        </p:nvSpPr>
        <p:spPr>
          <a:xfrm>
            <a:off x="9957816" y="2093975"/>
            <a:ext cx="566928" cy="566928"/>
          </a:xfrm>
          <a:prstGeom prst="gear6">
            <a:avLst>
              <a:gd name="adj1" fmla="val 18000"/>
              <a:gd name="adj2" fmla="val 1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2926079"/>
            <a:ext cx="2468880" cy="914400"/>
          </a:xfrm>
          <a:prstGeom prst="rect">
            <a:avLst/>
          </a:prstGeom>
          <a:noFill/>
        </p:spPr>
        <p:txBody>
          <a:bodyPr wrap="square" anchor="t" lIns="0" rIns="0" tIns="0" bIns="0">
            <a:spAutoFit/>
          </a:bodyPr>
          <a:lstStyle/>
          <a:p>
            <a:pPr algn="ctr">
              <a:lnSpc>
                <a:spcPct val="100000"/>
              </a:lnSpc>
              <a:spcBef>
                <a:spcPts val="0"/>
              </a:spcBef>
              <a:spcAft>
                <a:spcPts val="0"/>
              </a:spcAft>
            </a:pPr>
            <a:r>
              <a:rPr sz="2400" b="1" i="0">
                <a:solidFill>
                  <a:srgbClr val="FFFFFF"/>
                </a:solidFill>
                <a:latin typeface="Segoe UI"/>
              </a:rPr>
              <a:t>6</a:t>
            </a:r>
          </a:p>
          <a:p>
            <a:pPr algn="ctr">
              <a:lnSpc>
                <a:spcPct val="100000"/>
              </a:lnSpc>
              <a:spcBef>
                <a:spcPts val="0"/>
              </a:spcBef>
              <a:spcAft>
                <a:spcPts val="0"/>
              </a:spcAft>
            </a:pPr>
            <a:r>
              <a:rPr sz="1200" b="0" i="0">
                <a:solidFill>
                  <a:srgbClr val="9CA9D0"/>
                </a:solidFill>
                <a:latin typeface="Segoe UI"/>
              </a:rPr>
              <a:t>ML classifiers</a:t>
            </a:r>
          </a:p>
        </p:txBody>
      </p:sp>
      <p:sp>
        <p:nvSpPr>
          <p:cNvPr id="19" name="Rounded Rectangle 18"/>
          <p:cNvSpPr/>
          <p:nvPr/>
        </p:nvSpPr>
        <p:spPr>
          <a:xfrm>
            <a:off x="6400800" y="4023359"/>
            <a:ext cx="2468880" cy="2084831"/>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0122" y="4582971"/>
            <a:ext cx="147401" cy="2267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61539" y="4497932"/>
            <a:ext cx="147401" cy="31181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42956" y="4356200"/>
            <a:ext cx="147401" cy="4535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5074919"/>
            <a:ext cx="2468880" cy="914400"/>
          </a:xfrm>
          <a:prstGeom prst="rect">
            <a:avLst/>
          </a:prstGeom>
          <a:noFill/>
        </p:spPr>
        <p:txBody>
          <a:bodyPr wrap="square" anchor="t" lIns="0" rIns="0" tIns="0" bIns="0">
            <a:spAutoFit/>
          </a:bodyPr>
          <a:lstStyle/>
          <a:p>
            <a:pPr algn="ctr">
              <a:lnSpc>
                <a:spcPct val="100000"/>
              </a:lnSpc>
              <a:spcBef>
                <a:spcPts val="0"/>
              </a:spcBef>
              <a:spcAft>
                <a:spcPts val="0"/>
              </a:spcAft>
            </a:pPr>
            <a:r>
              <a:rPr sz="2400" b="1" i="0">
                <a:solidFill>
                  <a:srgbClr val="FFFFFF"/>
                </a:solidFill>
                <a:latin typeface="Segoe UI"/>
              </a:rPr>
              <a:t>99.31%</a:t>
            </a:r>
          </a:p>
          <a:p>
            <a:pPr algn="ctr">
              <a:lnSpc>
                <a:spcPct val="100000"/>
              </a:lnSpc>
              <a:spcBef>
                <a:spcPts val="0"/>
              </a:spcBef>
              <a:spcAft>
                <a:spcPts val="0"/>
              </a:spcAft>
            </a:pPr>
            <a:r>
              <a:rPr sz="1200" b="0" i="0">
                <a:solidFill>
                  <a:srgbClr val="9CA9D0"/>
                </a:solidFill>
                <a:latin typeface="Segoe UI"/>
              </a:rPr>
              <a:t>Best accuracy</a:t>
            </a:r>
          </a:p>
        </p:txBody>
      </p:sp>
      <p:sp>
        <p:nvSpPr>
          <p:cNvPr id="24" name="Rounded Rectangle 23"/>
          <p:cNvSpPr/>
          <p:nvPr/>
        </p:nvSpPr>
        <p:spPr>
          <a:xfrm>
            <a:off x="9006840" y="4023359"/>
            <a:ext cx="2468880" cy="2084831"/>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exagon 24"/>
          <p:cNvSpPr/>
          <p:nvPr/>
        </p:nvSpPr>
        <p:spPr>
          <a:xfrm>
            <a:off x="10071201" y="4356200"/>
            <a:ext cx="340156" cy="340156"/>
          </a:xfrm>
          <a:prstGeom prst="hexagon">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923800" y="4208799"/>
            <a:ext cx="158739" cy="158739"/>
          </a:xfrm>
          <a:prstGeom prst="ellipse">
            <a:avLst/>
          </a:prstGeom>
          <a:solidFill>
            <a:srgbClr val="151A38"/>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00019" y="4208799"/>
            <a:ext cx="158739" cy="158739"/>
          </a:xfrm>
          <a:prstGeom prst="ellipse">
            <a:avLst/>
          </a:prstGeom>
          <a:solidFill>
            <a:srgbClr val="151A38"/>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23800" y="4685018"/>
            <a:ext cx="158739" cy="158739"/>
          </a:xfrm>
          <a:prstGeom prst="ellipse">
            <a:avLst/>
          </a:prstGeom>
          <a:solidFill>
            <a:srgbClr val="151A38"/>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400019" y="4685018"/>
            <a:ext cx="158739" cy="158739"/>
          </a:xfrm>
          <a:prstGeom prst="ellipse">
            <a:avLst/>
          </a:prstGeom>
          <a:solidFill>
            <a:srgbClr val="151A38"/>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6840" y="5074919"/>
            <a:ext cx="2468880" cy="914400"/>
          </a:xfrm>
          <a:prstGeom prst="rect">
            <a:avLst/>
          </a:prstGeom>
          <a:noFill/>
        </p:spPr>
        <p:txBody>
          <a:bodyPr wrap="square" anchor="t" lIns="0" rIns="0" tIns="0" bIns="0">
            <a:spAutoFit/>
          </a:bodyPr>
          <a:lstStyle/>
          <a:p>
            <a:pPr algn="ctr">
              <a:lnSpc>
                <a:spcPct val="100000"/>
              </a:lnSpc>
              <a:spcBef>
                <a:spcPts val="0"/>
              </a:spcBef>
              <a:spcAft>
                <a:spcPts val="0"/>
              </a:spcAft>
            </a:pPr>
            <a:r>
              <a:rPr sz="2400" b="1" i="0">
                <a:solidFill>
                  <a:srgbClr val="FFFFFF"/>
                </a:solidFill>
                <a:latin typeface="Segoe UI"/>
              </a:rPr>
              <a:t>10,015</a:t>
            </a:r>
          </a:p>
          <a:p>
            <a:pPr algn="ctr">
              <a:lnSpc>
                <a:spcPct val="100000"/>
              </a:lnSpc>
              <a:spcBef>
                <a:spcPts val="0"/>
              </a:spcBef>
              <a:spcAft>
                <a:spcPts val="0"/>
              </a:spcAft>
            </a:pPr>
            <a:r>
              <a:rPr sz="1200" b="0" i="0">
                <a:solidFill>
                  <a:srgbClr val="9CA9D0"/>
                </a:solidFill>
                <a:latin typeface="Segoe UI"/>
              </a:rPr>
              <a:t>Features</a:t>
            </a:r>
          </a:p>
        </p:txBody>
      </p:sp>
      <p:sp>
        <p:nvSpPr>
          <p:cNvPr id="31" name="TextBox 30"/>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2" name="TextBox 31"/>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02 · PROBLEM STATEMENT</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The Problem</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Why phishing remains the hardest email attack to stop</a:t>
            </a:r>
          </a:p>
        </p:txBody>
      </p:sp>
      <p:sp>
        <p:nvSpPr>
          <p:cNvPr id="11" name="Rounded Rectangle 10"/>
          <p:cNvSpPr/>
          <p:nvPr/>
        </p:nvSpPr>
        <p:spPr>
          <a:xfrm>
            <a:off x="548640" y="1874519"/>
            <a:ext cx="5440680" cy="2084831"/>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sceles Triangle 11"/>
          <p:cNvSpPr/>
          <p:nvPr/>
        </p:nvSpPr>
        <p:spPr>
          <a:xfrm>
            <a:off x="984991" y="2294777"/>
            <a:ext cx="498896" cy="464880"/>
          </a:xfrm>
          <a:prstGeom prst="triangl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4361" y="2374147"/>
            <a:ext cx="340156" cy="340156"/>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0A0E27"/>
                </a:solidFill>
                <a:latin typeface="Segoe UI"/>
              </a:rPr>
              <a:t>!</a:t>
            </a:r>
          </a:p>
        </p:txBody>
      </p:sp>
      <p:sp>
        <p:nvSpPr>
          <p:cNvPr id="14" name="TextBox 13"/>
          <p:cNvSpPr txBox="1"/>
          <p:nvPr/>
        </p:nvSpPr>
        <p:spPr>
          <a:xfrm>
            <a:off x="1783080" y="2130551"/>
            <a:ext cx="4114800" cy="164592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FFFFFF"/>
                </a:solidFill>
                <a:latin typeface="Segoe UI"/>
              </a:rPr>
              <a:t>Phishing is a people problem</a:t>
            </a:r>
          </a:p>
          <a:p>
            <a:pPr algn="l">
              <a:lnSpc>
                <a:spcPct val="115000"/>
              </a:lnSpc>
              <a:spcBef>
                <a:spcPts val="0"/>
              </a:spcBef>
              <a:spcAft>
                <a:spcPts val="0"/>
              </a:spcAft>
            </a:pPr>
            <a:r>
              <a:rPr sz="1200" b="0" i="0">
                <a:solidFill>
                  <a:srgbClr val="9CA9D0"/>
                </a:solidFill>
                <a:latin typeface="Segoe UI"/>
              </a:rPr>
              <a:t>Attackers exploit urgency, fear and authority — not software vulnerabilities. A single click can compromise credentials.</a:t>
            </a:r>
          </a:p>
        </p:txBody>
      </p:sp>
      <p:sp>
        <p:nvSpPr>
          <p:cNvPr id="15" name="Rounded Rectangle 14"/>
          <p:cNvSpPr/>
          <p:nvPr/>
        </p:nvSpPr>
        <p:spPr>
          <a:xfrm>
            <a:off x="6172200" y="1874519"/>
            <a:ext cx="5440680" cy="2084831"/>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33275" y="2260761"/>
            <a:ext cx="249448" cy="226771"/>
          </a:xfrm>
          <a:prstGeom prst="ellipse">
            <a:avLst/>
          </a:prstGeom>
          <a:noFill/>
          <a:ln w="39116">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53905" y="2419501"/>
            <a:ext cx="408188" cy="374172"/>
          </a:xfrm>
          <a:prstGeom prst="roundRect">
            <a:avLst>
              <a:gd name="adj" fmla="val 18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18315" y="2555564"/>
            <a:ext cx="79369" cy="136062"/>
          </a:xfrm>
          <a:prstGeom prst="roundRect">
            <a:avLst>
              <a:gd name="adj" fmla="val 50000"/>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2130551"/>
            <a:ext cx="4114800" cy="164592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FFFFFF"/>
                </a:solidFill>
                <a:latin typeface="Segoe UI"/>
              </a:rPr>
              <a:t>Signature &amp; blacklist filters are reactive</a:t>
            </a:r>
          </a:p>
          <a:p>
            <a:pPr algn="l">
              <a:lnSpc>
                <a:spcPct val="115000"/>
              </a:lnSpc>
              <a:spcBef>
                <a:spcPts val="0"/>
              </a:spcBef>
              <a:spcAft>
                <a:spcPts val="0"/>
              </a:spcAft>
            </a:pPr>
            <a:r>
              <a:rPr sz="1200" b="0" i="0">
                <a:solidFill>
                  <a:srgbClr val="9CA9D0"/>
                </a:solidFill>
                <a:latin typeface="Segoe UI"/>
              </a:rPr>
              <a:t>They only catch known patterns and already-reported URLs. Newly registered phishing domains evade them (zero-hour attacks).</a:t>
            </a:r>
          </a:p>
        </p:txBody>
      </p:sp>
      <p:sp>
        <p:nvSpPr>
          <p:cNvPr id="20" name="Rounded Rectangle 19"/>
          <p:cNvSpPr/>
          <p:nvPr/>
        </p:nvSpPr>
        <p:spPr>
          <a:xfrm>
            <a:off x="548640" y="4160519"/>
            <a:ext cx="5440680" cy="2084831"/>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0976" y="4614792"/>
            <a:ext cx="566928" cy="385511"/>
          </a:xfrm>
          <a:prstGeom prst="roundRect">
            <a:avLst>
              <a:gd name="adj" fmla="val 14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950976" y="4614792"/>
            <a:ext cx="566928" cy="311810"/>
          </a:xfrm>
          <a:prstGeom prst="triangl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83080" y="4416551"/>
            <a:ext cx="4114800" cy="164592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FFFFFF"/>
                </a:solidFill>
                <a:latin typeface="Segoe UI"/>
              </a:rPr>
              <a:t>Content is the untapped signal</a:t>
            </a:r>
          </a:p>
          <a:p>
            <a:pPr algn="l">
              <a:lnSpc>
                <a:spcPct val="115000"/>
              </a:lnSpc>
              <a:spcBef>
                <a:spcPts val="0"/>
              </a:spcBef>
              <a:spcAft>
                <a:spcPts val="0"/>
              </a:spcAft>
            </a:pPr>
            <a:r>
              <a:rPr sz="1200" b="0" i="0">
                <a:solidFill>
                  <a:srgbClr val="9CA9D0"/>
                </a:solidFill>
                <a:latin typeface="Segoe UI"/>
              </a:rPr>
              <a:t>Rule-based keyword filters are trivially bypassed by paraphrasing; they ignore structural cues like URL density and uppercase ratio.</a:t>
            </a:r>
          </a:p>
        </p:txBody>
      </p:sp>
      <p:sp>
        <p:nvSpPr>
          <p:cNvPr id="24" name="Rounded Rectangle 23"/>
          <p:cNvSpPr/>
          <p:nvPr/>
        </p:nvSpPr>
        <p:spPr>
          <a:xfrm>
            <a:off x="6172200" y="4160519"/>
            <a:ext cx="5440680" cy="2084831"/>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exagon 24"/>
          <p:cNvSpPr/>
          <p:nvPr/>
        </p:nvSpPr>
        <p:spPr>
          <a:xfrm>
            <a:off x="6687921" y="4648808"/>
            <a:ext cx="340156" cy="340156"/>
          </a:xfrm>
          <a:prstGeom prst="hexagon">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40520" y="4501407"/>
            <a:ext cx="158739" cy="158739"/>
          </a:xfrm>
          <a:prstGeom prst="ellipse">
            <a:avLst/>
          </a:prstGeom>
          <a:solidFill>
            <a:srgbClr val="151A38"/>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016739" y="4501407"/>
            <a:ext cx="158739" cy="158739"/>
          </a:xfrm>
          <a:prstGeom prst="ellipse">
            <a:avLst/>
          </a:prstGeom>
          <a:solidFill>
            <a:srgbClr val="151A38"/>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540520" y="4977626"/>
            <a:ext cx="158739" cy="158739"/>
          </a:xfrm>
          <a:prstGeom prst="ellipse">
            <a:avLst/>
          </a:prstGeom>
          <a:solidFill>
            <a:srgbClr val="151A38"/>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16739" y="4977626"/>
            <a:ext cx="158739" cy="158739"/>
          </a:xfrm>
          <a:prstGeom prst="ellipse">
            <a:avLst/>
          </a:prstGeom>
          <a:solidFill>
            <a:srgbClr val="151A38"/>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0" y="4416551"/>
            <a:ext cx="4114800" cy="164592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FFFFFF"/>
                </a:solidFill>
                <a:latin typeface="Segoe UI"/>
              </a:rPr>
              <a:t>The bar is rising</a:t>
            </a:r>
          </a:p>
          <a:p>
            <a:pPr algn="l">
              <a:lnSpc>
                <a:spcPct val="115000"/>
              </a:lnSpc>
              <a:spcBef>
                <a:spcPts val="0"/>
              </a:spcBef>
              <a:spcAft>
                <a:spcPts val="0"/>
              </a:spcAft>
            </a:pPr>
            <a:r>
              <a:rPr sz="1200" b="0" i="0">
                <a:solidFill>
                  <a:srgbClr val="9CA9D0"/>
                </a:solidFill>
                <a:latin typeface="Segoe UI"/>
              </a:rPr>
              <a:t>Generative AI now produces fluent, personalised phishing — static filters cannot keep pace with evolving language.</a:t>
            </a:r>
          </a:p>
        </p:txBody>
      </p:sp>
      <p:sp>
        <p:nvSpPr>
          <p:cNvPr id="31" name="TextBox 30"/>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2" name="TextBox 31"/>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03 · MOTIVATION</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Motivation</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48640" y="1874519"/>
            <a:ext cx="566928" cy="566928"/>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0A0E27"/>
                </a:solidFill>
                <a:latin typeface="Segoe UI"/>
              </a:rPr>
              <a:t>1</a:t>
            </a:r>
          </a:p>
        </p:txBody>
      </p:sp>
      <p:sp>
        <p:nvSpPr>
          <p:cNvPr id="12" name="TextBox 11"/>
          <p:cNvSpPr txBox="1"/>
          <p:nvPr/>
        </p:nvSpPr>
        <p:spPr>
          <a:xfrm>
            <a:off x="1371600" y="1837943"/>
            <a:ext cx="10149840" cy="82296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Segoe UI"/>
              </a:rPr>
              <a:t>Cybersecurity reality</a:t>
            </a:r>
          </a:p>
          <a:p>
            <a:pPr algn="l">
              <a:lnSpc>
                <a:spcPct val="110000"/>
              </a:lnSpc>
              <a:spcBef>
                <a:spcPts val="0"/>
              </a:spcBef>
              <a:spcAft>
                <a:spcPts val="0"/>
              </a:spcAft>
            </a:pPr>
            <a:r>
              <a:rPr sz="1250" b="0" i="0">
                <a:solidFill>
                  <a:srgbClr val="9CA9D0"/>
                </a:solidFill>
                <a:latin typeface="Segoe UI"/>
              </a:rPr>
              <a:t>Phishing drives credential theft, ransomware delivery and business-email-compromise; inbox filters cannot fully stop socially engineered mail.</a:t>
            </a:r>
          </a:p>
        </p:txBody>
      </p:sp>
      <p:sp>
        <p:nvSpPr>
          <p:cNvPr id="13" name="Oval 12"/>
          <p:cNvSpPr/>
          <p:nvPr/>
        </p:nvSpPr>
        <p:spPr>
          <a:xfrm>
            <a:off x="548640" y="2953511"/>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953511"/>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0A0E27"/>
                </a:solidFill>
                <a:latin typeface="Segoe UI"/>
              </a:rPr>
              <a:t>2</a:t>
            </a:r>
          </a:p>
        </p:txBody>
      </p:sp>
      <p:sp>
        <p:nvSpPr>
          <p:cNvPr id="15" name="TextBox 14"/>
          <p:cNvSpPr txBox="1"/>
          <p:nvPr/>
        </p:nvSpPr>
        <p:spPr>
          <a:xfrm>
            <a:off x="1371600" y="2916935"/>
            <a:ext cx="10149840" cy="82296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Segoe UI"/>
              </a:rPr>
              <a:t>Technical gap</a:t>
            </a:r>
          </a:p>
          <a:p>
            <a:pPr algn="l">
              <a:lnSpc>
                <a:spcPct val="110000"/>
              </a:lnSpc>
              <a:spcBef>
                <a:spcPts val="0"/>
              </a:spcBef>
              <a:spcAft>
                <a:spcPts val="0"/>
              </a:spcAft>
            </a:pPr>
            <a:r>
              <a:rPr sz="1250" b="0" i="0">
                <a:solidFill>
                  <a:srgbClr val="9CA9D0"/>
                </a:solidFill>
                <a:latin typeface="Segoe UI"/>
              </a:rPr>
              <a:t>Most filters use metadata and blacklists alone. Combining semantic content (TF-IDF) with structural features is under-used and harder to bypass.</a:t>
            </a:r>
          </a:p>
        </p:txBody>
      </p:sp>
      <p:sp>
        <p:nvSpPr>
          <p:cNvPr id="16" name="Oval 15"/>
          <p:cNvSpPr/>
          <p:nvPr/>
        </p:nvSpPr>
        <p:spPr>
          <a:xfrm>
            <a:off x="548640" y="4032503"/>
            <a:ext cx="566928" cy="566928"/>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032503"/>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0A0E27"/>
                </a:solidFill>
                <a:latin typeface="Segoe UI"/>
              </a:rPr>
              <a:t>3</a:t>
            </a:r>
          </a:p>
        </p:txBody>
      </p:sp>
      <p:sp>
        <p:nvSpPr>
          <p:cNvPr id="18" name="TextBox 17"/>
          <p:cNvSpPr txBox="1"/>
          <p:nvPr/>
        </p:nvSpPr>
        <p:spPr>
          <a:xfrm>
            <a:off x="1371600" y="3995927"/>
            <a:ext cx="10149840" cy="82296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Segoe UI"/>
              </a:rPr>
              <a:t>Practical value</a:t>
            </a:r>
          </a:p>
          <a:p>
            <a:pPr algn="l">
              <a:lnSpc>
                <a:spcPct val="110000"/>
              </a:lnSpc>
              <a:spcBef>
                <a:spcPts val="0"/>
              </a:spcBef>
              <a:spcAft>
                <a:spcPts val="0"/>
              </a:spcAft>
            </a:pPr>
            <a:r>
              <a:rPr sz="1250" b="0" i="0">
                <a:solidFill>
                  <a:srgbClr val="9CA9D0"/>
                </a:solidFill>
                <a:latin typeface="Segoe UI"/>
              </a:rPr>
              <a:t>An explainable, real-time detector with risk scores and recommendations is directly deployable to end users and mail infrastructure.</a:t>
            </a:r>
          </a:p>
        </p:txBody>
      </p:sp>
      <p:sp>
        <p:nvSpPr>
          <p:cNvPr id="19" name="Oval 18"/>
          <p:cNvSpPr/>
          <p:nvPr/>
        </p:nvSpPr>
        <p:spPr>
          <a:xfrm>
            <a:off x="548640" y="5111495"/>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111495"/>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0A0E27"/>
                </a:solidFill>
                <a:latin typeface="Segoe UI"/>
              </a:rPr>
              <a:t>4</a:t>
            </a:r>
          </a:p>
        </p:txBody>
      </p:sp>
      <p:sp>
        <p:nvSpPr>
          <p:cNvPr id="21" name="TextBox 20"/>
          <p:cNvSpPr txBox="1"/>
          <p:nvPr/>
        </p:nvSpPr>
        <p:spPr>
          <a:xfrm>
            <a:off x="1371600" y="5074919"/>
            <a:ext cx="10149840" cy="82296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Segoe UI"/>
              </a:rPr>
              <a:t>Academic completeness</a:t>
            </a:r>
          </a:p>
          <a:p>
            <a:pPr algn="l">
              <a:lnSpc>
                <a:spcPct val="110000"/>
              </a:lnSpc>
              <a:spcBef>
                <a:spcPts val="0"/>
              </a:spcBef>
              <a:spcAft>
                <a:spcPts val="0"/>
              </a:spcAft>
            </a:pPr>
            <a:r>
              <a:rPr sz="1250" b="0" i="0">
                <a:solidFill>
                  <a:srgbClr val="9CA9D0"/>
                </a:solidFill>
                <a:latin typeface="Segoe UI"/>
              </a:rPr>
              <a:t>Demonstrates the full ML lifecycle — data engineering, NLP, feature engineering, benchmarking, evaluation and deployment.</a:t>
            </a:r>
          </a:p>
        </p:txBody>
      </p:sp>
      <p:sp>
        <p:nvSpPr>
          <p:cNvPr id="22" name="TextBox 21"/>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23" name="TextBox 22"/>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04 · OBJECTIVES</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Project Objectives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1874519"/>
            <a:ext cx="3502152" cy="19659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74519"/>
            <a:ext cx="3502152" cy="508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02535"/>
            <a:ext cx="457200" cy="457200"/>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00D4FF"/>
                </a:solidFill>
                <a:latin typeface="Segoe UI"/>
              </a:rPr>
              <a:t>1</a:t>
            </a:r>
          </a:p>
        </p:txBody>
      </p:sp>
      <p:sp>
        <p:nvSpPr>
          <p:cNvPr id="13" name="TextBox 12"/>
          <p:cNvSpPr txBox="1"/>
          <p:nvPr/>
        </p:nvSpPr>
        <p:spPr>
          <a:xfrm>
            <a:off x="1234440" y="2020823"/>
            <a:ext cx="2633472" cy="1691640"/>
          </a:xfrm>
          <a:prstGeom prst="rect">
            <a:avLst/>
          </a:prstGeom>
          <a:noFill/>
        </p:spPr>
        <p:txBody>
          <a:bodyPr wrap="square" anchor="t" lIns="0" rIns="0" tIns="0" bIns="0">
            <a:spAutoFit/>
          </a:bodyPr>
          <a:lstStyle/>
          <a:p>
            <a:pPr algn="l">
              <a:lnSpc>
                <a:spcPct val="100000"/>
              </a:lnSpc>
              <a:spcBef>
                <a:spcPts val="0"/>
              </a:spcBef>
              <a:spcAft>
                <a:spcPts val="300"/>
              </a:spcAft>
            </a:pPr>
            <a:r>
              <a:rPr sz="1250" b="1" i="0">
                <a:solidFill>
                  <a:srgbClr val="FFFFFF"/>
                </a:solidFill>
                <a:latin typeface="Segoe UI"/>
              </a:rPr>
              <a:t>Multi-source corpus</a:t>
            </a:r>
          </a:p>
          <a:p>
            <a:pPr algn="l">
              <a:lnSpc>
                <a:spcPct val="115000"/>
              </a:lnSpc>
              <a:spcBef>
                <a:spcPts val="0"/>
              </a:spcBef>
              <a:spcAft>
                <a:spcPts val="0"/>
              </a:spcAft>
            </a:pPr>
            <a:r>
              <a:rPr sz="1050" b="0" i="0">
                <a:solidFill>
                  <a:srgbClr val="9CA9D0"/>
                </a:solidFill>
                <a:latin typeface="Segoe UI"/>
              </a:rPr>
              <a:t>Merge 7 public datasets (~165K emails) into one unified schema with provenance tracking.</a:t>
            </a:r>
          </a:p>
        </p:txBody>
      </p:sp>
      <p:sp>
        <p:nvSpPr>
          <p:cNvPr id="14" name="Rounded Rectangle 13"/>
          <p:cNvSpPr/>
          <p:nvPr/>
        </p:nvSpPr>
        <p:spPr>
          <a:xfrm>
            <a:off x="4343400" y="1874519"/>
            <a:ext cx="3502152" cy="19659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874519"/>
            <a:ext cx="3502152"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2002535"/>
            <a:ext cx="457200" cy="457200"/>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7C3AED"/>
                </a:solidFill>
                <a:latin typeface="Segoe UI"/>
              </a:rPr>
              <a:t>2</a:t>
            </a:r>
          </a:p>
        </p:txBody>
      </p:sp>
      <p:sp>
        <p:nvSpPr>
          <p:cNvPr id="17" name="TextBox 16"/>
          <p:cNvSpPr txBox="1"/>
          <p:nvPr/>
        </p:nvSpPr>
        <p:spPr>
          <a:xfrm>
            <a:off x="5029200" y="2020823"/>
            <a:ext cx="2633472" cy="1691640"/>
          </a:xfrm>
          <a:prstGeom prst="rect">
            <a:avLst/>
          </a:prstGeom>
          <a:noFill/>
        </p:spPr>
        <p:txBody>
          <a:bodyPr wrap="square" anchor="t" lIns="0" rIns="0" tIns="0" bIns="0">
            <a:spAutoFit/>
          </a:bodyPr>
          <a:lstStyle/>
          <a:p>
            <a:pPr algn="l">
              <a:lnSpc>
                <a:spcPct val="100000"/>
              </a:lnSpc>
              <a:spcBef>
                <a:spcPts val="0"/>
              </a:spcBef>
              <a:spcAft>
                <a:spcPts val="300"/>
              </a:spcAft>
            </a:pPr>
            <a:r>
              <a:rPr sz="1250" b="1" i="0">
                <a:solidFill>
                  <a:srgbClr val="FFFFFF"/>
                </a:solidFill>
                <a:latin typeface="Segoe UI"/>
              </a:rPr>
              <a:t>NLP preprocessing</a:t>
            </a:r>
          </a:p>
          <a:p>
            <a:pPr algn="l">
              <a:lnSpc>
                <a:spcPct val="115000"/>
              </a:lnSpc>
              <a:spcBef>
                <a:spcPts val="0"/>
              </a:spcBef>
              <a:spcAft>
                <a:spcPts val="0"/>
              </a:spcAft>
            </a:pPr>
            <a:r>
              <a:rPr sz="1050" b="0" i="0">
                <a:solidFill>
                  <a:srgbClr val="9CA9D0"/>
                </a:solidFill>
                <a:latin typeface="Segoe UI"/>
              </a:rPr>
              <a:t>12-step cleaning pipeline: HTML strip, URL/email/signature removal, tokenize, stopword filter, WordNet lemmatize.</a:t>
            </a:r>
          </a:p>
        </p:txBody>
      </p:sp>
      <p:sp>
        <p:nvSpPr>
          <p:cNvPr id="18" name="Rounded Rectangle 17"/>
          <p:cNvSpPr/>
          <p:nvPr/>
        </p:nvSpPr>
        <p:spPr>
          <a:xfrm>
            <a:off x="8138160" y="1874519"/>
            <a:ext cx="3502152" cy="19659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1874519"/>
            <a:ext cx="3502152" cy="508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02535"/>
            <a:ext cx="457200" cy="457200"/>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00D4FF"/>
                </a:solidFill>
                <a:latin typeface="Segoe UI"/>
              </a:rPr>
              <a:t>3</a:t>
            </a:r>
          </a:p>
        </p:txBody>
      </p:sp>
      <p:sp>
        <p:nvSpPr>
          <p:cNvPr id="21" name="TextBox 20"/>
          <p:cNvSpPr txBox="1"/>
          <p:nvPr/>
        </p:nvSpPr>
        <p:spPr>
          <a:xfrm>
            <a:off x="8823960" y="2020823"/>
            <a:ext cx="2633472" cy="1691640"/>
          </a:xfrm>
          <a:prstGeom prst="rect">
            <a:avLst/>
          </a:prstGeom>
          <a:noFill/>
        </p:spPr>
        <p:txBody>
          <a:bodyPr wrap="square" anchor="t" lIns="0" rIns="0" tIns="0" bIns="0">
            <a:spAutoFit/>
          </a:bodyPr>
          <a:lstStyle/>
          <a:p>
            <a:pPr algn="l">
              <a:lnSpc>
                <a:spcPct val="100000"/>
              </a:lnSpc>
              <a:spcBef>
                <a:spcPts val="0"/>
              </a:spcBef>
              <a:spcAft>
                <a:spcPts val="300"/>
              </a:spcAft>
            </a:pPr>
            <a:r>
              <a:rPr sz="1250" b="1" i="0">
                <a:solidFill>
                  <a:srgbClr val="FFFFFF"/>
                </a:solidFill>
                <a:latin typeface="Segoe UI"/>
              </a:rPr>
              <a:t>Hybrid feature engineering</a:t>
            </a:r>
          </a:p>
          <a:p>
            <a:pPr algn="l">
              <a:lnSpc>
                <a:spcPct val="115000"/>
              </a:lnSpc>
              <a:spcBef>
                <a:spcPts val="0"/>
              </a:spcBef>
              <a:spcAft>
                <a:spcPts val="0"/>
              </a:spcAft>
            </a:pPr>
            <a:r>
              <a:rPr sz="1050" b="0" i="0">
                <a:solidFill>
                  <a:srgbClr val="9CA9D0"/>
                </a:solidFill>
                <a:latin typeface="Segoe UI"/>
              </a:rPr>
              <a:t>10,000-term TF-IDF (uni+bigram) combined with 15 scaled metadata features.</a:t>
            </a:r>
          </a:p>
        </p:txBody>
      </p:sp>
      <p:sp>
        <p:nvSpPr>
          <p:cNvPr id="22" name="Rounded Rectangle 21"/>
          <p:cNvSpPr/>
          <p:nvPr/>
        </p:nvSpPr>
        <p:spPr>
          <a:xfrm>
            <a:off x="548640" y="4206239"/>
            <a:ext cx="3502152" cy="19659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206239"/>
            <a:ext cx="3502152"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334255"/>
            <a:ext cx="457200" cy="457200"/>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7C3AED"/>
                </a:solidFill>
                <a:latin typeface="Segoe UI"/>
              </a:rPr>
              <a:t>4</a:t>
            </a:r>
          </a:p>
        </p:txBody>
      </p:sp>
      <p:sp>
        <p:nvSpPr>
          <p:cNvPr id="25" name="TextBox 24"/>
          <p:cNvSpPr txBox="1"/>
          <p:nvPr/>
        </p:nvSpPr>
        <p:spPr>
          <a:xfrm>
            <a:off x="1234440" y="4352543"/>
            <a:ext cx="2633472" cy="1691640"/>
          </a:xfrm>
          <a:prstGeom prst="rect">
            <a:avLst/>
          </a:prstGeom>
          <a:noFill/>
        </p:spPr>
        <p:txBody>
          <a:bodyPr wrap="square" anchor="t" lIns="0" rIns="0" tIns="0" bIns="0">
            <a:spAutoFit/>
          </a:bodyPr>
          <a:lstStyle/>
          <a:p>
            <a:pPr algn="l">
              <a:lnSpc>
                <a:spcPct val="100000"/>
              </a:lnSpc>
              <a:spcBef>
                <a:spcPts val="0"/>
              </a:spcBef>
              <a:spcAft>
                <a:spcPts val="300"/>
              </a:spcAft>
            </a:pPr>
            <a:r>
              <a:rPr sz="1250" b="1" i="0">
                <a:solidFill>
                  <a:srgbClr val="FFFFFF"/>
                </a:solidFill>
                <a:latin typeface="Segoe UI"/>
              </a:rPr>
              <a:t>Benchmark 6 classifiers</a:t>
            </a:r>
          </a:p>
          <a:p>
            <a:pPr algn="l">
              <a:lnSpc>
                <a:spcPct val="115000"/>
              </a:lnSpc>
              <a:spcBef>
                <a:spcPts val="0"/>
              </a:spcBef>
              <a:spcAft>
                <a:spcPts val="0"/>
              </a:spcAft>
            </a:pPr>
            <a:r>
              <a:rPr sz="1050" b="0" i="0">
                <a:solidFill>
                  <a:srgbClr val="9CA9D0"/>
                </a:solidFill>
                <a:latin typeface="Segoe UI"/>
              </a:rPr>
              <a:t>Logistic Regression, Naive Bayes, Random Forest, XGBoost, LightGBM, MLP — identical data and splits.</a:t>
            </a:r>
          </a:p>
        </p:txBody>
      </p:sp>
      <p:sp>
        <p:nvSpPr>
          <p:cNvPr id="26" name="Rounded Rectangle 25"/>
          <p:cNvSpPr/>
          <p:nvPr/>
        </p:nvSpPr>
        <p:spPr>
          <a:xfrm>
            <a:off x="4343400" y="4206239"/>
            <a:ext cx="3502152" cy="19659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3400" y="4206239"/>
            <a:ext cx="3502152" cy="508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80" y="4334255"/>
            <a:ext cx="457200" cy="457200"/>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00D4FF"/>
                </a:solidFill>
                <a:latin typeface="Segoe UI"/>
              </a:rPr>
              <a:t>5</a:t>
            </a:r>
          </a:p>
        </p:txBody>
      </p:sp>
      <p:sp>
        <p:nvSpPr>
          <p:cNvPr id="29" name="TextBox 28"/>
          <p:cNvSpPr txBox="1"/>
          <p:nvPr/>
        </p:nvSpPr>
        <p:spPr>
          <a:xfrm>
            <a:off x="5029200" y="4352543"/>
            <a:ext cx="2633472" cy="1691640"/>
          </a:xfrm>
          <a:prstGeom prst="rect">
            <a:avLst/>
          </a:prstGeom>
          <a:noFill/>
        </p:spPr>
        <p:txBody>
          <a:bodyPr wrap="square" anchor="t" lIns="0" rIns="0" tIns="0" bIns="0">
            <a:spAutoFit/>
          </a:bodyPr>
          <a:lstStyle/>
          <a:p>
            <a:pPr algn="l">
              <a:lnSpc>
                <a:spcPct val="100000"/>
              </a:lnSpc>
              <a:spcBef>
                <a:spcPts val="0"/>
              </a:spcBef>
              <a:spcAft>
                <a:spcPts val="300"/>
              </a:spcAft>
            </a:pPr>
            <a:r>
              <a:rPr sz="1250" b="1" i="0">
                <a:solidFill>
                  <a:srgbClr val="FFFFFF"/>
                </a:solidFill>
                <a:latin typeface="Segoe UI"/>
              </a:rPr>
              <a:t>Production inference engine</a:t>
            </a:r>
          </a:p>
          <a:p>
            <a:pPr algn="l">
              <a:lnSpc>
                <a:spcPct val="115000"/>
              </a:lnSpc>
              <a:spcBef>
                <a:spcPts val="0"/>
              </a:spcBef>
              <a:spcAft>
                <a:spcPts val="0"/>
              </a:spcAft>
            </a:pPr>
            <a:r>
              <a:rPr sz="1050" b="0" i="0">
                <a:solidFill>
                  <a:srgbClr val="9CA9D0"/>
                </a:solidFill>
                <a:latin typeface="Segoe UI"/>
              </a:rPr>
              <a:t>Verdict, confidence, 0–100 risk score, keyword highlighting, URL extraction, explanation, report download.</a:t>
            </a:r>
          </a:p>
        </p:txBody>
      </p:sp>
      <p:sp>
        <p:nvSpPr>
          <p:cNvPr id="30" name="Rounded Rectangle 29"/>
          <p:cNvSpPr/>
          <p:nvPr/>
        </p:nvSpPr>
        <p:spPr>
          <a:xfrm>
            <a:off x="8138160" y="4206239"/>
            <a:ext cx="3502152" cy="19659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38160" y="4206239"/>
            <a:ext cx="3502152"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40" y="4334255"/>
            <a:ext cx="457200" cy="457200"/>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7C3AED"/>
                </a:solidFill>
                <a:latin typeface="Segoe UI"/>
              </a:rPr>
              <a:t>6</a:t>
            </a:r>
          </a:p>
        </p:txBody>
      </p:sp>
      <p:sp>
        <p:nvSpPr>
          <p:cNvPr id="33" name="TextBox 32"/>
          <p:cNvSpPr txBox="1"/>
          <p:nvPr/>
        </p:nvSpPr>
        <p:spPr>
          <a:xfrm>
            <a:off x="8823960" y="4352543"/>
            <a:ext cx="2633472" cy="1691640"/>
          </a:xfrm>
          <a:prstGeom prst="rect">
            <a:avLst/>
          </a:prstGeom>
          <a:noFill/>
        </p:spPr>
        <p:txBody>
          <a:bodyPr wrap="square" anchor="t" lIns="0" rIns="0" tIns="0" bIns="0">
            <a:spAutoFit/>
          </a:bodyPr>
          <a:lstStyle/>
          <a:p>
            <a:pPr algn="l">
              <a:lnSpc>
                <a:spcPct val="100000"/>
              </a:lnSpc>
              <a:spcBef>
                <a:spcPts val="0"/>
              </a:spcBef>
              <a:spcAft>
                <a:spcPts val="300"/>
              </a:spcAft>
            </a:pPr>
            <a:r>
              <a:rPr sz="1250" b="1" i="0">
                <a:solidFill>
                  <a:srgbClr val="FFFFFF"/>
                </a:solidFill>
                <a:latin typeface="Segoe UI"/>
              </a:rPr>
              <a:t>Deployment</a:t>
            </a:r>
          </a:p>
          <a:p>
            <a:pPr algn="l">
              <a:lnSpc>
                <a:spcPct val="115000"/>
              </a:lnSpc>
              <a:spcBef>
                <a:spcPts val="0"/>
              </a:spcBef>
              <a:spcAft>
                <a:spcPts val="0"/>
              </a:spcAft>
            </a:pPr>
            <a:r>
              <a:rPr sz="1050" b="0" i="0">
                <a:solidFill>
                  <a:srgbClr val="9CA9D0"/>
                </a:solidFill>
                <a:latin typeface="Segoe UI"/>
              </a:rPr>
              <a:t>Streamlit dashboard, FastAPI REST API with Swagger docs, CLI pipeline, Docker one-command startup.</a:t>
            </a:r>
          </a:p>
        </p:txBody>
      </p:sp>
      <p:sp>
        <p:nvSpPr>
          <p:cNvPr id="34" name="TextBox 33"/>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5" name="TextBox 34"/>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05 · EXISTING SYSTEMS</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Existing System &amp; Its Gaps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1874519"/>
            <a:ext cx="2606040" cy="19659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41348" y="2080259"/>
            <a:ext cx="411480" cy="41148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1348" y="2080259"/>
            <a:ext cx="411480" cy="411480"/>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0A0E27"/>
                </a:solidFill>
                <a:latin typeface="Segoe UI"/>
              </a:rPr>
              <a:t>✕</a:t>
            </a:r>
          </a:p>
        </p:txBody>
      </p:sp>
      <p:sp>
        <p:nvSpPr>
          <p:cNvPr id="13" name="TextBox 12"/>
          <p:cNvSpPr txBox="1"/>
          <p:nvPr/>
        </p:nvSpPr>
        <p:spPr>
          <a:xfrm>
            <a:off x="731520" y="2770631"/>
            <a:ext cx="2240280" cy="960120"/>
          </a:xfrm>
          <a:prstGeom prst="rect">
            <a:avLst/>
          </a:prstGeom>
          <a:noFill/>
        </p:spPr>
        <p:txBody>
          <a:bodyPr wrap="square" anchor="t" lIns="0" rIns="0" tIns="0" bIns="0">
            <a:spAutoFit/>
          </a:bodyPr>
          <a:lstStyle/>
          <a:p>
            <a:pPr algn="l">
              <a:lnSpc>
                <a:spcPct val="100000"/>
              </a:lnSpc>
              <a:spcBef>
                <a:spcPts val="0"/>
              </a:spcBef>
              <a:spcAft>
                <a:spcPts val="300"/>
              </a:spcAft>
            </a:pPr>
            <a:r>
              <a:rPr sz="1150" b="1" i="0">
                <a:solidFill>
                  <a:srgbClr val="FFFFFF"/>
                </a:solidFill>
                <a:latin typeface="Segoe UI"/>
              </a:rPr>
              <a:t>Rule-based keyword filters</a:t>
            </a:r>
          </a:p>
          <a:p>
            <a:pPr algn="l">
              <a:lnSpc>
                <a:spcPct val="112000"/>
              </a:lnSpc>
              <a:spcBef>
                <a:spcPts val="0"/>
              </a:spcBef>
              <a:spcAft>
                <a:spcPts val="0"/>
              </a:spcAft>
            </a:pPr>
            <a:r>
              <a:rPr sz="1000" b="0" i="0">
                <a:solidFill>
                  <a:srgbClr val="9CA9D0"/>
                </a:solidFill>
                <a:latin typeface="Segoe UI"/>
              </a:rPr>
              <a:t>Match fixed word lists; instantly defeated by paraphrasing or obfuscated spelling.</a:t>
            </a:r>
          </a:p>
        </p:txBody>
      </p:sp>
      <p:sp>
        <p:nvSpPr>
          <p:cNvPr id="14" name="Rounded Rectangle 13"/>
          <p:cNvSpPr/>
          <p:nvPr/>
        </p:nvSpPr>
        <p:spPr>
          <a:xfrm>
            <a:off x="3246120" y="1874519"/>
            <a:ext cx="2606040" cy="19659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38828" y="2080259"/>
            <a:ext cx="411480" cy="41148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8828" y="2080259"/>
            <a:ext cx="411480" cy="411480"/>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0A0E27"/>
                </a:solidFill>
                <a:latin typeface="Segoe UI"/>
              </a:rPr>
              <a:t>✕</a:t>
            </a:r>
          </a:p>
        </p:txBody>
      </p:sp>
      <p:sp>
        <p:nvSpPr>
          <p:cNvPr id="17" name="TextBox 16"/>
          <p:cNvSpPr txBox="1"/>
          <p:nvPr/>
        </p:nvSpPr>
        <p:spPr>
          <a:xfrm>
            <a:off x="3429000" y="2770631"/>
            <a:ext cx="2240280" cy="960120"/>
          </a:xfrm>
          <a:prstGeom prst="rect">
            <a:avLst/>
          </a:prstGeom>
          <a:noFill/>
        </p:spPr>
        <p:txBody>
          <a:bodyPr wrap="square" anchor="t" lIns="0" rIns="0" tIns="0" bIns="0">
            <a:spAutoFit/>
          </a:bodyPr>
          <a:lstStyle/>
          <a:p>
            <a:pPr algn="l">
              <a:lnSpc>
                <a:spcPct val="100000"/>
              </a:lnSpc>
              <a:spcBef>
                <a:spcPts val="0"/>
              </a:spcBef>
              <a:spcAft>
                <a:spcPts val="300"/>
              </a:spcAft>
            </a:pPr>
            <a:r>
              <a:rPr sz="1150" b="1" i="0">
                <a:solidFill>
                  <a:srgbClr val="FFFFFF"/>
                </a:solidFill>
                <a:latin typeface="Segoe UI"/>
              </a:rPr>
              <a:t>Blacklist / URL reputation</a:t>
            </a:r>
          </a:p>
          <a:p>
            <a:pPr algn="l">
              <a:lnSpc>
                <a:spcPct val="112000"/>
              </a:lnSpc>
              <a:spcBef>
                <a:spcPts val="0"/>
              </a:spcBef>
              <a:spcAft>
                <a:spcPts val="0"/>
              </a:spcAft>
            </a:pPr>
            <a:r>
              <a:rPr sz="1000" b="0" i="0">
                <a:solidFill>
                  <a:srgbClr val="9CA9D0"/>
                </a:solidFill>
                <a:latin typeface="Segoe UI"/>
              </a:rPr>
              <a:t>Reactive; powerless against newly registered phishing domains and zero-hour campaigns.</a:t>
            </a:r>
          </a:p>
        </p:txBody>
      </p:sp>
      <p:sp>
        <p:nvSpPr>
          <p:cNvPr id="18" name="Rounded Rectangle 17"/>
          <p:cNvSpPr/>
          <p:nvPr/>
        </p:nvSpPr>
        <p:spPr>
          <a:xfrm>
            <a:off x="548640" y="3977639"/>
            <a:ext cx="2606040" cy="19659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641348" y="4183379"/>
            <a:ext cx="411480" cy="41148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41348" y="4183379"/>
            <a:ext cx="411480" cy="411480"/>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0A0E27"/>
                </a:solidFill>
                <a:latin typeface="Segoe UI"/>
              </a:rPr>
              <a:t>✕</a:t>
            </a:r>
          </a:p>
        </p:txBody>
      </p:sp>
      <p:sp>
        <p:nvSpPr>
          <p:cNvPr id="21" name="TextBox 20"/>
          <p:cNvSpPr txBox="1"/>
          <p:nvPr/>
        </p:nvSpPr>
        <p:spPr>
          <a:xfrm>
            <a:off x="731520" y="4873751"/>
            <a:ext cx="2240280" cy="960120"/>
          </a:xfrm>
          <a:prstGeom prst="rect">
            <a:avLst/>
          </a:prstGeom>
          <a:noFill/>
        </p:spPr>
        <p:txBody>
          <a:bodyPr wrap="square" anchor="t" lIns="0" rIns="0" tIns="0" bIns="0">
            <a:spAutoFit/>
          </a:bodyPr>
          <a:lstStyle/>
          <a:p>
            <a:pPr algn="l">
              <a:lnSpc>
                <a:spcPct val="100000"/>
              </a:lnSpc>
              <a:spcBef>
                <a:spcPts val="0"/>
              </a:spcBef>
              <a:spcAft>
                <a:spcPts val="300"/>
              </a:spcAft>
            </a:pPr>
            <a:r>
              <a:rPr sz="1150" b="1" i="0">
                <a:solidFill>
                  <a:srgbClr val="FFFFFF"/>
                </a:solidFill>
                <a:latin typeface="Segoe UI"/>
              </a:rPr>
              <a:t>Classic spam filters (Bayesian)</a:t>
            </a:r>
          </a:p>
          <a:p>
            <a:pPr algn="l">
              <a:lnSpc>
                <a:spcPct val="112000"/>
              </a:lnSpc>
              <a:spcBef>
                <a:spcPts val="0"/>
              </a:spcBef>
              <a:spcAft>
                <a:spcPts val="0"/>
              </a:spcAft>
            </a:pPr>
            <a:r>
              <a:rPr sz="1000" b="0" i="0">
                <a:solidFill>
                  <a:srgbClr val="9CA9D0"/>
                </a:solidFill>
                <a:latin typeface="Segoe UI"/>
              </a:rPr>
              <a:t>Bag-of-words only; ignore structure such as URL density, uppercase ratio and subject cues.</a:t>
            </a:r>
          </a:p>
        </p:txBody>
      </p:sp>
      <p:sp>
        <p:nvSpPr>
          <p:cNvPr id="22" name="Rounded Rectangle 21"/>
          <p:cNvSpPr/>
          <p:nvPr/>
        </p:nvSpPr>
        <p:spPr>
          <a:xfrm>
            <a:off x="3246120" y="3977639"/>
            <a:ext cx="2606040" cy="19659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338828" y="4183379"/>
            <a:ext cx="411480" cy="41148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38828" y="4183379"/>
            <a:ext cx="411480" cy="411480"/>
          </a:xfrm>
          <a:prstGeom prst="rect">
            <a:avLst/>
          </a:prstGeom>
          <a:noFill/>
        </p:spPr>
        <p:txBody>
          <a:bodyPr wrap="square" anchor="ctr" lIns="0" rIns="0" tIns="0" bIns="0">
            <a:spAutoFit/>
          </a:bodyPr>
          <a:lstStyle/>
          <a:p>
            <a:pPr algn="ctr">
              <a:lnSpc>
                <a:spcPct val="100000"/>
              </a:lnSpc>
              <a:spcBef>
                <a:spcPts val="0"/>
              </a:spcBef>
              <a:spcAft>
                <a:spcPts val="0"/>
              </a:spcAft>
            </a:pPr>
            <a:r>
              <a:rPr sz="1600" b="1" i="0">
                <a:solidFill>
                  <a:srgbClr val="0A0E27"/>
                </a:solidFill>
                <a:latin typeface="Segoe UI"/>
              </a:rPr>
              <a:t>✕</a:t>
            </a:r>
          </a:p>
        </p:txBody>
      </p:sp>
      <p:sp>
        <p:nvSpPr>
          <p:cNvPr id="25" name="TextBox 24"/>
          <p:cNvSpPr txBox="1"/>
          <p:nvPr/>
        </p:nvSpPr>
        <p:spPr>
          <a:xfrm>
            <a:off x="3429000" y="4873751"/>
            <a:ext cx="2240280" cy="960120"/>
          </a:xfrm>
          <a:prstGeom prst="rect">
            <a:avLst/>
          </a:prstGeom>
          <a:noFill/>
        </p:spPr>
        <p:txBody>
          <a:bodyPr wrap="square" anchor="t" lIns="0" rIns="0" tIns="0" bIns="0">
            <a:spAutoFit/>
          </a:bodyPr>
          <a:lstStyle/>
          <a:p>
            <a:pPr algn="l">
              <a:lnSpc>
                <a:spcPct val="100000"/>
              </a:lnSpc>
              <a:spcBef>
                <a:spcPts val="0"/>
              </a:spcBef>
              <a:spcAft>
                <a:spcPts val="300"/>
              </a:spcAft>
            </a:pPr>
            <a:r>
              <a:rPr sz="1150" b="1" i="0">
                <a:solidFill>
                  <a:srgbClr val="FFFFFF"/>
                </a:solidFill>
                <a:latin typeface="Segoe UI"/>
              </a:rPr>
              <a:t>Metadata-only ML baselines</a:t>
            </a:r>
          </a:p>
          <a:p>
            <a:pPr algn="l">
              <a:lnSpc>
                <a:spcPct val="112000"/>
              </a:lnSpc>
              <a:spcBef>
                <a:spcPts val="0"/>
              </a:spcBef>
              <a:spcAft>
                <a:spcPts val="0"/>
              </a:spcAft>
            </a:pPr>
            <a:r>
              <a:rPr sz="1000" b="0" i="0">
                <a:solidFill>
                  <a:srgbClr val="9CA9D0"/>
                </a:solidFill>
                <a:latin typeface="Segoe UI"/>
              </a:rPr>
              <a:t>Use headers/sender data alone; miss the linguistic content that defines phishing.</a:t>
            </a:r>
          </a:p>
        </p:txBody>
      </p:sp>
      <p:sp>
        <p:nvSpPr>
          <p:cNvPr id="26" name="Rounded Rectangle 25"/>
          <p:cNvSpPr/>
          <p:nvPr/>
        </p:nvSpPr>
        <p:spPr>
          <a:xfrm>
            <a:off x="6355080" y="1874519"/>
            <a:ext cx="5285232" cy="3977639"/>
          </a:xfrm>
          <a:prstGeom prst="roundRect">
            <a:avLst>
              <a:gd name="adj" fmla="val 10000"/>
            </a:avLst>
          </a:prstGeom>
          <a:solidFill>
            <a:srgbClr val="1A1F3A"/>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2103119"/>
            <a:ext cx="4754880" cy="3611880"/>
          </a:xfrm>
          <a:prstGeom prst="rect">
            <a:avLst/>
          </a:prstGeom>
          <a:noFill/>
        </p:spPr>
        <p:txBody>
          <a:bodyPr wrap="square" anchor="t" lIns="0" rIns="0" tIns="0" bIns="0">
            <a:spAutoFit/>
          </a:bodyPr>
          <a:lstStyle/>
          <a:p>
            <a:pPr algn="l">
              <a:lnSpc>
                <a:spcPct val="100000"/>
              </a:lnSpc>
              <a:spcBef>
                <a:spcPts val="0"/>
              </a:spcBef>
              <a:spcAft>
                <a:spcPts val="800"/>
              </a:spcAft>
            </a:pPr>
            <a:r>
              <a:rPr sz="1600" b="1" i="0">
                <a:solidFill>
                  <a:srgbClr val="F59E0B"/>
                </a:solidFill>
                <a:latin typeface="Segoe UI"/>
              </a:rPr>
              <a:t>What is missing?</a:t>
            </a:r>
          </a:p>
          <a:p>
            <a:pPr algn="l">
              <a:lnSpc>
                <a:spcPct val="120000"/>
              </a:lnSpc>
              <a:spcBef>
                <a:spcPts val="0"/>
              </a:spcBef>
              <a:spcAft>
                <a:spcPts val="1000"/>
              </a:spcAft>
            </a:pPr>
            <a:r>
              <a:rPr sz="1250" b="0" i="0">
                <a:solidFill>
                  <a:srgbClr val="E2E8F0"/>
                </a:solidFill>
                <a:latin typeface="Segoe UI"/>
              </a:rPr>
              <a:t>A detector that reads both what an email says and how it is written:</a:t>
            </a:r>
          </a:p>
          <a:p>
            <a:pPr algn="l" marL="183000" indent="-183000">
              <a:lnSpc>
                <a:spcPct val="100000"/>
              </a:lnSpc>
              <a:spcBef>
                <a:spcPts val="0"/>
              </a:spcBef>
              <a:spcAft>
                <a:spcPts val="700"/>
              </a:spcAft>
            </a:pPr>
            <a:r>
              <a:rPr sz="1250" b="1">
                <a:solidFill>
                  <a:srgbClr val="F59E0B"/>
                </a:solidFill>
                <a:latin typeface="Segoe UI"/>
              </a:rPr>
              <a:t>▪  </a:t>
            </a:r>
            <a:r>
              <a:rPr sz="1250" b="0" i="0">
                <a:solidFill>
                  <a:srgbClr val="E2E8F0"/>
                </a:solidFill>
                <a:latin typeface="Segoe UI"/>
              </a:rPr>
              <a:t>Semantic content — cleaned, lemmatized tokens</a:t>
            </a:r>
          </a:p>
          <a:p>
            <a:pPr algn="l" marL="183000" indent="-183000">
              <a:lnSpc>
                <a:spcPct val="100000"/>
              </a:lnSpc>
              <a:spcBef>
                <a:spcPts val="0"/>
              </a:spcBef>
              <a:spcAft>
                <a:spcPts val="700"/>
              </a:spcAft>
            </a:pPr>
            <a:r>
              <a:rPr sz="1250" b="1">
                <a:solidFill>
                  <a:srgbClr val="F59E0B"/>
                </a:solidFill>
                <a:latin typeface="Segoe UI"/>
              </a:rPr>
              <a:t>▪  </a:t>
            </a:r>
            <a:r>
              <a:rPr sz="1250" b="0" i="0">
                <a:solidFill>
                  <a:srgbClr val="E2E8F0"/>
                </a:solidFill>
                <a:latin typeface="Segoe UI"/>
              </a:rPr>
              <a:t>Structural signals — URLs, uppercase ratio, punctuation, subject</a:t>
            </a:r>
          </a:p>
          <a:p>
            <a:pPr algn="l" marL="183000" indent="-183000">
              <a:lnSpc>
                <a:spcPct val="100000"/>
              </a:lnSpc>
              <a:spcBef>
                <a:spcPts val="0"/>
              </a:spcBef>
              <a:spcAft>
                <a:spcPts val="700"/>
              </a:spcAft>
            </a:pPr>
            <a:r>
              <a:rPr sz="1250" b="1">
                <a:solidFill>
                  <a:srgbClr val="F59E0B"/>
                </a:solidFill>
                <a:latin typeface="Segoe UI"/>
              </a:rPr>
              <a:t>▪  </a:t>
            </a:r>
            <a:r>
              <a:rPr sz="1250" b="0" i="0">
                <a:solidFill>
                  <a:srgbClr val="E2E8F0"/>
                </a:solidFill>
                <a:latin typeface="Segoe UI"/>
              </a:rPr>
              <a:t>Social-engineering lexicon — urgency and credential keywords</a:t>
            </a:r>
          </a:p>
          <a:p>
            <a:pPr algn="l" marL="183000" indent="-183000">
              <a:lnSpc>
                <a:spcPct val="100000"/>
              </a:lnSpc>
              <a:spcBef>
                <a:spcPts val="0"/>
              </a:spcBef>
              <a:spcAft>
                <a:spcPts val="700"/>
              </a:spcAft>
            </a:pPr>
            <a:r>
              <a:rPr sz="1250" b="1">
                <a:solidFill>
                  <a:srgbClr val="F59E0B"/>
                </a:solidFill>
                <a:latin typeface="Segoe UI"/>
              </a:rPr>
              <a:t>▪  </a:t>
            </a:r>
            <a:r>
              <a:rPr sz="1250" b="0" i="0">
                <a:solidFill>
                  <a:srgbClr val="E2E8F0"/>
                </a:solidFill>
                <a:latin typeface="Segoe UI"/>
              </a:rPr>
              <a:t>Large multi-source training corpus</a:t>
            </a:r>
          </a:p>
          <a:p>
            <a:pPr algn="l" marL="183000" indent="-183000">
              <a:lnSpc>
                <a:spcPct val="100000"/>
              </a:lnSpc>
              <a:spcBef>
                <a:spcPts val="0"/>
              </a:spcBef>
              <a:spcAft>
                <a:spcPts val="700"/>
              </a:spcAft>
            </a:pPr>
            <a:r>
              <a:rPr sz="1250" b="1">
                <a:solidFill>
                  <a:srgbClr val="F59E0B"/>
                </a:solidFill>
                <a:latin typeface="Segoe UI"/>
              </a:rPr>
              <a:t>▪  </a:t>
            </a:r>
            <a:r>
              <a:rPr sz="1250" b="0" i="0">
                <a:solidFill>
                  <a:srgbClr val="E2E8F0"/>
                </a:solidFill>
                <a:latin typeface="Segoe UI"/>
              </a:rPr>
              <a:t>Explainable output — confidence, risk score, reasons</a:t>
            </a:r>
          </a:p>
        </p:txBody>
      </p:sp>
      <p:sp>
        <p:nvSpPr>
          <p:cNvPr id="28" name="Rounded Rectangle 27"/>
          <p:cNvSpPr/>
          <p:nvPr/>
        </p:nvSpPr>
        <p:spPr>
          <a:xfrm>
            <a:off x="548640" y="5961888"/>
            <a:ext cx="11091672" cy="438912"/>
          </a:xfrm>
          <a:prstGeom prst="roundRect">
            <a:avLst>
              <a:gd name="adj" fmla="val 50000"/>
            </a:avLst>
          </a:prstGeom>
          <a:solidFill>
            <a:srgbClr val="151A38"/>
          </a:solidFill>
          <a:ln w="127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961888"/>
            <a:ext cx="10607040" cy="438912"/>
          </a:xfrm>
          <a:prstGeom prst="rect">
            <a:avLst/>
          </a:prstGeom>
          <a:noFill/>
        </p:spPr>
        <p:txBody>
          <a:bodyPr wrap="square" anchor="ctr" lIns="0" rIns="0" tIns="0" bIns="0">
            <a:spAutoFit/>
          </a:bodyPr>
          <a:lstStyle/>
          <a:p>
            <a:pPr algn="ctr">
              <a:lnSpc>
                <a:spcPct val="100000"/>
              </a:lnSpc>
              <a:spcBef>
                <a:spcPts val="0"/>
              </a:spcBef>
              <a:spcAft>
                <a:spcPts val="0"/>
              </a:spcAft>
            </a:pPr>
            <a:r>
              <a:rPr sz="1250" b="1" i="0">
                <a:solidFill>
                  <a:srgbClr val="00D4FF"/>
                </a:solidFill>
                <a:latin typeface="Segoe UI"/>
              </a:rPr>
              <a:t>Our system closes these gaps — combining NLP content analysis with engineered metadata in one hybrid model.</a:t>
            </a:r>
          </a:p>
        </p:txBody>
      </p:sp>
      <p:sp>
        <p:nvSpPr>
          <p:cNvPr id="30" name="TextBox 29"/>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1" name="TextBox 30"/>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06 · PROPOSED SYSTEM</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Proposed System</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1874519"/>
            <a:ext cx="11091672" cy="84124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n 10"/>
          <p:cNvSpPr/>
          <p:nvPr/>
        </p:nvSpPr>
        <p:spPr>
          <a:xfrm>
            <a:off x="845820" y="2066543"/>
            <a:ext cx="411480" cy="457200"/>
          </a:xfrm>
          <a:prstGeom prst="can">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1965959"/>
            <a:ext cx="9875520" cy="68580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00D4FF"/>
                </a:solidFill>
                <a:latin typeface="Segoe UI"/>
              </a:rPr>
              <a:t>NLP Preprocessing</a:t>
            </a:r>
          </a:p>
          <a:p>
            <a:pPr algn="l">
              <a:lnSpc>
                <a:spcPct val="105000"/>
              </a:lnSpc>
              <a:spcBef>
                <a:spcPts val="0"/>
              </a:spcBef>
              <a:spcAft>
                <a:spcPts val="0"/>
              </a:spcAft>
            </a:pPr>
            <a:r>
              <a:rPr sz="1150" b="0" i="0">
                <a:solidFill>
                  <a:srgbClr val="E2E8F0"/>
                </a:solidFill>
                <a:latin typeface="Segoe UI"/>
              </a:rPr>
              <a:t>HTML strip · URL/email removal · signature strip · tokenize · stopword removal · lemmatize</a:t>
            </a:r>
          </a:p>
        </p:txBody>
      </p:sp>
      <p:cxnSp>
        <p:nvCxnSpPr>
          <p:cNvPr id="13" name="Connector 12"/>
          <p:cNvCxnSpPr/>
          <p:nvPr/>
        </p:nvCxnSpPr>
        <p:spPr>
          <a:xfrm>
            <a:off x="6089904" y="2743199"/>
            <a:ext cx="0" cy="301752"/>
          </a:xfrm>
          <a:prstGeom prst="line">
            <a:avLst/>
          </a:prstGeom>
          <a:ln w="254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2990087"/>
            <a:ext cx="11091672" cy="84124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ear 6 14"/>
          <p:cNvSpPr/>
          <p:nvPr/>
        </p:nvSpPr>
        <p:spPr>
          <a:xfrm>
            <a:off x="822960" y="3182111"/>
            <a:ext cx="457200" cy="457200"/>
          </a:xfrm>
          <a:prstGeom prst="gear6">
            <a:avLst>
              <a:gd name="adj1" fmla="val 18000"/>
              <a:gd name="adj2" fmla="val 1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08760" y="3081527"/>
            <a:ext cx="9875520" cy="68580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7C3AED"/>
                </a:solidFill>
                <a:latin typeface="Segoe UI"/>
              </a:rPr>
              <a:t>Feature Engineering</a:t>
            </a:r>
          </a:p>
          <a:p>
            <a:pPr algn="l">
              <a:lnSpc>
                <a:spcPct val="105000"/>
              </a:lnSpc>
              <a:spcBef>
                <a:spcPts val="0"/>
              </a:spcBef>
              <a:spcAft>
                <a:spcPts val="0"/>
              </a:spcAft>
            </a:pPr>
            <a:r>
              <a:rPr sz="1150" b="0" i="0">
                <a:solidFill>
                  <a:srgbClr val="E2E8F0"/>
                </a:solidFill>
                <a:latin typeface="Segoe UI"/>
              </a:rPr>
              <a:t>TF-IDF 10,000 terms + 15 metadata features, standardized &amp; stacked</a:t>
            </a:r>
          </a:p>
        </p:txBody>
      </p:sp>
      <p:cxnSp>
        <p:nvCxnSpPr>
          <p:cNvPr id="17" name="Connector 16"/>
          <p:cNvCxnSpPr/>
          <p:nvPr/>
        </p:nvCxnSpPr>
        <p:spPr>
          <a:xfrm>
            <a:off x="6089904" y="3858767"/>
            <a:ext cx="0" cy="301752"/>
          </a:xfrm>
          <a:prstGeom prst="line">
            <a:avLst/>
          </a:prstGeom>
          <a:ln w="254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4105655"/>
            <a:ext cx="11091672" cy="84124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5820" y="4571999"/>
            <a:ext cx="118872" cy="182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92124" y="4503419"/>
            <a:ext cx="118872" cy="2514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38428" y="4389119"/>
            <a:ext cx="118872"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08760" y="4197095"/>
            <a:ext cx="9875520" cy="68580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10B981"/>
                </a:solidFill>
                <a:latin typeface="Segoe UI"/>
              </a:rPr>
              <a:t>Model Benchmarking</a:t>
            </a:r>
          </a:p>
          <a:p>
            <a:pPr algn="l">
              <a:lnSpc>
                <a:spcPct val="105000"/>
              </a:lnSpc>
              <a:spcBef>
                <a:spcPts val="0"/>
              </a:spcBef>
              <a:spcAft>
                <a:spcPts val="0"/>
              </a:spcAft>
            </a:pPr>
            <a:r>
              <a:rPr sz="1150" b="0" i="0">
                <a:solidFill>
                  <a:srgbClr val="E2E8F0"/>
                </a:solidFill>
                <a:latin typeface="Segoe UI"/>
              </a:rPr>
              <a:t>6 classifiers trained &amp; evaluated; best selected by F1 score</a:t>
            </a:r>
          </a:p>
        </p:txBody>
      </p:sp>
      <p:cxnSp>
        <p:nvCxnSpPr>
          <p:cNvPr id="23" name="Connector 22"/>
          <p:cNvCxnSpPr/>
          <p:nvPr/>
        </p:nvCxnSpPr>
        <p:spPr>
          <a:xfrm>
            <a:off x="6089904" y="4974335"/>
            <a:ext cx="0" cy="301752"/>
          </a:xfrm>
          <a:prstGeom prst="line">
            <a:avLst/>
          </a:prstGeom>
          <a:ln w="254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5221223"/>
            <a:ext cx="11091672" cy="84124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8680" y="5413247"/>
            <a:ext cx="365760" cy="251460"/>
          </a:xfrm>
          <a:prstGeom prst="roundRect">
            <a:avLst>
              <a:gd name="adj" fmla="val 3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rot="10800000">
            <a:off x="822960" y="5614415"/>
            <a:ext cx="457200" cy="237744"/>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5312663"/>
            <a:ext cx="9875520" cy="68580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F59E0B"/>
                </a:solidFill>
                <a:latin typeface="Segoe UI"/>
              </a:rPr>
              <a:t>Inference Engine</a:t>
            </a:r>
          </a:p>
          <a:p>
            <a:pPr algn="l">
              <a:lnSpc>
                <a:spcPct val="105000"/>
              </a:lnSpc>
              <a:spcBef>
                <a:spcPts val="0"/>
              </a:spcBef>
              <a:spcAft>
                <a:spcPts val="0"/>
              </a:spcAft>
            </a:pPr>
            <a:r>
              <a:rPr sz="1150" b="0" i="0">
                <a:solidFill>
                  <a:srgbClr val="E2E8F0"/>
                </a:solidFill>
                <a:latin typeface="Segoe UI"/>
              </a:rPr>
              <a:t>Verdict · confidence · risk score 0–100 · explanations · recommendations</a:t>
            </a:r>
          </a:p>
        </p:txBody>
      </p:sp>
      <p:sp>
        <p:nvSpPr>
          <p:cNvPr id="28" name="Rounded Rectangle 27"/>
          <p:cNvSpPr/>
          <p:nvPr/>
        </p:nvSpPr>
        <p:spPr>
          <a:xfrm>
            <a:off x="548640" y="6336791"/>
            <a:ext cx="11091672" cy="84124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arallelogram 28"/>
          <p:cNvSpPr/>
          <p:nvPr/>
        </p:nvSpPr>
        <p:spPr>
          <a:xfrm>
            <a:off x="925830" y="6620255"/>
            <a:ext cx="251460" cy="128016"/>
          </a:xfrm>
          <a:prstGeom prst="parallelogram">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arallelogram 29"/>
          <p:cNvSpPr/>
          <p:nvPr/>
        </p:nvSpPr>
        <p:spPr>
          <a:xfrm>
            <a:off x="873252" y="6739127"/>
            <a:ext cx="356616" cy="128016"/>
          </a:xfrm>
          <a:prstGeom prst="parallelogram">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arallelogram 30"/>
          <p:cNvSpPr/>
          <p:nvPr/>
        </p:nvSpPr>
        <p:spPr>
          <a:xfrm>
            <a:off x="822960" y="6857999"/>
            <a:ext cx="457200" cy="128016"/>
          </a:xfrm>
          <a:prstGeom prst="parallelogram">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08760" y="6428231"/>
            <a:ext cx="9875520" cy="68580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3B82F6"/>
                </a:solidFill>
                <a:latin typeface="Segoe UI"/>
              </a:rPr>
              <a:t>Deployment</a:t>
            </a:r>
          </a:p>
          <a:p>
            <a:pPr algn="l">
              <a:lnSpc>
                <a:spcPct val="105000"/>
              </a:lnSpc>
              <a:spcBef>
                <a:spcPts val="0"/>
              </a:spcBef>
              <a:spcAft>
                <a:spcPts val="0"/>
              </a:spcAft>
            </a:pPr>
            <a:r>
              <a:rPr sz="1150" b="0" i="0">
                <a:solidFill>
                  <a:srgbClr val="E2E8F0"/>
                </a:solidFill>
                <a:latin typeface="Segoe UI"/>
              </a:rPr>
              <a:t>Streamlit UI · FastAPI REST · CLI pipeline · Docker</a:t>
            </a:r>
          </a:p>
        </p:txBody>
      </p:sp>
      <p:sp>
        <p:nvSpPr>
          <p:cNvPr id="33" name="TextBox 32"/>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4" name="TextBox 33"/>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07 · DATASET</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Dataset Description</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Seven public email corpora merged into a single unified dataset</a:t>
            </a:r>
          </a:p>
        </p:txBody>
      </p:sp>
      <p:graphicFrame>
        <p:nvGraphicFramePr>
          <p:cNvPr id="11" name="Table 10"/>
          <p:cNvGraphicFramePr>
            <a:graphicFrameLocks noGrp="1"/>
          </p:cNvGraphicFramePr>
          <p:nvPr/>
        </p:nvGraphicFramePr>
        <p:xfrm>
          <a:off x="548640" y="1874519"/>
          <a:ext cx="7498078" cy="4434840"/>
        </p:xfrm>
        <a:graphic>
          <a:graphicData uri="http://schemas.openxmlformats.org/drawingml/2006/table">
            <a:tbl>
              <a:tblPr>
                <a:tableStyleId>{5C22544A-7EE6-4342-B048-85BDC9FD1C3A}</a:tableStyleId>
              </a:tblPr>
              <a:tblGrid>
                <a:gridCol w="3260034"/>
                <a:gridCol w="1630017"/>
                <a:gridCol w="2608027"/>
              </a:tblGrid>
              <a:tr h="492760">
                <a:tc>
                  <a:txBody>
                    <a:bodyPr wrap="square"/>
                    <a:lstStyle/>
                    <a:p>
                      <a:pPr algn="ctr"/>
                      <a:r>
                        <a:rPr sz="1100" b="1">
                          <a:solidFill>
                            <a:srgbClr val="FFFFFF"/>
                          </a:solidFill>
                          <a:latin typeface="Segoe UI"/>
                        </a:rPr>
                        <a:t>Source Dataset</a:t>
                      </a:r>
                    </a:p>
                  </a:txBody>
                  <a:tcPr anchor="ctr" marL="76200" marR="76200" marT="25400" marB="25400">
                    <a:solidFill>
                      <a:srgbClr val="00D4FF"/>
                    </a:solidFill>
                  </a:tcPr>
                </a:tc>
                <a:tc>
                  <a:txBody>
                    <a:bodyPr wrap="square"/>
                    <a:lstStyle/>
                    <a:p>
                      <a:pPr algn="ctr"/>
                      <a:r>
                        <a:rPr sz="1100" b="1">
                          <a:solidFill>
                            <a:srgbClr val="FFFFFF"/>
                          </a:solidFill>
                          <a:latin typeface="Segoe UI"/>
                        </a:rPr>
                        <a:t>Emails (merged)</a:t>
                      </a:r>
                    </a:p>
                  </a:txBody>
                  <a:tcPr anchor="ctr" marL="76200" marR="76200" marT="25400" marB="25400">
                    <a:solidFill>
                      <a:srgbClr val="00D4FF"/>
                    </a:solidFill>
                  </a:tcPr>
                </a:tc>
                <a:tc>
                  <a:txBody>
                    <a:bodyPr wrap="square"/>
                    <a:lstStyle/>
                    <a:p>
                      <a:pPr algn="ctr"/>
                      <a:r>
                        <a:rPr sz="1100" b="1">
                          <a:solidFill>
                            <a:srgbClr val="FFFFFF"/>
                          </a:solidFill>
                          <a:latin typeface="Segoe UI"/>
                        </a:rPr>
                        <a:t>Type / Origin</a:t>
                      </a:r>
                    </a:p>
                  </a:txBody>
                  <a:tcPr anchor="ctr" marL="76200" marR="76200" marT="25400" marB="25400">
                    <a:solidFill>
                      <a:srgbClr val="00D4FF"/>
                    </a:solidFill>
                  </a:tcPr>
                </a:tc>
              </a:tr>
              <a:tr h="492760">
                <a:tc>
                  <a:txBody>
                    <a:bodyPr wrap="square"/>
                    <a:lstStyle/>
                    <a:p>
                      <a:pPr algn="l"/>
                      <a:r>
                        <a:rPr sz="1100">
                          <a:solidFill>
                            <a:srgbClr val="E2E8F0"/>
                          </a:solidFill>
                          <a:latin typeface="Segoe UI"/>
                        </a:rPr>
                        <a:t>Phishing Email</a:t>
                      </a:r>
                    </a:p>
                  </a:txBody>
                  <a:tcPr anchor="ctr" marL="76200" marR="76200" marT="25400" marB="25400">
                    <a:solidFill>
                      <a:srgbClr val="1A1F3A"/>
                    </a:solidFill>
                  </a:tcPr>
                </a:tc>
                <a:tc>
                  <a:txBody>
                    <a:bodyPr wrap="square"/>
                    <a:lstStyle/>
                    <a:p>
                      <a:pPr algn="ctr"/>
                      <a:r>
                        <a:rPr sz="1100">
                          <a:solidFill>
                            <a:srgbClr val="E2E8F0"/>
                          </a:solidFill>
                          <a:latin typeface="Segoe UI"/>
                        </a:rPr>
                        <a:t>82,486</a:t>
                      </a:r>
                    </a:p>
                  </a:txBody>
                  <a:tcPr anchor="ctr" marL="76200" marR="76200" marT="25400" marB="25400">
                    <a:solidFill>
                      <a:srgbClr val="1A1F3A"/>
                    </a:solidFill>
                  </a:tcPr>
                </a:tc>
                <a:tc>
                  <a:txBody>
                    <a:bodyPr wrap="square"/>
                    <a:lstStyle/>
                    <a:p>
                      <a:pPr algn="ctr"/>
                      <a:r>
                        <a:rPr sz="1100">
                          <a:solidFill>
                            <a:srgbClr val="E2E8F0"/>
                          </a:solidFill>
                          <a:latin typeface="Segoe UI"/>
                        </a:rPr>
                        <a:t>Phishing corpus (labeled)</a:t>
                      </a:r>
                    </a:p>
                  </a:txBody>
                  <a:tcPr anchor="ctr" marL="76200" marR="76200" marT="25400" marB="25400">
                    <a:solidFill>
                      <a:srgbClr val="1A1F3A"/>
                    </a:solidFill>
                  </a:tcPr>
                </a:tc>
              </a:tr>
              <a:tr h="492760">
                <a:tc>
                  <a:txBody>
                    <a:bodyPr wrap="square"/>
                    <a:lstStyle/>
                    <a:p>
                      <a:pPr algn="l"/>
                      <a:r>
                        <a:rPr sz="1100">
                          <a:solidFill>
                            <a:srgbClr val="E2E8F0"/>
                          </a:solidFill>
                          <a:latin typeface="Segoe UI"/>
                        </a:rPr>
                        <a:t>CEAS 08</a:t>
                      </a:r>
                    </a:p>
                  </a:txBody>
                  <a:tcPr anchor="ctr" marL="76200" marR="76200" marT="25400" marB="25400">
                    <a:solidFill>
                      <a:srgbClr val="151A38"/>
                    </a:solidFill>
                  </a:tcPr>
                </a:tc>
                <a:tc>
                  <a:txBody>
                    <a:bodyPr wrap="square"/>
                    <a:lstStyle/>
                    <a:p>
                      <a:pPr algn="ctr"/>
                      <a:r>
                        <a:rPr sz="1100">
                          <a:solidFill>
                            <a:srgbClr val="E2E8F0"/>
                          </a:solidFill>
                          <a:latin typeface="Segoe UI"/>
                        </a:rPr>
                        <a:t>39,154</a:t>
                      </a:r>
                    </a:p>
                  </a:txBody>
                  <a:tcPr anchor="ctr" marL="76200" marR="76200" marT="25400" marB="25400">
                    <a:solidFill>
                      <a:srgbClr val="151A38"/>
                    </a:solidFill>
                  </a:tcPr>
                </a:tc>
                <a:tc>
                  <a:txBody>
                    <a:bodyPr wrap="square"/>
                    <a:lstStyle/>
                    <a:p>
                      <a:pPr algn="ctr"/>
                      <a:r>
                        <a:rPr sz="1100">
                          <a:solidFill>
                            <a:srgbClr val="E2E8F0"/>
                          </a:solidFill>
                          <a:latin typeface="Segoe UI"/>
                        </a:rPr>
                        <a:t>Spam / phishing benchmark</a:t>
                      </a:r>
                    </a:p>
                  </a:txBody>
                  <a:tcPr anchor="ctr" marL="76200" marR="76200" marT="25400" marB="25400">
                    <a:solidFill>
                      <a:srgbClr val="151A38"/>
                    </a:solidFill>
                  </a:tcPr>
                </a:tc>
              </a:tr>
              <a:tr h="492760">
                <a:tc>
                  <a:txBody>
                    <a:bodyPr wrap="square"/>
                    <a:lstStyle/>
                    <a:p>
                      <a:pPr algn="l"/>
                      <a:r>
                        <a:rPr sz="1100">
                          <a:solidFill>
                            <a:srgbClr val="E2E8F0"/>
                          </a:solidFill>
                          <a:latin typeface="Segoe UI"/>
                        </a:rPr>
                        <a:t>Enron</a:t>
                      </a:r>
                    </a:p>
                  </a:txBody>
                  <a:tcPr anchor="ctr" marL="76200" marR="76200" marT="25400" marB="25400">
                    <a:solidFill>
                      <a:srgbClr val="1A1F3A"/>
                    </a:solidFill>
                  </a:tcPr>
                </a:tc>
                <a:tc>
                  <a:txBody>
                    <a:bodyPr wrap="square"/>
                    <a:lstStyle/>
                    <a:p>
                      <a:pPr algn="ctr"/>
                      <a:r>
                        <a:rPr sz="1100">
                          <a:solidFill>
                            <a:srgbClr val="E2E8F0"/>
                          </a:solidFill>
                          <a:latin typeface="Segoe UI"/>
                        </a:rPr>
                        <a:t>29,767</a:t>
                      </a:r>
                    </a:p>
                  </a:txBody>
                  <a:tcPr anchor="ctr" marL="76200" marR="76200" marT="25400" marB="25400">
                    <a:solidFill>
                      <a:srgbClr val="1A1F3A"/>
                    </a:solidFill>
                  </a:tcPr>
                </a:tc>
                <a:tc>
                  <a:txBody>
                    <a:bodyPr wrap="square"/>
                    <a:lstStyle/>
                    <a:p>
                      <a:pPr algn="ctr"/>
                      <a:r>
                        <a:rPr sz="1100">
                          <a:solidFill>
                            <a:srgbClr val="E2E8F0"/>
                          </a:solidFill>
                          <a:latin typeface="Segoe UI"/>
                        </a:rPr>
                        <a:t>Corporate legitimate mail</a:t>
                      </a:r>
                    </a:p>
                  </a:txBody>
                  <a:tcPr anchor="ctr" marL="76200" marR="76200" marT="25400" marB="25400">
                    <a:solidFill>
                      <a:srgbClr val="1A1F3A"/>
                    </a:solidFill>
                  </a:tcPr>
                </a:tc>
              </a:tr>
              <a:tr h="492760">
                <a:tc>
                  <a:txBody>
                    <a:bodyPr wrap="square"/>
                    <a:lstStyle/>
                    <a:p>
                      <a:pPr algn="l"/>
                      <a:r>
                        <a:rPr sz="1100">
                          <a:solidFill>
                            <a:srgbClr val="E2E8F0"/>
                          </a:solidFill>
                          <a:latin typeface="Segoe UI"/>
                        </a:rPr>
                        <a:t>SpamAssassin</a:t>
                      </a:r>
                    </a:p>
                  </a:txBody>
                  <a:tcPr anchor="ctr" marL="76200" marR="76200" marT="25400" marB="25400">
                    <a:solidFill>
                      <a:srgbClr val="151A38"/>
                    </a:solidFill>
                  </a:tcPr>
                </a:tc>
                <a:tc>
                  <a:txBody>
                    <a:bodyPr wrap="square"/>
                    <a:lstStyle/>
                    <a:p>
                      <a:pPr algn="ctr"/>
                      <a:r>
                        <a:rPr sz="1100">
                          <a:solidFill>
                            <a:srgbClr val="E2E8F0"/>
                          </a:solidFill>
                          <a:latin typeface="Segoe UI"/>
                        </a:rPr>
                        <a:t>5,809</a:t>
                      </a:r>
                    </a:p>
                  </a:txBody>
                  <a:tcPr anchor="ctr" marL="76200" marR="76200" marT="25400" marB="25400">
                    <a:solidFill>
                      <a:srgbClr val="151A38"/>
                    </a:solidFill>
                  </a:tcPr>
                </a:tc>
                <a:tc>
                  <a:txBody>
                    <a:bodyPr wrap="square"/>
                    <a:lstStyle/>
                    <a:p>
                      <a:pPr algn="ctr"/>
                      <a:r>
                        <a:rPr sz="1100">
                          <a:solidFill>
                            <a:srgbClr val="E2E8F0"/>
                          </a:solidFill>
                          <a:latin typeface="Segoe UI"/>
                        </a:rPr>
                        <a:t>Spam &amp; ham corpus</a:t>
                      </a:r>
                    </a:p>
                  </a:txBody>
                  <a:tcPr anchor="ctr" marL="76200" marR="76200" marT="25400" marB="25400">
                    <a:solidFill>
                      <a:srgbClr val="151A38"/>
                    </a:solidFill>
                  </a:tcPr>
                </a:tc>
              </a:tr>
              <a:tr h="492760">
                <a:tc>
                  <a:txBody>
                    <a:bodyPr wrap="square"/>
                    <a:lstStyle/>
                    <a:p>
                      <a:pPr algn="l"/>
                      <a:r>
                        <a:rPr sz="1100">
                          <a:solidFill>
                            <a:srgbClr val="E2E8F0"/>
                          </a:solidFill>
                          <a:latin typeface="Segoe UI"/>
                        </a:rPr>
                        <a:t>Nigerian Fraud</a:t>
                      </a:r>
                    </a:p>
                  </a:txBody>
                  <a:tcPr anchor="ctr" marL="76200" marR="76200" marT="25400" marB="25400">
                    <a:solidFill>
                      <a:srgbClr val="1A1F3A"/>
                    </a:solidFill>
                  </a:tcPr>
                </a:tc>
                <a:tc>
                  <a:txBody>
                    <a:bodyPr wrap="square"/>
                    <a:lstStyle/>
                    <a:p>
                      <a:pPr algn="ctr"/>
                      <a:r>
                        <a:rPr sz="1100">
                          <a:solidFill>
                            <a:srgbClr val="E2E8F0"/>
                          </a:solidFill>
                          <a:latin typeface="Segoe UI"/>
                        </a:rPr>
                        <a:t>3,332</a:t>
                      </a:r>
                    </a:p>
                  </a:txBody>
                  <a:tcPr anchor="ctr" marL="76200" marR="76200" marT="25400" marB="25400">
                    <a:solidFill>
                      <a:srgbClr val="1A1F3A"/>
                    </a:solidFill>
                  </a:tcPr>
                </a:tc>
                <a:tc>
                  <a:txBody>
                    <a:bodyPr wrap="square"/>
                    <a:lstStyle/>
                    <a:p>
                      <a:pPr algn="ctr"/>
                      <a:r>
                        <a:rPr sz="1100">
                          <a:solidFill>
                            <a:srgbClr val="E2E8F0"/>
                          </a:solidFill>
                          <a:latin typeface="Segoe UI"/>
                        </a:rPr>
                        <a:t>419 advance-fee fraud</a:t>
                      </a:r>
                    </a:p>
                  </a:txBody>
                  <a:tcPr anchor="ctr" marL="76200" marR="76200" marT="25400" marB="25400">
                    <a:solidFill>
                      <a:srgbClr val="1A1F3A"/>
                    </a:solidFill>
                  </a:tcPr>
                </a:tc>
              </a:tr>
              <a:tr h="492760">
                <a:tc>
                  <a:txBody>
                    <a:bodyPr wrap="square"/>
                    <a:lstStyle/>
                    <a:p>
                      <a:pPr algn="l"/>
                      <a:r>
                        <a:rPr sz="1100">
                          <a:solidFill>
                            <a:srgbClr val="E2E8F0"/>
                          </a:solidFill>
                          <a:latin typeface="Segoe UI"/>
                        </a:rPr>
                        <a:t>Ling</a:t>
                      </a:r>
                    </a:p>
                  </a:txBody>
                  <a:tcPr anchor="ctr" marL="76200" marR="76200" marT="25400" marB="25400">
                    <a:solidFill>
                      <a:srgbClr val="151A38"/>
                    </a:solidFill>
                  </a:tcPr>
                </a:tc>
                <a:tc>
                  <a:txBody>
                    <a:bodyPr wrap="square"/>
                    <a:lstStyle/>
                    <a:p>
                      <a:pPr algn="ctr"/>
                      <a:r>
                        <a:rPr sz="1100">
                          <a:solidFill>
                            <a:srgbClr val="E2E8F0"/>
                          </a:solidFill>
                          <a:latin typeface="Segoe UI"/>
                        </a:rPr>
                        <a:t>2,859</a:t>
                      </a:r>
                    </a:p>
                  </a:txBody>
                  <a:tcPr anchor="ctr" marL="76200" marR="76200" marT="25400" marB="25400">
                    <a:solidFill>
                      <a:srgbClr val="151A38"/>
                    </a:solidFill>
                  </a:tcPr>
                </a:tc>
                <a:tc>
                  <a:txBody>
                    <a:bodyPr wrap="square"/>
                    <a:lstStyle/>
                    <a:p>
                      <a:pPr algn="ctr"/>
                      <a:r>
                        <a:rPr sz="1100">
                          <a:solidFill>
                            <a:srgbClr val="E2E8F0"/>
                          </a:solidFill>
                          <a:latin typeface="Segoe UI"/>
                        </a:rPr>
                        <a:t>Ling-spam corpus</a:t>
                      </a:r>
                    </a:p>
                  </a:txBody>
                  <a:tcPr anchor="ctr" marL="76200" marR="76200" marT="25400" marB="25400">
                    <a:solidFill>
                      <a:srgbClr val="151A38"/>
                    </a:solidFill>
                  </a:tcPr>
                </a:tc>
              </a:tr>
              <a:tr h="492760">
                <a:tc>
                  <a:txBody>
                    <a:bodyPr wrap="square"/>
                    <a:lstStyle/>
                    <a:p>
                      <a:pPr algn="l"/>
                      <a:r>
                        <a:rPr sz="1100">
                          <a:solidFill>
                            <a:srgbClr val="E2E8F0"/>
                          </a:solidFill>
                          <a:latin typeface="Segoe UI"/>
                        </a:rPr>
                        <a:t>Nazario</a:t>
                      </a:r>
                    </a:p>
                  </a:txBody>
                  <a:tcPr anchor="ctr" marL="76200" marR="76200" marT="25400" marB="25400">
                    <a:solidFill>
                      <a:srgbClr val="1A1F3A"/>
                    </a:solidFill>
                  </a:tcPr>
                </a:tc>
                <a:tc>
                  <a:txBody>
                    <a:bodyPr wrap="square"/>
                    <a:lstStyle/>
                    <a:p>
                      <a:pPr algn="ctr"/>
                      <a:r>
                        <a:rPr sz="1100">
                          <a:solidFill>
                            <a:srgbClr val="E2E8F0"/>
                          </a:solidFill>
                          <a:latin typeface="Segoe UI"/>
                        </a:rPr>
                        <a:t>1,565</a:t>
                      </a:r>
                    </a:p>
                  </a:txBody>
                  <a:tcPr anchor="ctr" marL="76200" marR="76200" marT="25400" marB="25400">
                    <a:solidFill>
                      <a:srgbClr val="1A1F3A"/>
                    </a:solidFill>
                  </a:tcPr>
                </a:tc>
                <a:tc>
                  <a:txBody>
                    <a:bodyPr wrap="square"/>
                    <a:lstStyle/>
                    <a:p>
                      <a:pPr algn="ctr"/>
                      <a:r>
                        <a:rPr sz="1100">
                          <a:solidFill>
                            <a:srgbClr val="E2E8F0"/>
                          </a:solidFill>
                          <a:latin typeface="Segoe UI"/>
                        </a:rPr>
                        <a:t>Phishing corpus</a:t>
                      </a:r>
                    </a:p>
                  </a:txBody>
                  <a:tcPr anchor="ctr" marL="76200" marR="76200" marT="25400" marB="25400">
                    <a:solidFill>
                      <a:srgbClr val="1A1F3A"/>
                    </a:solidFill>
                  </a:tcPr>
                </a:tc>
              </a:tr>
              <a:tr h="492760">
                <a:tc>
                  <a:txBody>
                    <a:bodyPr wrap="square"/>
                    <a:lstStyle/>
                    <a:p>
                      <a:pPr algn="l"/>
                      <a:r>
                        <a:rPr sz="1100" b="1">
                          <a:solidFill>
                            <a:srgbClr val="E2E8F0"/>
                          </a:solidFill>
                          <a:latin typeface="Segoe UI"/>
                        </a:rPr>
                        <a:t>TOTAL</a:t>
                      </a:r>
                    </a:p>
                  </a:txBody>
                  <a:tcPr anchor="ctr" marL="76200" marR="76200" marT="25400" marB="25400">
                    <a:solidFill>
                      <a:srgbClr val="1A1F3A"/>
                    </a:solidFill>
                  </a:tcPr>
                </a:tc>
                <a:tc>
                  <a:txBody>
                    <a:bodyPr wrap="square"/>
                    <a:lstStyle/>
                    <a:p>
                      <a:pPr algn="ctr"/>
                      <a:r>
                        <a:rPr sz="1100" b="1">
                          <a:solidFill>
                            <a:srgbClr val="E2E8F0"/>
                          </a:solidFill>
                          <a:latin typeface="Segoe UI"/>
                        </a:rPr>
                        <a:t>164,972</a:t>
                      </a:r>
                    </a:p>
                  </a:txBody>
                  <a:tcPr anchor="ctr" marL="76200" marR="76200" marT="25400" marB="25400">
                    <a:solidFill>
                      <a:srgbClr val="1A1F3A"/>
                    </a:solidFill>
                  </a:tcPr>
                </a:tc>
                <a:tc>
                  <a:txBody>
                    <a:bodyPr wrap="square"/>
                    <a:lstStyle/>
                    <a:p>
                      <a:pPr algn="ctr"/>
                      <a:r>
                        <a:rPr sz="1100" b="1">
                          <a:solidFill>
                            <a:srgbClr val="E2E8F0"/>
                          </a:solidFill>
                          <a:latin typeface="Segoe UI"/>
                        </a:rPr>
                        <a:t>7 sources</a:t>
                      </a:r>
                    </a:p>
                  </a:txBody>
                  <a:tcPr anchor="ctr" marL="76200" marR="76200" marT="25400" marB="25400">
                    <a:solidFill>
                      <a:srgbClr val="1A1F3A"/>
                    </a:solidFill>
                  </a:tcPr>
                </a:tc>
              </a:tr>
            </a:tbl>
          </a:graphicData>
        </a:graphic>
      </p:graphicFrame>
      <p:sp>
        <p:nvSpPr>
          <p:cNvPr id="12" name="Rounded Rectangle 11"/>
          <p:cNvSpPr/>
          <p:nvPr/>
        </p:nvSpPr>
        <p:spPr>
          <a:xfrm>
            <a:off x="8366760" y="1874519"/>
            <a:ext cx="3273552" cy="210312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057399"/>
            <a:ext cx="2834640" cy="1828800"/>
          </a:xfrm>
          <a:prstGeom prst="rect">
            <a:avLst/>
          </a:prstGeom>
          <a:noFill/>
        </p:spPr>
        <p:txBody>
          <a:bodyPr wrap="square" anchor="t" lIns="0" rIns="0" tIns="0" bIns="0">
            <a:spAutoFit/>
          </a:bodyPr>
          <a:lstStyle/>
          <a:p>
            <a:pPr algn="l">
              <a:lnSpc>
                <a:spcPct val="100000"/>
              </a:lnSpc>
              <a:spcBef>
                <a:spcPts val="0"/>
              </a:spcBef>
              <a:spcAft>
                <a:spcPts val="600"/>
              </a:spcAft>
            </a:pPr>
            <a:r>
              <a:rPr sz="1400" b="1" i="0">
                <a:solidFill>
                  <a:srgbClr val="00D4FF"/>
                </a:solidFill>
                <a:latin typeface="Segoe UI"/>
              </a:rPr>
              <a:t>Unified Schema</a:t>
            </a:r>
          </a:p>
          <a:p>
            <a:pPr algn="l">
              <a:lnSpc>
                <a:spcPct val="100000"/>
              </a:lnSpc>
              <a:spcBef>
                <a:spcPts val="0"/>
              </a:spcBef>
              <a:spcAft>
                <a:spcPts val="300"/>
              </a:spcAft>
            </a:pPr>
            <a:r>
              <a:rPr sz="1150" b="0" i="0">
                <a:solidFill>
                  <a:srgbClr val="E2E8F0"/>
                </a:solidFill>
                <a:latin typeface="Segoe UI"/>
              </a:rPr>
              <a:t>text_combined  · subject  · body</a:t>
            </a:r>
          </a:p>
          <a:p>
            <a:pPr algn="l">
              <a:lnSpc>
                <a:spcPct val="100000"/>
              </a:lnSpc>
              <a:spcBef>
                <a:spcPts val="0"/>
              </a:spcBef>
              <a:spcAft>
                <a:spcPts val="300"/>
              </a:spcAft>
            </a:pPr>
            <a:r>
              <a:rPr sz="1150" b="0" i="0">
                <a:solidFill>
                  <a:srgbClr val="E2E8F0"/>
                </a:solidFill>
                <a:latin typeface="Segoe UI"/>
              </a:rPr>
              <a:t>sender  · label (0/1)</a:t>
            </a:r>
          </a:p>
          <a:p>
            <a:pPr algn="l">
              <a:lnSpc>
                <a:spcPct val="100000"/>
              </a:lnSpc>
              <a:spcBef>
                <a:spcPts val="0"/>
              </a:spcBef>
              <a:spcAft>
                <a:spcPts val="600"/>
              </a:spcAft>
            </a:pPr>
            <a:r>
              <a:rPr sz="1150" b="0" i="0">
                <a:solidFill>
                  <a:srgbClr val="E2E8F0"/>
                </a:solidFill>
                <a:latin typeface="Segoe UI"/>
              </a:rPr>
              <a:t>source_dataset (provenance)</a:t>
            </a:r>
          </a:p>
          <a:p>
            <a:pPr algn="l">
              <a:lnSpc>
                <a:spcPct val="115000"/>
              </a:lnSpc>
              <a:spcBef>
                <a:spcPts val="0"/>
              </a:spcBef>
              <a:spcAft>
                <a:spcPts val="0"/>
              </a:spcAft>
            </a:pPr>
            <a:r>
              <a:rPr sz="1050" b="0" i="0">
                <a:solidFill>
                  <a:srgbClr val="9CA9D0"/>
                </a:solidFill>
                <a:latin typeface="Segoe UI"/>
              </a:rPr>
              <a:t>Heterogeneous schemas are normalised in DatasetLoader.</a:t>
            </a:r>
          </a:p>
        </p:txBody>
      </p:sp>
      <p:sp>
        <p:nvSpPr>
          <p:cNvPr id="14" name="Rounded Rectangle 13"/>
          <p:cNvSpPr/>
          <p:nvPr/>
        </p:nvSpPr>
        <p:spPr>
          <a:xfrm>
            <a:off x="8366760" y="4178807"/>
            <a:ext cx="3273552" cy="2130552"/>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0" y="4361687"/>
            <a:ext cx="2834640" cy="1828800"/>
          </a:xfrm>
          <a:prstGeom prst="rect">
            <a:avLst/>
          </a:prstGeom>
          <a:noFill/>
        </p:spPr>
        <p:txBody>
          <a:bodyPr wrap="square" anchor="t" lIns="0" rIns="0" tIns="0" bIns="0">
            <a:spAutoFit/>
          </a:bodyPr>
          <a:lstStyle/>
          <a:p>
            <a:pPr algn="l">
              <a:lnSpc>
                <a:spcPct val="100000"/>
              </a:lnSpc>
              <a:spcBef>
                <a:spcPts val="0"/>
              </a:spcBef>
              <a:spcAft>
                <a:spcPts val="600"/>
              </a:spcAft>
            </a:pPr>
            <a:r>
              <a:rPr sz="1400" b="1" i="0">
                <a:solidFill>
                  <a:srgbClr val="10B981"/>
                </a:solidFill>
                <a:latin typeface="Segoe UI"/>
              </a:rPr>
              <a:t>Why multi-source?</a:t>
            </a:r>
          </a:p>
          <a:p>
            <a:pPr algn="l" marL="183000" indent="-183000">
              <a:lnSpc>
                <a:spcPct val="100000"/>
              </a:lnSpc>
              <a:spcBef>
                <a:spcPts val="0"/>
              </a:spcBef>
              <a:spcAft>
                <a:spcPts val="400"/>
              </a:spcAft>
            </a:pPr>
            <a:r>
              <a:rPr sz="1100" b="1">
                <a:solidFill>
                  <a:srgbClr val="10B981"/>
                </a:solidFill>
                <a:latin typeface="Segoe UI"/>
              </a:rPr>
              <a:t>▪  </a:t>
            </a:r>
            <a:r>
              <a:rPr sz="1100" b="0" i="0">
                <a:solidFill>
                  <a:srgbClr val="E2E8F0"/>
                </a:solidFill>
                <a:latin typeface="Segoe UI"/>
              </a:rPr>
              <a:t>Broad vocabulary coverage</a:t>
            </a:r>
          </a:p>
          <a:p>
            <a:pPr algn="l" marL="183000" indent="-183000">
              <a:lnSpc>
                <a:spcPct val="100000"/>
              </a:lnSpc>
              <a:spcBef>
                <a:spcPts val="0"/>
              </a:spcBef>
              <a:spcAft>
                <a:spcPts val="400"/>
              </a:spcAft>
            </a:pPr>
            <a:r>
              <a:rPr sz="1100" b="1">
                <a:solidFill>
                  <a:srgbClr val="10B981"/>
                </a:solidFill>
                <a:latin typeface="Segoe UI"/>
              </a:rPr>
              <a:t>▪  </a:t>
            </a:r>
            <a:r>
              <a:rPr sz="1100" b="0" i="0">
                <a:solidFill>
                  <a:srgbClr val="E2E8F0"/>
                </a:solidFill>
                <a:latin typeface="Segoe UI"/>
              </a:rPr>
              <a:t>Real-world legitimate mail (Enron)</a:t>
            </a:r>
          </a:p>
          <a:p>
            <a:pPr algn="l" marL="183000" indent="-183000">
              <a:lnSpc>
                <a:spcPct val="100000"/>
              </a:lnSpc>
              <a:spcBef>
                <a:spcPts val="0"/>
              </a:spcBef>
              <a:spcAft>
                <a:spcPts val="400"/>
              </a:spcAft>
            </a:pPr>
            <a:r>
              <a:rPr sz="1100" b="1">
                <a:solidFill>
                  <a:srgbClr val="10B981"/>
                </a:solidFill>
                <a:latin typeface="Segoe UI"/>
              </a:rPr>
              <a:t>▪  </a:t>
            </a:r>
            <a:r>
              <a:rPr sz="1100" b="0" i="0">
                <a:solidFill>
                  <a:srgbClr val="E2E8F0"/>
                </a:solidFill>
                <a:latin typeface="Segoe UI"/>
              </a:rPr>
              <a:t>Diverse attack templates (419 fraud, phishing kits)</a:t>
            </a:r>
          </a:p>
          <a:p>
            <a:pPr algn="l" marL="183000" indent="-183000">
              <a:lnSpc>
                <a:spcPct val="100000"/>
              </a:lnSpc>
              <a:spcBef>
                <a:spcPts val="0"/>
              </a:spcBef>
              <a:spcAft>
                <a:spcPts val="400"/>
              </a:spcAft>
            </a:pPr>
            <a:r>
              <a:rPr sz="1100" b="1">
                <a:solidFill>
                  <a:srgbClr val="10B981"/>
                </a:solidFill>
                <a:latin typeface="Segoe UI"/>
              </a:rPr>
              <a:t>▪  </a:t>
            </a:r>
            <a:r>
              <a:rPr sz="1100" b="0" i="0">
                <a:solidFill>
                  <a:srgbClr val="E2E8F0"/>
                </a:solidFill>
                <a:latin typeface="Segoe UI"/>
              </a:rPr>
              <a:t>Reduced corpus bias</a:t>
            </a:r>
          </a:p>
        </p:txBody>
      </p:sp>
      <p:sp>
        <p:nvSpPr>
          <p:cNvPr id="16" name="TextBox 15"/>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17" name="TextBox 16"/>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08 · DATASET</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Dataset Statistics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After cleaning — the training corpus used for all six models</a:t>
            </a:r>
          </a:p>
        </p:txBody>
      </p:sp>
      <p:sp>
        <p:nvSpPr>
          <p:cNvPr id="11" name="Rounded Rectangle 10"/>
          <p:cNvSpPr/>
          <p:nvPr/>
        </p:nvSpPr>
        <p:spPr>
          <a:xfrm>
            <a:off x="548640" y="1874519"/>
            <a:ext cx="5440680" cy="932688"/>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05095"/>
            <a:ext cx="50800" cy="671535"/>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1986441"/>
            <a:ext cx="5166360" cy="731520"/>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127,428</a:t>
            </a:r>
          </a:p>
          <a:p>
            <a:pPr algn="l">
              <a:lnSpc>
                <a:spcPct val="100000"/>
              </a:lnSpc>
              <a:spcBef>
                <a:spcPts val="200"/>
              </a:spcBef>
              <a:spcAft>
                <a:spcPts val="0"/>
              </a:spcAft>
            </a:pPr>
            <a:r>
              <a:rPr sz="1100" b="0" i="0">
                <a:solidFill>
                  <a:srgbClr val="9CA9D0"/>
                </a:solidFill>
                <a:latin typeface="Segoe UI"/>
              </a:rPr>
              <a:t>Total emails after cleaning</a:t>
            </a:r>
          </a:p>
        </p:txBody>
      </p:sp>
      <p:sp>
        <p:nvSpPr>
          <p:cNvPr id="14" name="Rounded Rectangle 13"/>
          <p:cNvSpPr/>
          <p:nvPr/>
        </p:nvSpPr>
        <p:spPr>
          <a:xfrm>
            <a:off x="548640" y="2935223"/>
            <a:ext cx="5440680" cy="932688"/>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65799"/>
            <a:ext cx="50800" cy="671535"/>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047145"/>
            <a:ext cx="5166360" cy="731520"/>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65,901</a:t>
            </a:r>
          </a:p>
          <a:p>
            <a:pPr algn="l">
              <a:lnSpc>
                <a:spcPct val="100000"/>
              </a:lnSpc>
              <a:spcBef>
                <a:spcPts val="200"/>
              </a:spcBef>
              <a:spcAft>
                <a:spcPts val="0"/>
              </a:spcAft>
            </a:pPr>
            <a:r>
              <a:rPr sz="1100" b="0" i="0">
                <a:solidFill>
                  <a:srgbClr val="9CA9D0"/>
                </a:solidFill>
                <a:latin typeface="Segoe UI"/>
              </a:rPr>
              <a:t>Phishing (51.7%)</a:t>
            </a:r>
          </a:p>
        </p:txBody>
      </p:sp>
      <p:sp>
        <p:nvSpPr>
          <p:cNvPr id="17" name="Rounded Rectangle 16"/>
          <p:cNvSpPr/>
          <p:nvPr/>
        </p:nvSpPr>
        <p:spPr>
          <a:xfrm>
            <a:off x="548640" y="3995927"/>
            <a:ext cx="5440680" cy="932688"/>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126503"/>
            <a:ext cx="50800" cy="67153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4107849"/>
            <a:ext cx="5166360" cy="731520"/>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61,527</a:t>
            </a:r>
          </a:p>
          <a:p>
            <a:pPr algn="l">
              <a:lnSpc>
                <a:spcPct val="100000"/>
              </a:lnSpc>
              <a:spcBef>
                <a:spcPts val="200"/>
              </a:spcBef>
              <a:spcAft>
                <a:spcPts val="0"/>
              </a:spcAft>
            </a:pPr>
            <a:r>
              <a:rPr sz="1100" b="0" i="0">
                <a:solidFill>
                  <a:srgbClr val="9CA9D0"/>
                </a:solidFill>
                <a:latin typeface="Segoe UI"/>
              </a:rPr>
              <a:t>Legitimate (48.3%)</a:t>
            </a:r>
          </a:p>
        </p:txBody>
      </p:sp>
      <p:sp>
        <p:nvSpPr>
          <p:cNvPr id="20" name="Rounded Rectangle 19"/>
          <p:cNvSpPr/>
          <p:nvPr/>
        </p:nvSpPr>
        <p:spPr>
          <a:xfrm>
            <a:off x="548640" y="5056631"/>
            <a:ext cx="5440680" cy="932688"/>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187207"/>
            <a:ext cx="50800" cy="67153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168553"/>
            <a:ext cx="5166360" cy="731520"/>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101,942 / 25,486</a:t>
            </a:r>
          </a:p>
          <a:p>
            <a:pPr algn="l">
              <a:lnSpc>
                <a:spcPct val="100000"/>
              </a:lnSpc>
              <a:spcBef>
                <a:spcPts val="200"/>
              </a:spcBef>
              <a:spcAft>
                <a:spcPts val="0"/>
              </a:spcAft>
            </a:pPr>
            <a:r>
              <a:rPr sz="1100" b="0" i="0">
                <a:solidFill>
                  <a:srgbClr val="9CA9D0"/>
                </a:solidFill>
                <a:latin typeface="Segoe UI"/>
              </a:rPr>
              <a:t>Train / Test (80/20, seed 42)</a:t>
            </a:r>
          </a:p>
        </p:txBody>
      </p:sp>
      <p:sp>
        <p:nvSpPr>
          <p:cNvPr id="23" name="Rounded Rectangle 22"/>
          <p:cNvSpPr/>
          <p:nvPr/>
        </p:nvSpPr>
        <p:spPr>
          <a:xfrm>
            <a:off x="548640" y="6117335"/>
            <a:ext cx="5440680" cy="12801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254495"/>
            <a:ext cx="5029200" cy="10515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FFFFFF"/>
                </a:solidFill>
                <a:latin typeface="Segoe UI"/>
              </a:rPr>
              <a:t>Class balance (mild imbalance)</a:t>
            </a:r>
          </a:p>
          <a:p>
            <a:pPr algn="l">
              <a:lnSpc>
                <a:spcPct val="120000"/>
              </a:lnSpc>
              <a:spcBef>
                <a:spcPts val="0"/>
              </a:spcBef>
              <a:spcAft>
                <a:spcPts val="0"/>
              </a:spcAft>
            </a:pPr>
            <a:r>
              <a:rPr sz="1150" b="0" i="0">
                <a:solidFill>
                  <a:srgbClr val="9CA9D0"/>
                </a:solidFill>
                <a:latin typeface="Segoe UI"/>
              </a:rPr>
              <a:t>Handled via class_weight=“balanced” (sklearn) and scale_pos_weight (boosted trees).</a:t>
            </a:r>
          </a:p>
        </p:txBody>
      </p:sp>
      <p:pic>
        <p:nvPicPr>
          <p:cNvPr id="25" name="Picture 24" descr="class_distribution.png"/>
          <p:cNvPicPr>
            <a:picLocks noChangeAspect="1"/>
          </p:cNvPicPr>
          <p:nvPr/>
        </p:nvPicPr>
        <p:blipFill>
          <a:blip r:embed="rId2"/>
          <a:stretch>
            <a:fillRect/>
          </a:stretch>
        </p:blipFill>
        <p:spPr>
          <a:xfrm>
            <a:off x="6263640" y="2698006"/>
            <a:ext cx="5394960" cy="2330665"/>
          </a:xfrm>
          <a:prstGeom prst="rect">
            <a:avLst/>
          </a:prstGeom>
        </p:spPr>
      </p:pic>
      <p:sp>
        <p:nvSpPr>
          <p:cNvPr id="26" name="Rectangle 25"/>
          <p:cNvSpPr/>
          <p:nvPr/>
        </p:nvSpPr>
        <p:spPr>
          <a:xfrm>
            <a:off x="6263640" y="2698006"/>
            <a:ext cx="5394960" cy="2330665"/>
          </a:xfrm>
          <a:prstGeom prst="rect">
            <a:avLst/>
          </a:prstGeom>
          <a:no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6035040"/>
            <a:ext cx="5394960" cy="365760"/>
          </a:xfrm>
          <a:prstGeom prst="rect">
            <a:avLst/>
          </a:prstGeom>
          <a:noFill/>
        </p:spPr>
        <p:txBody>
          <a:bodyPr wrap="square" anchor="t" lIns="0" rIns="0" tIns="0" bIns="0">
            <a:spAutoFit/>
          </a:bodyPr>
          <a:lstStyle/>
          <a:p>
            <a:pPr algn="ctr">
              <a:lnSpc>
                <a:spcPct val="100000"/>
              </a:lnSpc>
              <a:spcBef>
                <a:spcPts val="0"/>
              </a:spcBef>
              <a:spcAft>
                <a:spcPts val="0"/>
              </a:spcAft>
            </a:pPr>
            <a:r>
              <a:rPr sz="1000" b="0" i="0">
                <a:solidFill>
                  <a:srgbClr val="9CA9D0"/>
                </a:solidFill>
                <a:latin typeface="Segoe UI"/>
              </a:rPr>
              <a:t>Figure: class distribution (pie &amp; bar) generated by evaluate_models.py</a:t>
            </a:r>
          </a:p>
        </p:txBody>
      </p:sp>
      <p:sp>
        <p:nvSpPr>
          <p:cNvPr id="28" name="TextBox 27"/>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29" name="TextBox 28"/>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09 · DATA PREPROCESSING</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NLP Preprocessing Pipeline</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12 deterministic cleaning steps applied to every email</a:t>
            </a:r>
          </a:p>
        </p:txBody>
      </p:sp>
      <p:sp>
        <p:nvSpPr>
          <p:cNvPr id="11" name="Rounded Rectangle 10"/>
          <p:cNvSpPr/>
          <p:nvPr/>
        </p:nvSpPr>
        <p:spPr>
          <a:xfrm>
            <a:off x="548640" y="1874519"/>
            <a:ext cx="1773936"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984247"/>
            <a:ext cx="1554480" cy="1188720"/>
          </a:xfrm>
          <a:prstGeom prst="rect">
            <a:avLst/>
          </a:prstGeom>
          <a:noFill/>
        </p:spPr>
        <p:txBody>
          <a:bodyPr wrap="square" anchor="t" lIns="0" rIns="0" tIns="0" bIns="0">
            <a:spAutoFit/>
          </a:bodyPr>
          <a:lstStyle/>
          <a:p>
            <a:pPr algn="l">
              <a:lnSpc>
                <a:spcPct val="100000"/>
              </a:lnSpc>
              <a:spcBef>
                <a:spcPts val="0"/>
              </a:spcBef>
              <a:spcAft>
                <a:spcPts val="300"/>
              </a:spcAft>
            </a:pPr>
            <a:r>
              <a:rPr sz="950" b="1" i="0">
                <a:solidFill>
                  <a:srgbClr val="00D4FF"/>
                </a:solidFill>
                <a:latin typeface="Segoe UI"/>
              </a:rPr>
              <a:t>Step 1</a:t>
            </a:r>
          </a:p>
          <a:p>
            <a:pPr algn="l">
              <a:lnSpc>
                <a:spcPct val="100000"/>
              </a:lnSpc>
              <a:spcBef>
                <a:spcPts val="0"/>
              </a:spcBef>
              <a:spcAft>
                <a:spcPts val="200"/>
              </a:spcAft>
            </a:pPr>
            <a:r>
              <a:rPr sz="1300" b="1" i="0">
                <a:solidFill>
                  <a:srgbClr val="FFFFFF"/>
                </a:solidFill>
                <a:latin typeface="Segoe UI"/>
              </a:rPr>
              <a:t>Lowercase</a:t>
            </a:r>
          </a:p>
          <a:p>
            <a:pPr algn="l">
              <a:lnSpc>
                <a:spcPct val="100000"/>
              </a:lnSpc>
              <a:spcBef>
                <a:spcPts val="0"/>
              </a:spcBef>
              <a:spcAft>
                <a:spcPts val="0"/>
              </a:spcAft>
            </a:pPr>
            <a:r>
              <a:rPr sz="1000" b="0" i="0">
                <a:solidFill>
                  <a:srgbClr val="9CA9D0"/>
                </a:solidFill>
                <a:latin typeface="Segoe UI"/>
              </a:rPr>
              <a:t>case folding</a:t>
            </a:r>
          </a:p>
        </p:txBody>
      </p:sp>
      <p:cxnSp>
        <p:nvCxnSpPr>
          <p:cNvPr id="13" name="Connector 12"/>
          <p:cNvCxnSpPr/>
          <p:nvPr/>
        </p:nvCxnSpPr>
        <p:spPr>
          <a:xfrm flipH="1">
            <a:off x="2331720" y="2560319"/>
            <a:ext cx="9144"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368296" y="1874519"/>
            <a:ext cx="1773936"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78024" y="1984247"/>
            <a:ext cx="1554480" cy="1188720"/>
          </a:xfrm>
          <a:prstGeom prst="rect">
            <a:avLst/>
          </a:prstGeom>
          <a:noFill/>
        </p:spPr>
        <p:txBody>
          <a:bodyPr wrap="square" anchor="t" lIns="0" rIns="0" tIns="0" bIns="0">
            <a:spAutoFit/>
          </a:bodyPr>
          <a:lstStyle/>
          <a:p>
            <a:pPr algn="l">
              <a:lnSpc>
                <a:spcPct val="100000"/>
              </a:lnSpc>
              <a:spcBef>
                <a:spcPts val="0"/>
              </a:spcBef>
              <a:spcAft>
                <a:spcPts val="300"/>
              </a:spcAft>
            </a:pPr>
            <a:r>
              <a:rPr sz="950" b="1" i="0">
                <a:solidFill>
                  <a:srgbClr val="00D4FF"/>
                </a:solidFill>
                <a:latin typeface="Segoe UI"/>
              </a:rPr>
              <a:t>Step 2</a:t>
            </a:r>
          </a:p>
          <a:p>
            <a:pPr algn="l">
              <a:lnSpc>
                <a:spcPct val="100000"/>
              </a:lnSpc>
              <a:spcBef>
                <a:spcPts val="0"/>
              </a:spcBef>
              <a:spcAft>
                <a:spcPts val="200"/>
              </a:spcAft>
            </a:pPr>
            <a:r>
              <a:rPr sz="1300" b="1" i="0">
                <a:solidFill>
                  <a:srgbClr val="FFFFFF"/>
                </a:solidFill>
                <a:latin typeface="Segoe UI"/>
              </a:rPr>
              <a:t>Strip HTML</a:t>
            </a:r>
          </a:p>
          <a:p>
            <a:pPr algn="l">
              <a:lnSpc>
                <a:spcPct val="100000"/>
              </a:lnSpc>
              <a:spcBef>
                <a:spcPts val="0"/>
              </a:spcBef>
              <a:spcAft>
                <a:spcPts val="0"/>
              </a:spcAft>
            </a:pPr>
            <a:r>
              <a:rPr sz="1000" b="0" i="0">
                <a:solidFill>
                  <a:srgbClr val="9CA9D0"/>
                </a:solidFill>
                <a:latin typeface="Segoe UI"/>
              </a:rPr>
              <a:t>tags → text</a:t>
            </a:r>
          </a:p>
        </p:txBody>
      </p:sp>
      <p:cxnSp>
        <p:nvCxnSpPr>
          <p:cNvPr id="16" name="Connector 15"/>
          <p:cNvCxnSpPr/>
          <p:nvPr/>
        </p:nvCxnSpPr>
        <p:spPr>
          <a:xfrm flipH="1">
            <a:off x="4151376" y="2560319"/>
            <a:ext cx="9144"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187952" y="1874519"/>
            <a:ext cx="1773936"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1984247"/>
            <a:ext cx="1554480" cy="1188720"/>
          </a:xfrm>
          <a:prstGeom prst="rect">
            <a:avLst/>
          </a:prstGeom>
          <a:noFill/>
        </p:spPr>
        <p:txBody>
          <a:bodyPr wrap="square" anchor="t" lIns="0" rIns="0" tIns="0" bIns="0">
            <a:spAutoFit/>
          </a:bodyPr>
          <a:lstStyle/>
          <a:p>
            <a:pPr algn="l">
              <a:lnSpc>
                <a:spcPct val="100000"/>
              </a:lnSpc>
              <a:spcBef>
                <a:spcPts val="0"/>
              </a:spcBef>
              <a:spcAft>
                <a:spcPts val="300"/>
              </a:spcAft>
            </a:pPr>
            <a:r>
              <a:rPr sz="950" b="1" i="0">
                <a:solidFill>
                  <a:srgbClr val="00D4FF"/>
                </a:solidFill>
                <a:latin typeface="Segoe UI"/>
              </a:rPr>
              <a:t>Step 3</a:t>
            </a:r>
          </a:p>
          <a:p>
            <a:pPr algn="l">
              <a:lnSpc>
                <a:spcPct val="100000"/>
              </a:lnSpc>
              <a:spcBef>
                <a:spcPts val="0"/>
              </a:spcBef>
              <a:spcAft>
                <a:spcPts val="200"/>
              </a:spcAft>
            </a:pPr>
            <a:r>
              <a:rPr sz="1300" b="1" i="0">
                <a:solidFill>
                  <a:srgbClr val="FFFFFF"/>
                </a:solidFill>
                <a:latin typeface="Segoe UI"/>
              </a:rPr>
              <a:t>Remove URLs</a:t>
            </a:r>
          </a:p>
          <a:p>
            <a:pPr algn="l">
              <a:lnSpc>
                <a:spcPct val="100000"/>
              </a:lnSpc>
              <a:spcBef>
                <a:spcPts val="0"/>
              </a:spcBef>
              <a:spcAft>
                <a:spcPts val="0"/>
              </a:spcAft>
            </a:pPr>
            <a:r>
              <a:rPr sz="1000" b="0" i="0">
                <a:solidFill>
                  <a:srgbClr val="9CA9D0"/>
                </a:solidFill>
                <a:latin typeface="Segoe UI"/>
              </a:rPr>
              <a:t>http / www / ftp</a:t>
            </a:r>
          </a:p>
        </p:txBody>
      </p:sp>
      <p:sp>
        <p:nvSpPr>
          <p:cNvPr id="19" name="Rounded Rectangle 18"/>
          <p:cNvSpPr/>
          <p:nvPr/>
        </p:nvSpPr>
        <p:spPr>
          <a:xfrm>
            <a:off x="548640" y="3392423"/>
            <a:ext cx="1773936"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502151"/>
            <a:ext cx="1554480" cy="1188720"/>
          </a:xfrm>
          <a:prstGeom prst="rect">
            <a:avLst/>
          </a:prstGeom>
          <a:noFill/>
        </p:spPr>
        <p:txBody>
          <a:bodyPr wrap="square" anchor="t" lIns="0" rIns="0" tIns="0" bIns="0">
            <a:spAutoFit/>
          </a:bodyPr>
          <a:lstStyle/>
          <a:p>
            <a:pPr algn="l">
              <a:lnSpc>
                <a:spcPct val="100000"/>
              </a:lnSpc>
              <a:spcBef>
                <a:spcPts val="0"/>
              </a:spcBef>
              <a:spcAft>
                <a:spcPts val="300"/>
              </a:spcAft>
            </a:pPr>
            <a:r>
              <a:rPr sz="950" b="1" i="0">
                <a:solidFill>
                  <a:srgbClr val="00D4FF"/>
                </a:solidFill>
                <a:latin typeface="Segoe UI"/>
              </a:rPr>
              <a:t>Step 4</a:t>
            </a:r>
          </a:p>
          <a:p>
            <a:pPr algn="l">
              <a:lnSpc>
                <a:spcPct val="100000"/>
              </a:lnSpc>
              <a:spcBef>
                <a:spcPts val="0"/>
              </a:spcBef>
              <a:spcAft>
                <a:spcPts val="200"/>
              </a:spcAft>
            </a:pPr>
            <a:r>
              <a:rPr sz="1300" b="1" i="0">
                <a:solidFill>
                  <a:srgbClr val="FFFFFF"/>
                </a:solidFill>
                <a:latin typeface="Segoe UI"/>
              </a:rPr>
              <a:t>Remove emails</a:t>
            </a:r>
          </a:p>
          <a:p>
            <a:pPr algn="l">
              <a:lnSpc>
                <a:spcPct val="100000"/>
              </a:lnSpc>
              <a:spcBef>
                <a:spcPts val="0"/>
              </a:spcBef>
              <a:spcAft>
                <a:spcPts val="0"/>
              </a:spcAft>
            </a:pPr>
            <a:r>
              <a:rPr sz="1000" b="0" i="0">
                <a:solidFill>
                  <a:srgbClr val="9CA9D0"/>
                </a:solidFill>
                <a:latin typeface="Segoe UI"/>
              </a:rPr>
              <a:t>addresses</a:t>
            </a:r>
          </a:p>
        </p:txBody>
      </p:sp>
      <p:cxnSp>
        <p:nvCxnSpPr>
          <p:cNvPr id="21" name="Connector 20"/>
          <p:cNvCxnSpPr/>
          <p:nvPr/>
        </p:nvCxnSpPr>
        <p:spPr>
          <a:xfrm flipH="1">
            <a:off x="2331720" y="4078223"/>
            <a:ext cx="9144"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368296" y="3392423"/>
            <a:ext cx="1773936"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78024" y="3502151"/>
            <a:ext cx="1554480" cy="1188720"/>
          </a:xfrm>
          <a:prstGeom prst="rect">
            <a:avLst/>
          </a:prstGeom>
          <a:noFill/>
        </p:spPr>
        <p:txBody>
          <a:bodyPr wrap="square" anchor="t" lIns="0" rIns="0" tIns="0" bIns="0">
            <a:spAutoFit/>
          </a:bodyPr>
          <a:lstStyle/>
          <a:p>
            <a:pPr algn="l">
              <a:lnSpc>
                <a:spcPct val="100000"/>
              </a:lnSpc>
              <a:spcBef>
                <a:spcPts val="0"/>
              </a:spcBef>
              <a:spcAft>
                <a:spcPts val="300"/>
              </a:spcAft>
            </a:pPr>
            <a:r>
              <a:rPr sz="950" b="1" i="0">
                <a:solidFill>
                  <a:srgbClr val="00D4FF"/>
                </a:solidFill>
                <a:latin typeface="Segoe UI"/>
              </a:rPr>
              <a:t>Step 5</a:t>
            </a:r>
          </a:p>
          <a:p>
            <a:pPr algn="l">
              <a:lnSpc>
                <a:spcPct val="100000"/>
              </a:lnSpc>
              <a:spcBef>
                <a:spcPts val="0"/>
              </a:spcBef>
              <a:spcAft>
                <a:spcPts val="200"/>
              </a:spcAft>
            </a:pPr>
            <a:r>
              <a:rPr sz="1300" b="1" i="0">
                <a:solidFill>
                  <a:srgbClr val="FFFFFF"/>
                </a:solidFill>
                <a:latin typeface="Segoe UI"/>
              </a:rPr>
              <a:t>Strip signatures</a:t>
            </a:r>
          </a:p>
          <a:p>
            <a:pPr algn="l">
              <a:lnSpc>
                <a:spcPct val="100000"/>
              </a:lnSpc>
              <a:spcBef>
                <a:spcPts val="0"/>
              </a:spcBef>
              <a:spcAft>
                <a:spcPts val="0"/>
              </a:spcAft>
            </a:pPr>
            <a:r>
              <a:rPr sz="1000" b="0" i="0">
                <a:solidFill>
                  <a:srgbClr val="9CA9D0"/>
                </a:solidFill>
                <a:latin typeface="Segoe UI"/>
              </a:rPr>
              <a:t>regards, ——, sent from</a:t>
            </a:r>
          </a:p>
        </p:txBody>
      </p:sp>
      <p:cxnSp>
        <p:nvCxnSpPr>
          <p:cNvPr id="24" name="Connector 23"/>
          <p:cNvCxnSpPr/>
          <p:nvPr/>
        </p:nvCxnSpPr>
        <p:spPr>
          <a:xfrm flipH="1">
            <a:off x="4151376" y="4078223"/>
            <a:ext cx="9144"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187952" y="3392423"/>
            <a:ext cx="1773936"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97680" y="3502151"/>
            <a:ext cx="1554480" cy="1188720"/>
          </a:xfrm>
          <a:prstGeom prst="rect">
            <a:avLst/>
          </a:prstGeom>
          <a:noFill/>
        </p:spPr>
        <p:txBody>
          <a:bodyPr wrap="square" anchor="t" lIns="0" rIns="0" tIns="0" bIns="0">
            <a:spAutoFit/>
          </a:bodyPr>
          <a:lstStyle/>
          <a:p>
            <a:pPr algn="l">
              <a:lnSpc>
                <a:spcPct val="100000"/>
              </a:lnSpc>
              <a:spcBef>
                <a:spcPts val="0"/>
              </a:spcBef>
              <a:spcAft>
                <a:spcPts val="300"/>
              </a:spcAft>
            </a:pPr>
            <a:r>
              <a:rPr sz="950" b="1" i="0">
                <a:solidFill>
                  <a:srgbClr val="00D4FF"/>
                </a:solidFill>
                <a:latin typeface="Segoe UI"/>
              </a:rPr>
              <a:t>Step 6</a:t>
            </a:r>
          </a:p>
          <a:p>
            <a:pPr algn="l">
              <a:lnSpc>
                <a:spcPct val="100000"/>
              </a:lnSpc>
              <a:spcBef>
                <a:spcPts val="0"/>
              </a:spcBef>
              <a:spcAft>
                <a:spcPts val="200"/>
              </a:spcAft>
            </a:pPr>
            <a:r>
              <a:rPr sz="1300" b="1" i="0">
                <a:solidFill>
                  <a:srgbClr val="FFFFFF"/>
                </a:solidFill>
                <a:latin typeface="Segoe UI"/>
              </a:rPr>
              <a:t>Clean chars</a:t>
            </a:r>
          </a:p>
          <a:p>
            <a:pPr algn="l">
              <a:lnSpc>
                <a:spcPct val="100000"/>
              </a:lnSpc>
              <a:spcBef>
                <a:spcPts val="0"/>
              </a:spcBef>
              <a:spcAft>
                <a:spcPts val="0"/>
              </a:spcAft>
            </a:pPr>
            <a:r>
              <a:rPr sz="1000" b="0" i="0">
                <a:solidFill>
                  <a:srgbClr val="9CA9D0"/>
                </a:solidFill>
                <a:latin typeface="Segoe UI"/>
              </a:rPr>
              <a:t>punct, digits, emoji</a:t>
            </a:r>
          </a:p>
        </p:txBody>
      </p:sp>
      <p:sp>
        <p:nvSpPr>
          <p:cNvPr id="27" name="Rounded Rectangle 26"/>
          <p:cNvSpPr/>
          <p:nvPr/>
        </p:nvSpPr>
        <p:spPr>
          <a:xfrm>
            <a:off x="548640" y="4910327"/>
            <a:ext cx="1773936"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020055"/>
            <a:ext cx="1554480" cy="1188720"/>
          </a:xfrm>
          <a:prstGeom prst="rect">
            <a:avLst/>
          </a:prstGeom>
          <a:noFill/>
        </p:spPr>
        <p:txBody>
          <a:bodyPr wrap="square" anchor="t" lIns="0" rIns="0" tIns="0" bIns="0">
            <a:spAutoFit/>
          </a:bodyPr>
          <a:lstStyle/>
          <a:p>
            <a:pPr algn="l">
              <a:lnSpc>
                <a:spcPct val="100000"/>
              </a:lnSpc>
              <a:spcBef>
                <a:spcPts val="0"/>
              </a:spcBef>
              <a:spcAft>
                <a:spcPts val="300"/>
              </a:spcAft>
            </a:pPr>
            <a:r>
              <a:rPr sz="950" b="1" i="0">
                <a:solidFill>
                  <a:srgbClr val="00D4FF"/>
                </a:solidFill>
                <a:latin typeface="Segoe UI"/>
              </a:rPr>
              <a:t>Step 7</a:t>
            </a:r>
          </a:p>
          <a:p>
            <a:pPr algn="l">
              <a:lnSpc>
                <a:spcPct val="100000"/>
              </a:lnSpc>
              <a:spcBef>
                <a:spcPts val="0"/>
              </a:spcBef>
              <a:spcAft>
                <a:spcPts val="200"/>
              </a:spcAft>
            </a:pPr>
            <a:r>
              <a:rPr sz="1300" b="1" i="0">
                <a:solidFill>
                  <a:srgbClr val="FFFFFF"/>
                </a:solidFill>
                <a:latin typeface="Segoe UI"/>
              </a:rPr>
              <a:t>Tokenize</a:t>
            </a:r>
          </a:p>
          <a:p>
            <a:pPr algn="l">
              <a:lnSpc>
                <a:spcPct val="100000"/>
              </a:lnSpc>
              <a:spcBef>
                <a:spcPts val="0"/>
              </a:spcBef>
              <a:spcAft>
                <a:spcPts val="0"/>
              </a:spcAft>
            </a:pPr>
            <a:r>
              <a:rPr sz="1000" b="0" i="0">
                <a:solidFill>
                  <a:srgbClr val="9CA9D0"/>
                </a:solidFill>
                <a:latin typeface="Segoe UI"/>
              </a:rPr>
              <a:t>NLTK word_tokenize</a:t>
            </a:r>
          </a:p>
        </p:txBody>
      </p:sp>
      <p:cxnSp>
        <p:nvCxnSpPr>
          <p:cNvPr id="29" name="Connector 28"/>
          <p:cNvCxnSpPr/>
          <p:nvPr/>
        </p:nvCxnSpPr>
        <p:spPr>
          <a:xfrm flipH="1">
            <a:off x="2331720" y="5596127"/>
            <a:ext cx="9144"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368296" y="4910327"/>
            <a:ext cx="1773936"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78024" y="5020055"/>
            <a:ext cx="1554480" cy="1188720"/>
          </a:xfrm>
          <a:prstGeom prst="rect">
            <a:avLst/>
          </a:prstGeom>
          <a:noFill/>
        </p:spPr>
        <p:txBody>
          <a:bodyPr wrap="square" anchor="t" lIns="0" rIns="0" tIns="0" bIns="0">
            <a:spAutoFit/>
          </a:bodyPr>
          <a:lstStyle/>
          <a:p>
            <a:pPr algn="l">
              <a:lnSpc>
                <a:spcPct val="100000"/>
              </a:lnSpc>
              <a:spcBef>
                <a:spcPts val="0"/>
              </a:spcBef>
              <a:spcAft>
                <a:spcPts val="300"/>
              </a:spcAft>
            </a:pPr>
            <a:r>
              <a:rPr sz="950" b="1" i="0">
                <a:solidFill>
                  <a:srgbClr val="00D4FF"/>
                </a:solidFill>
                <a:latin typeface="Segoe UI"/>
              </a:rPr>
              <a:t>Step 8</a:t>
            </a:r>
          </a:p>
          <a:p>
            <a:pPr algn="l">
              <a:lnSpc>
                <a:spcPct val="100000"/>
              </a:lnSpc>
              <a:spcBef>
                <a:spcPts val="0"/>
              </a:spcBef>
              <a:spcAft>
                <a:spcPts val="200"/>
              </a:spcAft>
            </a:pPr>
            <a:r>
              <a:rPr sz="1300" b="1" i="0">
                <a:solidFill>
                  <a:srgbClr val="FFFFFF"/>
                </a:solidFill>
                <a:latin typeface="Segoe UI"/>
              </a:rPr>
              <a:t>Stopwords</a:t>
            </a:r>
          </a:p>
          <a:p>
            <a:pPr algn="l">
              <a:lnSpc>
                <a:spcPct val="100000"/>
              </a:lnSpc>
              <a:spcBef>
                <a:spcPts val="0"/>
              </a:spcBef>
              <a:spcAft>
                <a:spcPts val="0"/>
              </a:spcAft>
            </a:pPr>
            <a:r>
              <a:rPr sz="1000" b="0" i="0">
                <a:solidFill>
                  <a:srgbClr val="9CA9D0"/>
                </a:solidFill>
                <a:latin typeface="Segoe UI"/>
              </a:rPr>
              <a:t>remove + 1-char</a:t>
            </a:r>
          </a:p>
        </p:txBody>
      </p:sp>
      <p:cxnSp>
        <p:nvCxnSpPr>
          <p:cNvPr id="32" name="Connector 31"/>
          <p:cNvCxnSpPr/>
          <p:nvPr/>
        </p:nvCxnSpPr>
        <p:spPr>
          <a:xfrm flipH="1">
            <a:off x="4151376" y="5596127"/>
            <a:ext cx="9144"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187952" y="4910327"/>
            <a:ext cx="1773936"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97680" y="5020055"/>
            <a:ext cx="1554480" cy="1188720"/>
          </a:xfrm>
          <a:prstGeom prst="rect">
            <a:avLst/>
          </a:prstGeom>
          <a:noFill/>
        </p:spPr>
        <p:txBody>
          <a:bodyPr wrap="square" anchor="t" lIns="0" rIns="0" tIns="0" bIns="0">
            <a:spAutoFit/>
          </a:bodyPr>
          <a:lstStyle/>
          <a:p>
            <a:pPr algn="l">
              <a:lnSpc>
                <a:spcPct val="100000"/>
              </a:lnSpc>
              <a:spcBef>
                <a:spcPts val="0"/>
              </a:spcBef>
              <a:spcAft>
                <a:spcPts val="300"/>
              </a:spcAft>
            </a:pPr>
            <a:r>
              <a:rPr sz="950" b="1" i="0">
                <a:solidFill>
                  <a:srgbClr val="00D4FF"/>
                </a:solidFill>
                <a:latin typeface="Segoe UI"/>
              </a:rPr>
              <a:t>Step 9</a:t>
            </a:r>
          </a:p>
          <a:p>
            <a:pPr algn="l">
              <a:lnSpc>
                <a:spcPct val="100000"/>
              </a:lnSpc>
              <a:spcBef>
                <a:spcPts val="0"/>
              </a:spcBef>
              <a:spcAft>
                <a:spcPts val="200"/>
              </a:spcAft>
            </a:pPr>
            <a:r>
              <a:rPr sz="1300" b="1" i="0">
                <a:solidFill>
                  <a:srgbClr val="FFFFFF"/>
                </a:solidFill>
                <a:latin typeface="Segoe UI"/>
              </a:rPr>
              <a:t>Lemmatize</a:t>
            </a:r>
          </a:p>
          <a:p>
            <a:pPr algn="l">
              <a:lnSpc>
                <a:spcPct val="100000"/>
              </a:lnSpc>
              <a:spcBef>
                <a:spcPts val="0"/>
              </a:spcBef>
              <a:spcAft>
                <a:spcPts val="0"/>
              </a:spcAft>
            </a:pPr>
            <a:r>
              <a:rPr sz="1000" b="0" i="0">
                <a:solidFill>
                  <a:srgbClr val="9CA9D0"/>
                </a:solidFill>
                <a:latin typeface="Segoe UI"/>
              </a:rPr>
              <a:t>WordNet</a:t>
            </a:r>
          </a:p>
        </p:txBody>
      </p:sp>
      <p:sp>
        <p:nvSpPr>
          <p:cNvPr id="35" name="Rounded Rectangle 34"/>
          <p:cNvSpPr/>
          <p:nvPr/>
        </p:nvSpPr>
        <p:spPr>
          <a:xfrm>
            <a:off x="548640" y="4892039"/>
            <a:ext cx="5440680" cy="141732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an 35"/>
          <p:cNvSpPr/>
          <p:nvPr/>
        </p:nvSpPr>
        <p:spPr>
          <a:xfrm>
            <a:off x="868680" y="5212079"/>
            <a:ext cx="493776" cy="548640"/>
          </a:xfrm>
          <a:prstGeom prst="can">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54480" y="4983479"/>
            <a:ext cx="4297680" cy="12801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0D4FF"/>
                </a:solidFill>
                <a:latin typeface="Segoe UI"/>
              </a:rPr>
              <a:t>Cleaned Text Output</a:t>
            </a:r>
          </a:p>
          <a:p>
            <a:pPr algn="l">
              <a:lnSpc>
                <a:spcPct val="120000"/>
              </a:lnSpc>
              <a:spcBef>
                <a:spcPts val="0"/>
              </a:spcBef>
              <a:spcAft>
                <a:spcPts val="0"/>
              </a:spcAft>
            </a:pPr>
            <a:r>
              <a:rPr sz="1100" b="0" i="0">
                <a:solidFill>
                  <a:srgbClr val="9CA9D0"/>
                </a:solidFill>
                <a:latin typeface="Segoe UI"/>
              </a:rPr>
              <a:t>Clean, token-joined text ready for TF-IDF vectorization — stored in cleaned_dataset.csv.</a:t>
            </a:r>
          </a:p>
        </p:txBody>
      </p:sp>
      <p:sp>
        <p:nvSpPr>
          <p:cNvPr id="38" name="Rounded Rectangle 37"/>
          <p:cNvSpPr/>
          <p:nvPr/>
        </p:nvSpPr>
        <p:spPr>
          <a:xfrm>
            <a:off x="6172200" y="4892039"/>
            <a:ext cx="5468112" cy="141732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ear 6 38"/>
          <p:cNvSpPr/>
          <p:nvPr/>
        </p:nvSpPr>
        <p:spPr>
          <a:xfrm>
            <a:off x="6510528" y="5212079"/>
            <a:ext cx="548640" cy="548640"/>
          </a:xfrm>
          <a:prstGeom prst="gear6">
            <a:avLst>
              <a:gd name="adj1" fmla="val 18000"/>
              <a:gd name="adj2" fmla="val 1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983479"/>
            <a:ext cx="4297680" cy="12801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10B981"/>
                </a:solidFill>
                <a:latin typeface="Segoe UI"/>
              </a:rPr>
              <a:t>Quality Controls</a:t>
            </a:r>
          </a:p>
          <a:p>
            <a:pPr algn="l" marL="183000" indent="-183000">
              <a:lnSpc>
                <a:spcPct val="100000"/>
              </a:lnSpc>
              <a:spcBef>
                <a:spcPts val="0"/>
              </a:spcBef>
              <a:spcAft>
                <a:spcPts val="300"/>
              </a:spcAft>
            </a:pPr>
            <a:r>
              <a:rPr sz="1100" b="1">
                <a:solidFill>
                  <a:srgbClr val="10B981"/>
                </a:solidFill>
                <a:latin typeface="Segoe UI"/>
              </a:rPr>
              <a:t>▪  </a:t>
            </a:r>
            <a:r>
              <a:rPr sz="1100" b="0" i="0">
                <a:solidFill>
                  <a:srgbClr val="9CA9D0"/>
                </a:solidFill>
                <a:latin typeface="Segoe UI"/>
              </a:rPr>
              <a:t>Truncate &gt; 50,000 chars · drop duplicates</a:t>
            </a:r>
          </a:p>
          <a:p>
            <a:pPr algn="l" marL="183000" indent="-183000">
              <a:lnSpc>
                <a:spcPct val="100000"/>
              </a:lnSpc>
              <a:spcBef>
                <a:spcPts val="0"/>
              </a:spcBef>
              <a:spcAft>
                <a:spcPts val="300"/>
              </a:spcAft>
            </a:pPr>
            <a:r>
              <a:rPr sz="1100" b="1">
                <a:solidFill>
                  <a:srgbClr val="10B981"/>
                </a:solidFill>
                <a:latin typeface="Segoe UI"/>
              </a:rPr>
              <a:t>▪  </a:t>
            </a:r>
            <a:r>
              <a:rPr sz="1100" b="0" i="0">
                <a:solidFill>
                  <a:srgbClr val="9CA9D0"/>
                </a:solidFill>
                <a:latin typeface="Segoe UI"/>
              </a:rPr>
              <a:t>Remove empty / &lt; 10-char texts · cache cleaned data</a:t>
            </a:r>
          </a:p>
        </p:txBody>
      </p:sp>
      <p:sp>
        <p:nvSpPr>
          <p:cNvPr id="41" name="TextBox 40"/>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42" name="TextBox 41"/>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10 · FEATURE ENGINEERING</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Feature Engineering</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One sparse matrix — lexical content + structural metadata</a:t>
            </a:r>
          </a:p>
        </p:txBody>
      </p:sp>
      <p:sp>
        <p:nvSpPr>
          <p:cNvPr id="11" name="Rounded Rectangle 10"/>
          <p:cNvSpPr/>
          <p:nvPr/>
        </p:nvSpPr>
        <p:spPr>
          <a:xfrm>
            <a:off x="548640" y="1874519"/>
            <a:ext cx="5212080" cy="26517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n 11"/>
          <p:cNvSpPr/>
          <p:nvPr/>
        </p:nvSpPr>
        <p:spPr>
          <a:xfrm>
            <a:off x="941832" y="2148839"/>
            <a:ext cx="493776" cy="548640"/>
          </a:xfrm>
          <a:prstGeom prst="can">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5920" y="2103119"/>
            <a:ext cx="4023360" cy="2286000"/>
          </a:xfrm>
          <a:prstGeom prst="rect">
            <a:avLst/>
          </a:prstGeom>
          <a:noFill/>
        </p:spPr>
        <p:txBody>
          <a:bodyPr wrap="square" anchor="t" lIns="0" rIns="0" tIns="0" bIns="0">
            <a:spAutoFit/>
          </a:bodyPr>
          <a:lstStyle/>
          <a:p>
            <a:pPr algn="l">
              <a:lnSpc>
                <a:spcPct val="100000"/>
              </a:lnSpc>
              <a:spcBef>
                <a:spcPts val="0"/>
              </a:spcBef>
              <a:spcAft>
                <a:spcPts val="500"/>
              </a:spcAft>
            </a:pPr>
            <a:r>
              <a:rPr sz="1500" b="1" i="0">
                <a:solidFill>
                  <a:srgbClr val="00D4FF"/>
                </a:solidFill>
                <a:latin typeface="Segoe UI"/>
              </a:rPr>
              <a:t>TF-IDF Features</a:t>
            </a:r>
          </a:p>
          <a:p>
            <a:pPr algn="l">
              <a:lnSpc>
                <a:spcPct val="100000"/>
              </a:lnSpc>
              <a:spcBef>
                <a:spcPts val="0"/>
              </a:spcBef>
              <a:spcAft>
                <a:spcPts val="200"/>
              </a:spcAft>
            </a:pPr>
            <a:r>
              <a:rPr sz="1250" b="0" i="0">
                <a:solidFill>
                  <a:srgbClr val="E2E8F0"/>
                </a:solidFill>
                <a:latin typeface="Segoe UI"/>
              </a:rPr>
              <a:t>10,000 top terms</a:t>
            </a:r>
          </a:p>
          <a:p>
            <a:pPr algn="l">
              <a:lnSpc>
                <a:spcPct val="120000"/>
              </a:lnSpc>
              <a:spcBef>
                <a:spcPts val="0"/>
              </a:spcBef>
              <a:spcAft>
                <a:spcPts val="800"/>
              </a:spcAft>
            </a:pPr>
            <a:r>
              <a:rPr sz="1100" b="0" i="0">
                <a:solidFill>
                  <a:srgbClr val="9CA9D0"/>
                </a:solidFill>
                <a:latin typeface="Segoe UI"/>
              </a:rPr>
              <a:t>Unigrams + bigrams, min_df=3, max_df=0.95, sublinear TF</a:t>
            </a:r>
          </a:p>
          <a:p>
            <a:pPr algn="l">
              <a:lnSpc>
                <a:spcPct val="120000"/>
              </a:lnSpc>
              <a:spcBef>
                <a:spcPts val="0"/>
              </a:spcBef>
              <a:spcAft>
                <a:spcPts val="0"/>
              </a:spcAft>
            </a:pPr>
            <a:r>
              <a:rPr sz="1100" b="0" i="0">
                <a:solidFill>
                  <a:srgbClr val="9CA9D0"/>
                </a:solidFill>
                <a:latin typeface="Segoe UI"/>
              </a:rPr>
              <a:t>Vocabulary + bigram phrases from cleaned text — captures phishing phrasing.</a:t>
            </a:r>
          </a:p>
        </p:txBody>
      </p:sp>
      <p:sp>
        <p:nvSpPr>
          <p:cNvPr id="14" name="Rounded Rectangle 13"/>
          <p:cNvSpPr/>
          <p:nvPr/>
        </p:nvSpPr>
        <p:spPr>
          <a:xfrm>
            <a:off x="6080760" y="1874519"/>
            <a:ext cx="5559552" cy="265176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ear 6 14"/>
          <p:cNvSpPr/>
          <p:nvPr/>
        </p:nvSpPr>
        <p:spPr>
          <a:xfrm>
            <a:off x="6446520" y="2148839"/>
            <a:ext cx="548640" cy="548640"/>
          </a:xfrm>
          <a:prstGeom prst="gear6">
            <a:avLst>
              <a:gd name="adj1" fmla="val 18000"/>
              <a:gd name="adj2" fmla="val 1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78040" y="2103119"/>
            <a:ext cx="4389120" cy="2286000"/>
          </a:xfrm>
          <a:prstGeom prst="rect">
            <a:avLst/>
          </a:prstGeom>
          <a:noFill/>
        </p:spPr>
        <p:txBody>
          <a:bodyPr wrap="square" anchor="t" lIns="0" rIns="0" tIns="0" bIns="0">
            <a:spAutoFit/>
          </a:bodyPr>
          <a:lstStyle/>
          <a:p>
            <a:pPr algn="l">
              <a:lnSpc>
                <a:spcPct val="100000"/>
              </a:lnSpc>
              <a:spcBef>
                <a:spcPts val="0"/>
              </a:spcBef>
              <a:spcAft>
                <a:spcPts val="500"/>
              </a:spcAft>
            </a:pPr>
            <a:r>
              <a:rPr sz="1500" b="1" i="0">
                <a:solidFill>
                  <a:srgbClr val="7C3AED"/>
                </a:solidFill>
                <a:latin typeface="Segoe UI"/>
              </a:rPr>
              <a:t>Metadata Features (15)</a:t>
            </a:r>
          </a:p>
          <a:p>
            <a:pPr algn="l">
              <a:lnSpc>
                <a:spcPct val="100000"/>
              </a:lnSpc>
              <a:spcBef>
                <a:spcPts val="0"/>
              </a:spcBef>
              <a:spcAft>
                <a:spcPts val="200"/>
              </a:spcAft>
            </a:pPr>
            <a:r>
              <a:rPr sz="1250" b="0" i="0">
                <a:solidFill>
                  <a:srgbClr val="E2E8F0"/>
                </a:solidFill>
                <a:latin typeface="Segoe UI"/>
              </a:rPr>
              <a:t>Extracted from RAW text &amp; subject</a:t>
            </a:r>
          </a:p>
          <a:p>
            <a:pPr algn="l">
              <a:lnSpc>
                <a:spcPct val="120000"/>
              </a:lnSpc>
              <a:spcBef>
                <a:spcPts val="0"/>
              </a:spcBef>
              <a:spcAft>
                <a:spcPts val="800"/>
              </a:spcAft>
            </a:pPr>
            <a:r>
              <a:rPr sz="1100" b="0" i="0">
                <a:solidFill>
                  <a:srgbClr val="9CA9D0"/>
                </a:solidFill>
                <a:latin typeface="Segoe UI"/>
              </a:rPr>
              <a:t>URL count · uppercase ratio · keyword score · subject stats · length &amp; punctuation cues</a:t>
            </a:r>
          </a:p>
          <a:p>
            <a:pPr algn="l">
              <a:lnSpc>
                <a:spcPct val="120000"/>
              </a:lnSpc>
              <a:spcBef>
                <a:spcPts val="0"/>
              </a:spcBef>
              <a:spcAft>
                <a:spcPts val="0"/>
              </a:spcAft>
            </a:pPr>
            <a:r>
              <a:rPr sz="1100" b="0" i="0">
                <a:solidFill>
                  <a:srgbClr val="9CA9D0"/>
                </a:solidFill>
                <a:latin typeface="Segoe UI"/>
              </a:rPr>
              <a:t>Standardized with StandardScaler so gradients stay stable.</a:t>
            </a:r>
          </a:p>
        </p:txBody>
      </p:sp>
      <p:sp>
        <p:nvSpPr>
          <p:cNvPr id="17" name="Chevron 16"/>
          <p:cNvSpPr/>
          <p:nvPr/>
        </p:nvSpPr>
        <p:spPr>
          <a:xfrm>
            <a:off x="5660136" y="2916935"/>
            <a:ext cx="566928" cy="566928"/>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68880" y="4846319"/>
            <a:ext cx="7315200" cy="1051560"/>
          </a:xfrm>
          <a:prstGeom prst="roundRect">
            <a:avLst>
              <a:gd name="adj" fmla="val 12000"/>
            </a:avLst>
          </a:prstGeom>
          <a:solidFill>
            <a:srgbClr val="1A1F3A"/>
          </a:solidFill>
          <a:ln w="15875">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8880" y="4846319"/>
            <a:ext cx="7315200" cy="1051560"/>
          </a:xfrm>
          <a:prstGeom prst="rect">
            <a:avLst/>
          </a:prstGeom>
          <a:noFill/>
        </p:spPr>
        <p:txBody>
          <a:bodyPr wrap="square" anchor="ctr" lIns="0" rIns="0" tIns="0" bIns="0">
            <a:spAutoFit/>
          </a:bodyPr>
          <a:lstStyle/>
          <a:p>
            <a:pPr algn="ctr">
              <a:lnSpc>
                <a:spcPct val="100000"/>
              </a:lnSpc>
              <a:spcBef>
                <a:spcPts val="0"/>
              </a:spcBef>
              <a:spcAft>
                <a:spcPts val="0"/>
              </a:spcAft>
            </a:pPr>
            <a:r>
              <a:rPr sz="1700" b="1" i="0">
                <a:solidFill>
                  <a:srgbClr val="FFFFFF"/>
                </a:solidFill>
                <a:latin typeface="Segoe UI"/>
              </a:rPr>
              <a:t>hstack  →  Combined Sparse Matrix</a:t>
            </a:r>
          </a:p>
          <a:p>
            <a:pPr algn="ctr">
              <a:lnSpc>
                <a:spcPct val="100000"/>
              </a:lnSpc>
              <a:spcBef>
                <a:spcPts val="0"/>
              </a:spcBef>
              <a:spcAft>
                <a:spcPts val="0"/>
              </a:spcAft>
            </a:pPr>
            <a:r>
              <a:rPr sz="1250" b="0" i="0">
                <a:solidFill>
                  <a:srgbClr val="00D4FF"/>
                </a:solidFill>
                <a:latin typeface="Segoe UI"/>
              </a:rPr>
              <a:t>10,000 TF-IDF  +  15 scaled metadata  =  10,015 features</a:t>
            </a:r>
          </a:p>
        </p:txBody>
      </p:sp>
      <p:sp>
        <p:nvSpPr>
          <p:cNvPr id="20" name="Rounded Rectangle 19"/>
          <p:cNvSpPr/>
          <p:nvPr/>
        </p:nvSpPr>
        <p:spPr>
          <a:xfrm>
            <a:off x="548640" y="6190487"/>
            <a:ext cx="11091672" cy="457200"/>
          </a:xfrm>
          <a:prstGeom prst="roundRect">
            <a:avLst>
              <a:gd name="adj" fmla="val 50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190487"/>
            <a:ext cx="10698480" cy="457200"/>
          </a:xfrm>
          <a:prstGeom prst="rect">
            <a:avLst/>
          </a:prstGeom>
          <a:noFill/>
        </p:spPr>
        <p:txBody>
          <a:bodyPr wrap="square" anchor="ctr" lIns="0" rIns="0" tIns="0" bIns="0">
            <a:spAutoFit/>
          </a:bodyPr>
          <a:lstStyle/>
          <a:p>
            <a:pPr algn="ctr">
              <a:lnSpc>
                <a:spcPct val="100000"/>
              </a:lnSpc>
              <a:spcBef>
                <a:spcPts val="0"/>
              </a:spcBef>
              <a:spcAft>
                <a:spcPts val="0"/>
              </a:spcAft>
            </a:pPr>
            <a:r>
              <a:rPr sz="1150" b="0" i="0">
                <a:solidFill>
                  <a:srgbClr val="F59E0B"/>
                </a:solidFill>
                <a:latin typeface="Segoe UI"/>
              </a:rPr>
              <a:t>Fit on training data only — no data leakage · same transforms reused at test &amp; inference</a:t>
            </a:r>
          </a:p>
        </p:txBody>
      </p:sp>
      <p:sp>
        <p:nvSpPr>
          <p:cNvPr id="22" name="TextBox 21"/>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23" name="TextBox 22"/>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11 · TF-IDF VECTORIZATION</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TF-IDF Vectorization</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1874519"/>
            <a:ext cx="5120640" cy="429768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103119"/>
            <a:ext cx="4572000" cy="3931920"/>
          </a:xfrm>
          <a:prstGeom prst="rect">
            <a:avLst/>
          </a:prstGeom>
          <a:noFill/>
        </p:spPr>
        <p:txBody>
          <a:bodyPr wrap="square" anchor="t" lIns="0" rIns="0" tIns="0" bIns="0">
            <a:spAutoFit/>
          </a:bodyPr>
          <a:lstStyle/>
          <a:p>
            <a:pPr algn="l">
              <a:lnSpc>
                <a:spcPct val="100000"/>
              </a:lnSpc>
              <a:spcBef>
                <a:spcPts val="0"/>
              </a:spcBef>
              <a:spcAft>
                <a:spcPts val="800"/>
              </a:spcAft>
            </a:pPr>
            <a:r>
              <a:rPr sz="1400" b="1" i="0">
                <a:solidFill>
                  <a:srgbClr val="00D4FF"/>
                </a:solidFill>
                <a:latin typeface="Segoe UI"/>
              </a:rPr>
              <a:t>Concept</a:t>
            </a:r>
          </a:p>
          <a:p>
            <a:pPr algn="ctr">
              <a:lnSpc>
                <a:spcPct val="100000"/>
              </a:lnSpc>
              <a:spcBef>
                <a:spcPts val="0"/>
              </a:spcBef>
              <a:spcAft>
                <a:spcPts val="400"/>
              </a:spcAft>
            </a:pPr>
            <a:r>
              <a:rPr sz="1500" b="1" i="0">
                <a:solidFill>
                  <a:srgbClr val="FFFFFF"/>
                </a:solidFill>
                <a:latin typeface="Segoe UI"/>
              </a:rPr>
              <a:t>tf-idf(t, d) = tf(t, d) × idf(t)</a:t>
            </a:r>
          </a:p>
          <a:p>
            <a:pPr algn="ctr">
              <a:lnSpc>
                <a:spcPct val="100000"/>
              </a:lnSpc>
              <a:spcBef>
                <a:spcPts val="0"/>
              </a:spcBef>
              <a:spcAft>
                <a:spcPts val="1000"/>
              </a:spcAft>
            </a:pPr>
            <a:r>
              <a:rPr sz="1500" b="1" i="0">
                <a:solidFill>
                  <a:srgbClr val="FFFFFF"/>
                </a:solidFill>
                <a:latin typeface="Segoe UI"/>
              </a:rPr>
              <a:t>idf(t) = log( N / df(t) )</a:t>
            </a:r>
          </a:p>
          <a:p>
            <a:pPr algn="l">
              <a:lnSpc>
                <a:spcPct val="125000"/>
              </a:lnSpc>
              <a:spcBef>
                <a:spcPts val="0"/>
              </a:spcBef>
              <a:spcAft>
                <a:spcPts val="1000"/>
              </a:spcAft>
            </a:pPr>
            <a:r>
              <a:rPr sz="1200" b="0" i="0">
                <a:solidFill>
                  <a:srgbClr val="9CA9D0"/>
                </a:solidFill>
                <a:latin typeface="Segoe UI"/>
              </a:rPr>
              <a:t>Weights each term by how often it appears in a document, down-weighting terms common across the corpus — so distinctive phishing phrases earn high weights.</a:t>
            </a:r>
          </a:p>
          <a:p>
            <a:pPr algn="l">
              <a:lnSpc>
                <a:spcPct val="125000"/>
              </a:lnSpc>
              <a:spcBef>
                <a:spcPts val="0"/>
              </a:spcBef>
              <a:spcAft>
                <a:spcPts val="1000"/>
              </a:spcAft>
            </a:pPr>
            <a:r>
              <a:rPr sz="1200" b="0" i="0">
                <a:solidFill>
                  <a:srgbClr val="9CA9D0"/>
                </a:solidFill>
                <a:latin typeface="Segoe UI"/>
              </a:rPr>
              <a:t>Terms that occur in almost every email (e.g. ‘the’, ‘and’) get near-zero weight; rare, telling terms carry the signal.</a:t>
            </a:r>
          </a:p>
          <a:p>
            <a:pPr algn="l">
              <a:lnSpc>
                <a:spcPct val="125000"/>
              </a:lnSpc>
              <a:spcBef>
                <a:spcPts val="0"/>
              </a:spcBef>
              <a:spcAft>
                <a:spcPts val="0"/>
              </a:spcAft>
            </a:pPr>
            <a:r>
              <a:rPr sz="1200" b="0" i="0">
                <a:solidFill>
                  <a:srgbClr val="9CA9D0"/>
                </a:solidFill>
                <a:latin typeface="Segoe UI"/>
              </a:rPr>
              <a:t>Sparse CSR matrix — memory-efficient at 127K × 10K dimensions.</a:t>
            </a:r>
          </a:p>
        </p:txBody>
      </p:sp>
      <p:graphicFrame>
        <p:nvGraphicFramePr>
          <p:cNvPr id="12" name="Table 11"/>
          <p:cNvGraphicFramePr>
            <a:graphicFrameLocks noGrp="1"/>
          </p:cNvGraphicFramePr>
          <p:nvPr/>
        </p:nvGraphicFramePr>
        <p:xfrm>
          <a:off x="5989320" y="1874519"/>
          <a:ext cx="5650991" cy="3017518"/>
        </p:xfrm>
        <a:graphic>
          <a:graphicData uri="http://schemas.openxmlformats.org/drawingml/2006/table">
            <a:tbl>
              <a:tblPr>
                <a:tableStyleId>{5C22544A-7EE6-4342-B048-85BDC9FD1C3A}</a:tableStyleId>
              </a:tblPr>
              <a:tblGrid>
                <a:gridCol w="2511551"/>
                <a:gridCol w="3139440"/>
              </a:tblGrid>
              <a:tr h="431074">
                <a:tc>
                  <a:txBody>
                    <a:bodyPr wrap="square"/>
                    <a:lstStyle/>
                    <a:p>
                      <a:pPr algn="ctr"/>
                      <a:r>
                        <a:rPr sz="1200" b="1">
                          <a:solidFill>
                            <a:srgbClr val="FFFFFF"/>
                          </a:solidFill>
                          <a:latin typeface="Segoe UI"/>
                        </a:rPr>
                        <a:t>Parameter</a:t>
                      </a:r>
                    </a:p>
                  </a:txBody>
                  <a:tcPr anchor="ctr" marL="76200" marR="76200" marT="25400" marB="25400">
                    <a:solidFill>
                      <a:srgbClr val="00D4FF"/>
                    </a:solidFill>
                  </a:tcPr>
                </a:tc>
                <a:tc>
                  <a:txBody>
                    <a:bodyPr wrap="square"/>
                    <a:lstStyle/>
                    <a:p>
                      <a:pPr algn="ctr"/>
                      <a:r>
                        <a:rPr sz="1200" b="1">
                          <a:solidFill>
                            <a:srgbClr val="FFFFFF"/>
                          </a:solidFill>
                          <a:latin typeface="Segoe UI"/>
                        </a:rPr>
                        <a:t>Value</a:t>
                      </a:r>
                    </a:p>
                  </a:txBody>
                  <a:tcPr anchor="ctr" marL="76200" marR="76200" marT="25400" marB="25400">
                    <a:solidFill>
                      <a:srgbClr val="00D4FF"/>
                    </a:solidFill>
                  </a:tcPr>
                </a:tc>
              </a:tr>
              <a:tr h="431074">
                <a:tc>
                  <a:txBody>
                    <a:bodyPr wrap="square"/>
                    <a:lstStyle/>
                    <a:p>
                      <a:pPr algn="l"/>
                      <a:r>
                        <a:rPr sz="1200">
                          <a:solidFill>
                            <a:srgbClr val="E2E8F0"/>
                          </a:solidFill>
                          <a:latin typeface="Segoe UI"/>
                        </a:rPr>
                        <a:t>max_features</a:t>
                      </a:r>
                    </a:p>
                  </a:txBody>
                  <a:tcPr anchor="ctr" marL="76200" marR="76200" marT="25400" marB="25400">
                    <a:solidFill>
                      <a:srgbClr val="1A1F3A"/>
                    </a:solidFill>
                  </a:tcPr>
                </a:tc>
                <a:tc>
                  <a:txBody>
                    <a:bodyPr wrap="square"/>
                    <a:lstStyle/>
                    <a:p>
                      <a:pPr algn="ctr"/>
                      <a:r>
                        <a:rPr sz="1200">
                          <a:solidFill>
                            <a:srgbClr val="E2E8F0"/>
                          </a:solidFill>
                          <a:latin typeface="Segoe UI"/>
                        </a:rPr>
                        <a:t>10,000</a:t>
                      </a:r>
                    </a:p>
                  </a:txBody>
                  <a:tcPr anchor="ctr" marL="76200" marR="76200" marT="25400" marB="25400">
                    <a:solidFill>
                      <a:srgbClr val="1A1F3A"/>
                    </a:solidFill>
                  </a:tcPr>
                </a:tc>
              </a:tr>
              <a:tr h="431074">
                <a:tc>
                  <a:txBody>
                    <a:bodyPr wrap="square"/>
                    <a:lstStyle/>
                    <a:p>
                      <a:pPr algn="l"/>
                      <a:r>
                        <a:rPr sz="1200">
                          <a:solidFill>
                            <a:srgbClr val="E2E8F0"/>
                          </a:solidFill>
                          <a:latin typeface="Segoe UI"/>
                        </a:rPr>
                        <a:t>ngram_range</a:t>
                      </a:r>
                    </a:p>
                  </a:txBody>
                  <a:tcPr anchor="ctr" marL="76200" marR="76200" marT="25400" marB="25400">
                    <a:solidFill>
                      <a:srgbClr val="151A38"/>
                    </a:solidFill>
                  </a:tcPr>
                </a:tc>
                <a:tc>
                  <a:txBody>
                    <a:bodyPr wrap="square"/>
                    <a:lstStyle/>
                    <a:p>
                      <a:pPr algn="ctr"/>
                      <a:r>
                        <a:rPr sz="1200">
                          <a:solidFill>
                            <a:srgbClr val="E2E8F0"/>
                          </a:solidFill>
                          <a:latin typeface="Segoe UI"/>
                        </a:rPr>
                        <a:t>(1, 2) — unigrams + bigrams</a:t>
                      </a:r>
                    </a:p>
                  </a:txBody>
                  <a:tcPr anchor="ctr" marL="76200" marR="76200" marT="25400" marB="25400">
                    <a:solidFill>
                      <a:srgbClr val="151A38"/>
                    </a:solidFill>
                  </a:tcPr>
                </a:tc>
              </a:tr>
              <a:tr h="431074">
                <a:tc>
                  <a:txBody>
                    <a:bodyPr wrap="square"/>
                    <a:lstStyle/>
                    <a:p>
                      <a:pPr algn="l"/>
                      <a:r>
                        <a:rPr sz="1200">
                          <a:solidFill>
                            <a:srgbClr val="E2E8F0"/>
                          </a:solidFill>
                          <a:latin typeface="Segoe UI"/>
                        </a:rPr>
                        <a:t>min_df</a:t>
                      </a:r>
                    </a:p>
                  </a:txBody>
                  <a:tcPr anchor="ctr" marL="76200" marR="76200" marT="25400" marB="25400">
                    <a:solidFill>
                      <a:srgbClr val="1A1F3A"/>
                    </a:solidFill>
                  </a:tcPr>
                </a:tc>
                <a:tc>
                  <a:txBody>
                    <a:bodyPr wrap="square"/>
                    <a:lstStyle/>
                    <a:p>
                      <a:pPr algn="ctr"/>
                      <a:r>
                        <a:rPr sz="1200">
                          <a:solidFill>
                            <a:srgbClr val="E2E8F0"/>
                          </a:solidFill>
                          <a:latin typeface="Segoe UI"/>
                        </a:rPr>
                        <a:t>3 documents</a:t>
                      </a:r>
                    </a:p>
                  </a:txBody>
                  <a:tcPr anchor="ctr" marL="76200" marR="76200" marT="25400" marB="25400">
                    <a:solidFill>
                      <a:srgbClr val="1A1F3A"/>
                    </a:solidFill>
                  </a:tcPr>
                </a:tc>
              </a:tr>
              <a:tr h="431074">
                <a:tc>
                  <a:txBody>
                    <a:bodyPr wrap="square"/>
                    <a:lstStyle/>
                    <a:p>
                      <a:pPr algn="l"/>
                      <a:r>
                        <a:rPr sz="1200">
                          <a:solidFill>
                            <a:srgbClr val="E2E8F0"/>
                          </a:solidFill>
                          <a:latin typeface="Segoe UI"/>
                        </a:rPr>
                        <a:t>max_df</a:t>
                      </a:r>
                    </a:p>
                  </a:txBody>
                  <a:tcPr anchor="ctr" marL="76200" marR="76200" marT="25400" marB="25400">
                    <a:solidFill>
                      <a:srgbClr val="151A38"/>
                    </a:solidFill>
                  </a:tcPr>
                </a:tc>
                <a:tc>
                  <a:txBody>
                    <a:bodyPr wrap="square"/>
                    <a:lstStyle/>
                    <a:p>
                      <a:pPr algn="ctr"/>
                      <a:r>
                        <a:rPr sz="1200">
                          <a:solidFill>
                            <a:srgbClr val="E2E8F0"/>
                          </a:solidFill>
                          <a:latin typeface="Segoe UI"/>
                        </a:rPr>
                        <a:t>0.95 (95%)</a:t>
                      </a:r>
                    </a:p>
                  </a:txBody>
                  <a:tcPr anchor="ctr" marL="76200" marR="76200" marT="25400" marB="25400">
                    <a:solidFill>
                      <a:srgbClr val="151A38"/>
                    </a:solidFill>
                  </a:tcPr>
                </a:tc>
              </a:tr>
              <a:tr h="431074">
                <a:tc>
                  <a:txBody>
                    <a:bodyPr wrap="square"/>
                    <a:lstStyle/>
                    <a:p>
                      <a:pPr algn="l"/>
                      <a:r>
                        <a:rPr sz="1200">
                          <a:solidFill>
                            <a:srgbClr val="E2E8F0"/>
                          </a:solidFill>
                          <a:latin typeface="Segoe UI"/>
                        </a:rPr>
                        <a:t>sublinear_tf</a:t>
                      </a:r>
                    </a:p>
                  </a:txBody>
                  <a:tcPr anchor="ctr" marL="76200" marR="76200" marT="25400" marB="25400">
                    <a:solidFill>
                      <a:srgbClr val="1A1F3A"/>
                    </a:solidFill>
                  </a:tcPr>
                </a:tc>
                <a:tc>
                  <a:txBody>
                    <a:bodyPr wrap="square"/>
                    <a:lstStyle/>
                    <a:p>
                      <a:pPr algn="ctr"/>
                      <a:r>
                        <a:rPr sz="1200">
                          <a:solidFill>
                            <a:srgbClr val="E2E8F0"/>
                          </a:solidFill>
                          <a:latin typeface="Segoe UI"/>
                        </a:rPr>
                        <a:t>1 + log(tf)</a:t>
                      </a:r>
                    </a:p>
                  </a:txBody>
                  <a:tcPr anchor="ctr" marL="76200" marR="76200" marT="25400" marB="25400">
                    <a:solidFill>
                      <a:srgbClr val="1A1F3A"/>
                    </a:solidFill>
                  </a:tcPr>
                </a:tc>
              </a:tr>
              <a:tr h="431074">
                <a:tc>
                  <a:txBody>
                    <a:bodyPr wrap="square"/>
                    <a:lstStyle/>
                    <a:p>
                      <a:pPr algn="l"/>
                      <a:r>
                        <a:rPr sz="1200">
                          <a:solidFill>
                            <a:srgbClr val="E2E8F0"/>
                          </a:solidFill>
                          <a:latin typeface="Segoe UI"/>
                        </a:rPr>
                        <a:t>strip_accents</a:t>
                      </a:r>
                    </a:p>
                  </a:txBody>
                  <a:tcPr anchor="ctr" marL="76200" marR="76200" marT="25400" marB="25400">
                    <a:solidFill>
                      <a:srgbClr val="151A38"/>
                    </a:solidFill>
                  </a:tcPr>
                </a:tc>
                <a:tc>
                  <a:txBody>
                    <a:bodyPr wrap="square"/>
                    <a:lstStyle/>
                    <a:p>
                      <a:pPr algn="ctr"/>
                      <a:r>
                        <a:rPr sz="1200">
                          <a:solidFill>
                            <a:srgbClr val="E2E8F0"/>
                          </a:solidFill>
                          <a:latin typeface="Segoe UI"/>
                        </a:rPr>
                        <a:t>unicode</a:t>
                      </a:r>
                    </a:p>
                  </a:txBody>
                  <a:tcPr anchor="ctr" marL="76200" marR="76200" marT="25400" marB="25400">
                    <a:solidFill>
                      <a:srgbClr val="151A38"/>
                    </a:solidFill>
                  </a:tcPr>
                </a:tc>
              </a:tr>
            </a:tbl>
          </a:graphicData>
        </a:graphic>
      </p:graphicFrame>
      <p:sp>
        <p:nvSpPr>
          <p:cNvPr id="13" name="Rounded Rectangle 12"/>
          <p:cNvSpPr/>
          <p:nvPr/>
        </p:nvSpPr>
        <p:spPr>
          <a:xfrm>
            <a:off x="5989320" y="5120639"/>
            <a:ext cx="5650992" cy="1051560"/>
          </a:xfrm>
          <a:prstGeom prst="roundRect">
            <a:avLst>
              <a:gd name="adj" fmla="val 10000"/>
            </a:avLst>
          </a:prstGeom>
          <a:solidFill>
            <a:srgbClr val="1A1F3A"/>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n 13"/>
          <p:cNvSpPr/>
          <p:nvPr/>
        </p:nvSpPr>
        <p:spPr>
          <a:xfrm>
            <a:off x="6311646" y="5262371"/>
            <a:ext cx="452628" cy="502920"/>
          </a:xfrm>
          <a:prstGeom prst="ca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0" y="5212079"/>
            <a:ext cx="4572000" cy="914400"/>
          </a:xfrm>
          <a:prstGeom prst="rect">
            <a:avLst/>
          </a:prstGeom>
          <a:noFill/>
        </p:spPr>
        <p:txBody>
          <a:bodyPr wrap="square" anchor="t" lIns="0" rIns="0" tIns="0" bIns="0">
            <a:spAutoFit/>
          </a:bodyPr>
          <a:lstStyle/>
          <a:p>
            <a:pPr algn="l">
              <a:lnSpc>
                <a:spcPct val="100000"/>
              </a:lnSpc>
              <a:spcBef>
                <a:spcPts val="0"/>
              </a:spcBef>
              <a:spcAft>
                <a:spcPts val="300"/>
              </a:spcAft>
            </a:pPr>
            <a:r>
              <a:rPr sz="1300" b="1" i="0">
                <a:solidFill>
                  <a:srgbClr val="10B981"/>
                </a:solidFill>
                <a:latin typeface="Segoe UI"/>
              </a:rPr>
              <a:t>10,000-term vocabulary</a:t>
            </a:r>
          </a:p>
          <a:p>
            <a:pPr algn="l">
              <a:lnSpc>
                <a:spcPct val="115000"/>
              </a:lnSpc>
              <a:spcBef>
                <a:spcPts val="0"/>
              </a:spcBef>
              <a:spcAft>
                <a:spcPts val="0"/>
              </a:spcAft>
            </a:pPr>
            <a:r>
              <a:rPr sz="1100" b="0" i="0">
                <a:solidFill>
                  <a:srgbClr val="9CA9D0"/>
                </a:solidFill>
                <a:latin typeface="Segoe UI"/>
              </a:rPr>
              <a:t>Unigrams + bigrams → phrases like ‘click here’ are captured as tokens.</a:t>
            </a:r>
          </a:p>
        </p:txBody>
      </p:sp>
      <p:sp>
        <p:nvSpPr>
          <p:cNvPr id="16" name="TextBox 15"/>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17" name="TextBox 16"/>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12 · METADATA FEATURES</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15 Engineered Metadata Features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Structural &amp; social-engineering signals extracted from the raw email</a:t>
            </a:r>
          </a:p>
        </p:txBody>
      </p:sp>
      <p:sp>
        <p:nvSpPr>
          <p:cNvPr id="11" name="Rounded Rectangle 10"/>
          <p:cNvSpPr/>
          <p:nvPr/>
        </p:nvSpPr>
        <p:spPr>
          <a:xfrm>
            <a:off x="548640" y="1874519"/>
            <a:ext cx="11091672" cy="118872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020823"/>
            <a:ext cx="2743200" cy="9144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F59E0B"/>
                </a:solidFill>
                <a:latin typeface="Segoe UI"/>
              </a:rPr>
              <a:t>Why metadata?</a:t>
            </a:r>
          </a:p>
          <a:p>
            <a:pPr algn="l">
              <a:lnSpc>
                <a:spcPct val="115000"/>
              </a:lnSpc>
              <a:spcBef>
                <a:spcPts val="0"/>
              </a:spcBef>
              <a:spcAft>
                <a:spcPts val="0"/>
              </a:spcAft>
            </a:pPr>
            <a:r>
              <a:rPr sz="1050" b="0" i="0">
                <a:solidFill>
                  <a:srgbClr val="9CA9D0"/>
                </a:solidFill>
                <a:latin typeface="Segoe UI"/>
              </a:rPr>
              <a:t>Computed from the ORIGINAL text, before cleaning, so these cues survive.</a:t>
            </a:r>
          </a:p>
        </p:txBody>
      </p:sp>
      <p:sp>
        <p:nvSpPr>
          <p:cNvPr id="13" name="TextBox 12"/>
          <p:cNvSpPr txBox="1"/>
          <p:nvPr/>
        </p:nvSpPr>
        <p:spPr>
          <a:xfrm>
            <a:off x="3749040" y="2020823"/>
            <a:ext cx="7635240" cy="914400"/>
          </a:xfrm>
          <a:prstGeom prst="rect">
            <a:avLst/>
          </a:prstGeom>
          <a:noFill/>
        </p:spPr>
        <p:txBody>
          <a:bodyPr wrap="square" anchor="ctr" lIns="0" rIns="0" tIns="0" bIns="0">
            <a:spAutoFit/>
          </a:bodyPr>
          <a:lstStyle/>
          <a:p/>
          <a:p>
            <a:pPr algn="l">
              <a:lnSpc>
                <a:spcPct val="125000"/>
              </a:lnSpc>
              <a:spcBef>
                <a:spcPts val="0"/>
              </a:spcBef>
              <a:spcAft>
                <a:spcPts val="0"/>
              </a:spcAft>
            </a:pPr>
            <a:r>
              <a:rPr sz="1150" b="0" i="0">
                <a:solidFill>
                  <a:srgbClr val="E2E8F0"/>
                </a:solidFill>
                <a:latin typeface="Segoe UI"/>
              </a:rPr>
              <a:t>Cleaning removes exactly the signals phishing emails use most — URLs, ALL-CAPS, punctuation bursts and urgent keywords. Metadata restores them alongside TF-IDF, making the models harder to fool by rephrasing.</a:t>
            </a:r>
          </a:p>
        </p:txBody>
      </p:sp>
      <p:sp>
        <p:nvSpPr>
          <p:cNvPr id="14" name="Rounded Rectangle 13"/>
          <p:cNvSpPr/>
          <p:nvPr/>
        </p:nvSpPr>
        <p:spPr>
          <a:xfrm>
            <a:off x="548640" y="3227831"/>
            <a:ext cx="2148840" cy="306324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410711"/>
            <a:ext cx="1819656" cy="2743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D4FF"/>
                </a:solidFill>
                <a:latin typeface="Segoe UI"/>
              </a:rPr>
              <a:t>Length &amp; Content</a:t>
            </a:r>
          </a:p>
          <a:p>
            <a:pPr algn="l" marL="183000" indent="-183000">
              <a:lnSpc>
                <a:spcPct val="100000"/>
              </a:lnSpc>
              <a:spcBef>
                <a:spcPts val="0"/>
              </a:spcBef>
              <a:spcAft>
                <a:spcPts val="300"/>
              </a:spcAft>
            </a:pPr>
            <a:r>
              <a:rPr sz="1000" b="1">
                <a:solidFill>
                  <a:srgbClr val="00D4FF"/>
                </a:solidFill>
                <a:latin typeface="Segoe UI"/>
              </a:rPr>
              <a:t>▪  </a:t>
            </a:r>
            <a:r>
              <a:rPr sz="1000" b="0" i="0">
                <a:solidFill>
                  <a:srgbClr val="E2E8F0"/>
                </a:solidFill>
                <a:latin typeface="Segoe UI"/>
              </a:rPr>
              <a:t>email_length</a:t>
            </a:r>
          </a:p>
          <a:p>
            <a:pPr algn="l" marL="183000" indent="-183000">
              <a:lnSpc>
                <a:spcPct val="100000"/>
              </a:lnSpc>
              <a:spcBef>
                <a:spcPts val="0"/>
              </a:spcBef>
              <a:spcAft>
                <a:spcPts val="300"/>
              </a:spcAft>
            </a:pPr>
            <a:r>
              <a:rPr sz="1000" b="1">
                <a:solidFill>
                  <a:srgbClr val="00D4FF"/>
                </a:solidFill>
                <a:latin typeface="Segoe UI"/>
              </a:rPr>
              <a:t>▪  </a:t>
            </a:r>
            <a:r>
              <a:rPr sz="1000" b="0" i="0">
                <a:solidFill>
                  <a:srgbClr val="E2E8F0"/>
                </a:solidFill>
                <a:latin typeface="Segoe UI"/>
              </a:rPr>
              <a:t>word_count</a:t>
            </a:r>
          </a:p>
          <a:p>
            <a:pPr algn="l" marL="183000" indent="-183000">
              <a:lnSpc>
                <a:spcPct val="100000"/>
              </a:lnSpc>
              <a:spcBef>
                <a:spcPts val="0"/>
              </a:spcBef>
              <a:spcAft>
                <a:spcPts val="300"/>
              </a:spcAft>
            </a:pPr>
            <a:r>
              <a:rPr sz="1000" b="1">
                <a:solidFill>
                  <a:srgbClr val="00D4FF"/>
                </a:solidFill>
                <a:latin typeface="Segoe UI"/>
              </a:rPr>
              <a:t>▪  </a:t>
            </a:r>
            <a:r>
              <a:rPr sz="1000" b="0" i="0">
                <a:solidFill>
                  <a:srgbClr val="E2E8F0"/>
                </a:solidFill>
                <a:latin typeface="Segoe UI"/>
              </a:rPr>
              <a:t>char_count</a:t>
            </a:r>
          </a:p>
          <a:p>
            <a:pPr algn="l" marL="183000" indent="-183000">
              <a:lnSpc>
                <a:spcPct val="100000"/>
              </a:lnSpc>
              <a:spcBef>
                <a:spcPts val="0"/>
              </a:spcBef>
              <a:spcAft>
                <a:spcPts val="300"/>
              </a:spcAft>
            </a:pPr>
            <a:r>
              <a:rPr sz="1000" b="1">
                <a:solidFill>
                  <a:srgbClr val="00D4FF"/>
                </a:solidFill>
                <a:latin typeface="Segoe UI"/>
              </a:rPr>
              <a:t>▪  </a:t>
            </a:r>
            <a:r>
              <a:rPr sz="1000" b="0" i="0">
                <a:solidFill>
                  <a:srgbClr val="E2E8F0"/>
                </a:solidFill>
                <a:latin typeface="Segoe UI"/>
              </a:rPr>
              <a:t>avg_word_length</a:t>
            </a:r>
          </a:p>
        </p:txBody>
      </p:sp>
      <p:sp>
        <p:nvSpPr>
          <p:cNvPr id="16" name="Rounded Rectangle 15"/>
          <p:cNvSpPr/>
          <p:nvPr/>
        </p:nvSpPr>
        <p:spPr>
          <a:xfrm>
            <a:off x="2825496" y="3227831"/>
            <a:ext cx="2148840" cy="306324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90088" y="3410711"/>
            <a:ext cx="1819656" cy="2743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3B82F6"/>
                </a:solidFill>
                <a:latin typeface="Segoe UI"/>
              </a:rPr>
              <a:t>Structural Markers</a:t>
            </a:r>
          </a:p>
          <a:p>
            <a:pPr algn="l" marL="183000" indent="-183000">
              <a:lnSpc>
                <a:spcPct val="100000"/>
              </a:lnSpc>
              <a:spcBef>
                <a:spcPts val="0"/>
              </a:spcBef>
              <a:spcAft>
                <a:spcPts val="300"/>
              </a:spcAft>
            </a:pPr>
            <a:r>
              <a:rPr sz="1000" b="1">
                <a:solidFill>
                  <a:srgbClr val="3B82F6"/>
                </a:solidFill>
                <a:latin typeface="Segoe UI"/>
              </a:rPr>
              <a:t>▪  </a:t>
            </a:r>
            <a:r>
              <a:rPr sz="1000" b="0" i="0">
                <a:solidFill>
                  <a:srgbClr val="E2E8F0"/>
                </a:solidFill>
                <a:latin typeface="Segoe UI"/>
              </a:rPr>
              <a:t>url_count</a:t>
            </a:r>
          </a:p>
          <a:p>
            <a:pPr algn="l" marL="183000" indent="-183000">
              <a:lnSpc>
                <a:spcPct val="100000"/>
              </a:lnSpc>
              <a:spcBef>
                <a:spcPts val="0"/>
              </a:spcBef>
              <a:spcAft>
                <a:spcPts val="300"/>
              </a:spcAft>
            </a:pPr>
            <a:r>
              <a:rPr sz="1000" b="1">
                <a:solidFill>
                  <a:srgbClr val="3B82F6"/>
                </a:solidFill>
                <a:latin typeface="Segoe UI"/>
              </a:rPr>
              <a:t>▪  </a:t>
            </a:r>
            <a:r>
              <a:rPr sz="1000" b="0" i="0">
                <a:solidFill>
                  <a:srgbClr val="E2E8F0"/>
                </a:solidFill>
                <a:latin typeface="Segoe UI"/>
              </a:rPr>
              <a:t>digit_count</a:t>
            </a:r>
          </a:p>
          <a:p>
            <a:pPr algn="l" marL="183000" indent="-183000">
              <a:lnSpc>
                <a:spcPct val="100000"/>
              </a:lnSpc>
              <a:spcBef>
                <a:spcPts val="0"/>
              </a:spcBef>
              <a:spcAft>
                <a:spcPts val="300"/>
              </a:spcAft>
            </a:pPr>
            <a:r>
              <a:rPr sz="1000" b="1">
                <a:solidFill>
                  <a:srgbClr val="3B82F6"/>
                </a:solidFill>
                <a:latin typeface="Segoe UI"/>
              </a:rPr>
              <a:t>▪  </a:t>
            </a:r>
            <a:r>
              <a:rPr sz="1000" b="0" i="0">
                <a:solidFill>
                  <a:srgbClr val="E2E8F0"/>
                </a:solidFill>
                <a:latin typeface="Segoe UI"/>
              </a:rPr>
              <a:t>special_char_count</a:t>
            </a:r>
          </a:p>
          <a:p>
            <a:pPr algn="l" marL="183000" indent="-183000">
              <a:lnSpc>
                <a:spcPct val="100000"/>
              </a:lnSpc>
              <a:spcBef>
                <a:spcPts val="0"/>
              </a:spcBef>
              <a:spcAft>
                <a:spcPts val="300"/>
              </a:spcAft>
            </a:pPr>
            <a:r>
              <a:rPr sz="1000" b="1">
                <a:solidFill>
                  <a:srgbClr val="3B82F6"/>
                </a:solidFill>
                <a:latin typeface="Segoe UI"/>
              </a:rPr>
              <a:t>▪  </a:t>
            </a:r>
            <a:r>
              <a:rPr sz="1000" b="0" i="0">
                <a:solidFill>
                  <a:srgbClr val="E2E8F0"/>
                </a:solidFill>
                <a:latin typeface="Segoe UI"/>
              </a:rPr>
              <a:t>uppercase_word_count</a:t>
            </a:r>
          </a:p>
          <a:p>
            <a:pPr algn="l" marL="183000" indent="-183000">
              <a:lnSpc>
                <a:spcPct val="100000"/>
              </a:lnSpc>
              <a:spcBef>
                <a:spcPts val="0"/>
              </a:spcBef>
              <a:spcAft>
                <a:spcPts val="300"/>
              </a:spcAft>
            </a:pPr>
            <a:r>
              <a:rPr sz="1000" b="1">
                <a:solidFill>
                  <a:srgbClr val="3B82F6"/>
                </a:solidFill>
                <a:latin typeface="Segoe UI"/>
              </a:rPr>
              <a:t>▪  </a:t>
            </a:r>
            <a:r>
              <a:rPr sz="1000" b="0" i="0">
                <a:solidFill>
                  <a:srgbClr val="E2E8F0"/>
                </a:solidFill>
                <a:latin typeface="Segoe UI"/>
              </a:rPr>
              <a:t>exclamation_count</a:t>
            </a:r>
          </a:p>
          <a:p>
            <a:pPr algn="l" marL="183000" indent="-183000">
              <a:lnSpc>
                <a:spcPct val="100000"/>
              </a:lnSpc>
              <a:spcBef>
                <a:spcPts val="0"/>
              </a:spcBef>
              <a:spcAft>
                <a:spcPts val="300"/>
              </a:spcAft>
            </a:pPr>
            <a:r>
              <a:rPr sz="1000" b="1">
                <a:solidFill>
                  <a:srgbClr val="3B82F6"/>
                </a:solidFill>
                <a:latin typeface="Segoe UI"/>
              </a:rPr>
              <a:t>▪  </a:t>
            </a:r>
            <a:r>
              <a:rPr sz="1000" b="0" i="0">
                <a:solidFill>
                  <a:srgbClr val="E2E8F0"/>
                </a:solidFill>
                <a:latin typeface="Segoe UI"/>
              </a:rPr>
              <a:t>question_mark_count</a:t>
            </a:r>
          </a:p>
        </p:txBody>
      </p:sp>
      <p:sp>
        <p:nvSpPr>
          <p:cNvPr id="18" name="Rounded Rectangle 17"/>
          <p:cNvSpPr/>
          <p:nvPr/>
        </p:nvSpPr>
        <p:spPr>
          <a:xfrm>
            <a:off x="5102352" y="3227831"/>
            <a:ext cx="2148840" cy="306324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66944" y="3410711"/>
            <a:ext cx="1819656" cy="2743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F59E0B"/>
                </a:solidFill>
                <a:latin typeface="Segoe UI"/>
              </a:rPr>
              <a:t>Social-Engineering</a:t>
            </a:r>
          </a:p>
          <a:p>
            <a:pPr algn="l" marL="183000" indent="-183000">
              <a:lnSpc>
                <a:spcPct val="100000"/>
              </a:lnSpc>
              <a:spcBef>
                <a:spcPts val="0"/>
              </a:spcBef>
              <a:spcAft>
                <a:spcPts val="300"/>
              </a:spcAft>
            </a:pPr>
            <a:r>
              <a:rPr sz="1000" b="1">
                <a:solidFill>
                  <a:srgbClr val="F59E0B"/>
                </a:solidFill>
                <a:latin typeface="Segoe UI"/>
              </a:rPr>
              <a:t>▪  </a:t>
            </a:r>
            <a:r>
              <a:rPr sz="1000" b="0" i="0">
                <a:solidFill>
                  <a:srgbClr val="E2E8F0"/>
                </a:solidFill>
                <a:latin typeface="Segoe UI"/>
              </a:rPr>
              <a:t>suspicious_keyword_score</a:t>
            </a:r>
          </a:p>
        </p:txBody>
      </p:sp>
      <p:sp>
        <p:nvSpPr>
          <p:cNvPr id="20" name="Rounded Rectangle 19"/>
          <p:cNvSpPr/>
          <p:nvPr/>
        </p:nvSpPr>
        <p:spPr>
          <a:xfrm>
            <a:off x="7379208" y="3227831"/>
            <a:ext cx="2148840" cy="306324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43800" y="3410711"/>
            <a:ext cx="1819656" cy="2743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7C3AED"/>
                </a:solidFill>
                <a:latin typeface="Segoe UI"/>
              </a:rPr>
              <a:t>Subject Analytics</a:t>
            </a:r>
          </a:p>
          <a:p>
            <a:pPr algn="l" marL="183000" indent="-183000">
              <a:lnSpc>
                <a:spcPct val="100000"/>
              </a:lnSpc>
              <a:spcBef>
                <a:spcPts val="0"/>
              </a:spcBef>
              <a:spcAft>
                <a:spcPts val="300"/>
              </a:spcAft>
            </a:pPr>
            <a:r>
              <a:rPr sz="1000" b="1">
                <a:solidFill>
                  <a:srgbClr val="7C3AED"/>
                </a:solidFill>
                <a:latin typeface="Segoe UI"/>
              </a:rPr>
              <a:t>▪  </a:t>
            </a:r>
            <a:r>
              <a:rPr sz="1000" b="0" i="0">
                <a:solidFill>
                  <a:srgbClr val="E2E8F0"/>
                </a:solidFill>
                <a:latin typeface="Segoe UI"/>
              </a:rPr>
              <a:t>has_subject</a:t>
            </a:r>
          </a:p>
          <a:p>
            <a:pPr algn="l" marL="183000" indent="-183000">
              <a:lnSpc>
                <a:spcPct val="100000"/>
              </a:lnSpc>
              <a:spcBef>
                <a:spcPts val="0"/>
              </a:spcBef>
              <a:spcAft>
                <a:spcPts val="300"/>
              </a:spcAft>
            </a:pPr>
            <a:r>
              <a:rPr sz="1000" b="1">
                <a:solidFill>
                  <a:srgbClr val="7C3AED"/>
                </a:solidFill>
                <a:latin typeface="Segoe UI"/>
              </a:rPr>
              <a:t>▪  </a:t>
            </a:r>
            <a:r>
              <a:rPr sz="1000" b="0" i="0">
                <a:solidFill>
                  <a:srgbClr val="E2E8F0"/>
                </a:solidFill>
                <a:latin typeface="Segoe UI"/>
              </a:rPr>
              <a:t>subject_length</a:t>
            </a:r>
          </a:p>
        </p:txBody>
      </p:sp>
      <p:sp>
        <p:nvSpPr>
          <p:cNvPr id="22" name="Rounded Rectangle 21"/>
          <p:cNvSpPr/>
          <p:nvPr/>
        </p:nvSpPr>
        <p:spPr>
          <a:xfrm>
            <a:off x="9656064" y="3227831"/>
            <a:ext cx="2148840" cy="306324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0656" y="3410711"/>
            <a:ext cx="1819656" cy="274320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10B981"/>
                </a:solidFill>
                <a:latin typeface="Segoe UI"/>
              </a:rPr>
              <a:t>Lexical Style</a:t>
            </a:r>
          </a:p>
          <a:p>
            <a:pPr algn="l" marL="183000" indent="-183000">
              <a:lnSpc>
                <a:spcPct val="100000"/>
              </a:lnSpc>
              <a:spcBef>
                <a:spcPts val="0"/>
              </a:spcBef>
              <a:spcAft>
                <a:spcPts val="300"/>
              </a:spcAft>
            </a:pPr>
            <a:r>
              <a:rPr sz="1000" b="1">
                <a:solidFill>
                  <a:srgbClr val="10B981"/>
                </a:solidFill>
                <a:latin typeface="Segoe UI"/>
              </a:rPr>
              <a:t>▪  </a:t>
            </a:r>
            <a:r>
              <a:rPr sz="1000" b="0" i="0">
                <a:solidFill>
                  <a:srgbClr val="E2E8F0"/>
                </a:solidFill>
                <a:latin typeface="Segoe UI"/>
              </a:rPr>
              <a:t>unique_word_ratio</a:t>
            </a:r>
          </a:p>
          <a:p>
            <a:pPr algn="l" marL="183000" indent="-183000">
              <a:lnSpc>
                <a:spcPct val="100000"/>
              </a:lnSpc>
              <a:spcBef>
                <a:spcPts val="0"/>
              </a:spcBef>
              <a:spcAft>
                <a:spcPts val="300"/>
              </a:spcAft>
            </a:pPr>
            <a:r>
              <a:rPr sz="1000" b="1">
                <a:solidFill>
                  <a:srgbClr val="10B981"/>
                </a:solidFill>
                <a:latin typeface="Segoe UI"/>
              </a:rPr>
              <a:t>▪  </a:t>
            </a:r>
            <a:r>
              <a:rPr sz="1000" b="0" i="0">
                <a:solidFill>
                  <a:srgbClr val="E2E8F0"/>
                </a:solidFill>
                <a:latin typeface="Segoe UI"/>
              </a:rPr>
              <a:t>uppercase_ratio</a:t>
            </a:r>
          </a:p>
        </p:txBody>
      </p:sp>
      <p:sp>
        <p:nvSpPr>
          <p:cNvPr id="24" name="TextBox 23"/>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25" name="TextBox 24"/>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13 · ML MODELS</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Machine Learning Models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Six classifiers benchmarked under identical conditions</a:t>
            </a:r>
          </a:p>
        </p:txBody>
      </p:sp>
      <p:sp>
        <p:nvSpPr>
          <p:cNvPr id="11" name="Rounded Rectangle 10"/>
          <p:cNvSpPr/>
          <p:nvPr/>
        </p:nvSpPr>
        <p:spPr>
          <a:xfrm>
            <a:off x="548640" y="1874519"/>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ear 6 11"/>
          <p:cNvSpPr/>
          <p:nvPr/>
        </p:nvSpPr>
        <p:spPr>
          <a:xfrm>
            <a:off x="800100" y="2308859"/>
            <a:ext cx="502920" cy="502920"/>
          </a:xfrm>
          <a:prstGeom prst="gear6">
            <a:avLst>
              <a:gd name="adj1" fmla="val 18000"/>
              <a:gd name="adj2" fmla="val 18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8760" y="2020823"/>
            <a:ext cx="4343400" cy="114300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FFFFFF"/>
                </a:solidFill>
                <a:latin typeface="Segoe UI"/>
              </a:rPr>
              <a:t>Logistic Regression</a:t>
            </a:r>
          </a:p>
          <a:p>
            <a:pPr algn="l">
              <a:lnSpc>
                <a:spcPct val="100000"/>
              </a:lnSpc>
              <a:spcBef>
                <a:spcPts val="0"/>
              </a:spcBef>
              <a:spcAft>
                <a:spcPts val="200"/>
              </a:spcAft>
            </a:pPr>
            <a:r>
              <a:rPr sz="1050" b="1" i="0">
                <a:solidFill>
                  <a:srgbClr val="00D4FF"/>
                </a:solidFill>
                <a:latin typeface="Segoe UI"/>
              </a:rPr>
              <a:t>scikit-learn</a:t>
            </a:r>
          </a:p>
          <a:p>
            <a:pPr algn="l">
              <a:lnSpc>
                <a:spcPct val="110000"/>
              </a:lnSpc>
              <a:spcBef>
                <a:spcPts val="0"/>
              </a:spcBef>
              <a:spcAft>
                <a:spcPts val="0"/>
              </a:spcAft>
            </a:pPr>
            <a:r>
              <a:rPr sz="1000" b="0" i="0">
                <a:solidFill>
                  <a:srgbClr val="9CA9D0"/>
                </a:solidFill>
                <a:latin typeface="Segoe UI"/>
              </a:rPr>
              <a:t>C = 1.0 · lbfgs · max_iter 1000 · class_weight = balanced</a:t>
            </a:r>
          </a:p>
        </p:txBody>
      </p:sp>
      <p:sp>
        <p:nvSpPr>
          <p:cNvPr id="14" name="Rounded Rectangle 13"/>
          <p:cNvSpPr/>
          <p:nvPr/>
        </p:nvSpPr>
        <p:spPr>
          <a:xfrm>
            <a:off x="6172200" y="1874519"/>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ear 6 14"/>
          <p:cNvSpPr/>
          <p:nvPr/>
        </p:nvSpPr>
        <p:spPr>
          <a:xfrm>
            <a:off x="6423660" y="2308859"/>
            <a:ext cx="502920" cy="502920"/>
          </a:xfrm>
          <a:prstGeom prst="gear6">
            <a:avLst>
              <a:gd name="adj1" fmla="val 18000"/>
              <a:gd name="adj2" fmla="val 1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2020823"/>
            <a:ext cx="4343400" cy="114300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FFFFFF"/>
                </a:solidFill>
                <a:latin typeface="Segoe UI"/>
              </a:rPr>
              <a:t>Multinomial Naive Bayes</a:t>
            </a:r>
          </a:p>
          <a:p>
            <a:pPr algn="l">
              <a:lnSpc>
                <a:spcPct val="100000"/>
              </a:lnSpc>
              <a:spcBef>
                <a:spcPts val="0"/>
              </a:spcBef>
              <a:spcAft>
                <a:spcPts val="200"/>
              </a:spcAft>
            </a:pPr>
            <a:r>
              <a:rPr sz="1050" b="1" i="0">
                <a:solidFill>
                  <a:srgbClr val="00D4FF"/>
                </a:solidFill>
                <a:latin typeface="Segoe UI"/>
              </a:rPr>
              <a:t>scikit-learn</a:t>
            </a:r>
          </a:p>
          <a:p>
            <a:pPr algn="l">
              <a:lnSpc>
                <a:spcPct val="110000"/>
              </a:lnSpc>
              <a:spcBef>
                <a:spcPts val="0"/>
              </a:spcBef>
              <a:spcAft>
                <a:spcPts val="0"/>
              </a:spcAft>
            </a:pPr>
            <a:r>
              <a:rPr sz="1000" b="0" i="0">
                <a:solidFill>
                  <a:srgbClr val="9CA9D0"/>
                </a:solidFill>
                <a:latin typeface="Segoe UI"/>
              </a:rPr>
              <a:t>alpha = 0.1</a:t>
            </a:r>
          </a:p>
        </p:txBody>
      </p:sp>
      <p:sp>
        <p:nvSpPr>
          <p:cNvPr id="17" name="Rounded Rectangle 16"/>
          <p:cNvSpPr/>
          <p:nvPr/>
        </p:nvSpPr>
        <p:spPr>
          <a:xfrm>
            <a:off x="548640" y="3355847"/>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Gear 6 17"/>
          <p:cNvSpPr/>
          <p:nvPr/>
        </p:nvSpPr>
        <p:spPr>
          <a:xfrm>
            <a:off x="800100" y="3790187"/>
            <a:ext cx="502920" cy="502920"/>
          </a:xfrm>
          <a:prstGeom prst="gear6">
            <a:avLst>
              <a:gd name="adj1" fmla="val 18000"/>
              <a:gd name="adj2" fmla="val 1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08760" y="3502151"/>
            <a:ext cx="4343400" cy="114300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FFFFFF"/>
                </a:solidFill>
                <a:latin typeface="Segoe UI"/>
              </a:rPr>
              <a:t>Random Forest</a:t>
            </a:r>
          </a:p>
          <a:p>
            <a:pPr algn="l">
              <a:lnSpc>
                <a:spcPct val="100000"/>
              </a:lnSpc>
              <a:spcBef>
                <a:spcPts val="0"/>
              </a:spcBef>
              <a:spcAft>
                <a:spcPts val="200"/>
              </a:spcAft>
            </a:pPr>
            <a:r>
              <a:rPr sz="1050" b="1" i="0">
                <a:solidFill>
                  <a:srgbClr val="00D4FF"/>
                </a:solidFill>
                <a:latin typeface="Segoe UI"/>
              </a:rPr>
              <a:t>scikit-learn</a:t>
            </a:r>
          </a:p>
          <a:p>
            <a:pPr algn="l">
              <a:lnSpc>
                <a:spcPct val="110000"/>
              </a:lnSpc>
              <a:spcBef>
                <a:spcPts val="0"/>
              </a:spcBef>
              <a:spcAft>
                <a:spcPts val="0"/>
              </a:spcAft>
            </a:pPr>
            <a:r>
              <a:rPr sz="1000" b="0" i="0">
                <a:solidFill>
                  <a:srgbClr val="9CA9D0"/>
                </a:solidFill>
                <a:latin typeface="Segoe UI"/>
              </a:rPr>
              <a:t>200 trees · max_depth 50 · min_samples_split 5 · balanced</a:t>
            </a:r>
          </a:p>
        </p:txBody>
      </p:sp>
      <p:sp>
        <p:nvSpPr>
          <p:cNvPr id="20" name="Rounded Rectangle 19"/>
          <p:cNvSpPr/>
          <p:nvPr/>
        </p:nvSpPr>
        <p:spPr>
          <a:xfrm>
            <a:off x="6172200" y="3355847"/>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Gear 6 20"/>
          <p:cNvSpPr/>
          <p:nvPr/>
        </p:nvSpPr>
        <p:spPr>
          <a:xfrm>
            <a:off x="6423660" y="3790187"/>
            <a:ext cx="502920" cy="502920"/>
          </a:xfrm>
          <a:prstGeom prst="gear6">
            <a:avLst>
              <a:gd name="adj1" fmla="val 18000"/>
              <a:gd name="adj2" fmla="val 1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3502151"/>
            <a:ext cx="4343400" cy="114300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FFFFFF"/>
                </a:solidFill>
                <a:latin typeface="Segoe UI"/>
              </a:rPr>
              <a:t>XGBoost</a:t>
            </a:r>
          </a:p>
          <a:p>
            <a:pPr algn="l">
              <a:lnSpc>
                <a:spcPct val="100000"/>
              </a:lnSpc>
              <a:spcBef>
                <a:spcPts val="0"/>
              </a:spcBef>
              <a:spcAft>
                <a:spcPts val="200"/>
              </a:spcAft>
            </a:pPr>
            <a:r>
              <a:rPr sz="1050" b="1" i="0">
                <a:solidFill>
                  <a:srgbClr val="00D4FF"/>
                </a:solidFill>
                <a:latin typeface="Segoe UI"/>
              </a:rPr>
              <a:t>xgboost</a:t>
            </a:r>
          </a:p>
          <a:p>
            <a:pPr algn="l">
              <a:lnSpc>
                <a:spcPct val="110000"/>
              </a:lnSpc>
              <a:spcBef>
                <a:spcPts val="0"/>
              </a:spcBef>
              <a:spcAft>
                <a:spcPts val="0"/>
              </a:spcAft>
            </a:pPr>
            <a:r>
              <a:rPr sz="1000" b="0" i="0">
                <a:solidFill>
                  <a:srgbClr val="9CA9D0"/>
                </a:solidFill>
                <a:latin typeface="Segoe UI"/>
              </a:rPr>
              <a:t>200 trees · lr 0.1 · depth 6 · subsample 0.8 · scale_pos_weight</a:t>
            </a:r>
          </a:p>
        </p:txBody>
      </p:sp>
      <p:sp>
        <p:nvSpPr>
          <p:cNvPr id="23" name="Rounded Rectangle 22"/>
          <p:cNvSpPr/>
          <p:nvPr/>
        </p:nvSpPr>
        <p:spPr>
          <a:xfrm>
            <a:off x="548640" y="4837175"/>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ear 6 23"/>
          <p:cNvSpPr/>
          <p:nvPr/>
        </p:nvSpPr>
        <p:spPr>
          <a:xfrm>
            <a:off x="800100" y="5271515"/>
            <a:ext cx="502920" cy="502920"/>
          </a:xfrm>
          <a:prstGeom prst="gear6">
            <a:avLst>
              <a:gd name="adj1" fmla="val 18000"/>
              <a:gd name="adj2" fmla="val 18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4983479"/>
            <a:ext cx="4343400" cy="114300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FFFFFF"/>
                </a:solidFill>
                <a:latin typeface="Segoe UI"/>
              </a:rPr>
              <a:t>LightGBM</a:t>
            </a:r>
          </a:p>
          <a:p>
            <a:pPr algn="l">
              <a:lnSpc>
                <a:spcPct val="100000"/>
              </a:lnSpc>
              <a:spcBef>
                <a:spcPts val="0"/>
              </a:spcBef>
              <a:spcAft>
                <a:spcPts val="200"/>
              </a:spcAft>
            </a:pPr>
            <a:r>
              <a:rPr sz="1050" b="1" i="0">
                <a:solidFill>
                  <a:srgbClr val="00D4FF"/>
                </a:solidFill>
                <a:latin typeface="Segoe UI"/>
              </a:rPr>
              <a:t>lightgbm</a:t>
            </a:r>
          </a:p>
          <a:p>
            <a:pPr algn="l">
              <a:lnSpc>
                <a:spcPct val="110000"/>
              </a:lnSpc>
              <a:spcBef>
                <a:spcPts val="0"/>
              </a:spcBef>
              <a:spcAft>
                <a:spcPts val="0"/>
              </a:spcAft>
            </a:pPr>
            <a:r>
              <a:rPr sz="1000" b="0" i="0">
                <a:solidFill>
                  <a:srgbClr val="9CA9D0"/>
                </a:solidFill>
                <a:latin typeface="Segoe UI"/>
              </a:rPr>
              <a:t>200 trees · lr 0.1 · leaves 31 · subsample 0.8 · scale_pos_weight</a:t>
            </a:r>
          </a:p>
        </p:txBody>
      </p:sp>
      <p:sp>
        <p:nvSpPr>
          <p:cNvPr id="26" name="Rounded Rectangle 25"/>
          <p:cNvSpPr/>
          <p:nvPr/>
        </p:nvSpPr>
        <p:spPr>
          <a:xfrm>
            <a:off x="6172200" y="4837175"/>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ear 6 26"/>
          <p:cNvSpPr/>
          <p:nvPr/>
        </p:nvSpPr>
        <p:spPr>
          <a:xfrm>
            <a:off x="6423660" y="5271515"/>
            <a:ext cx="502920" cy="502920"/>
          </a:xfrm>
          <a:prstGeom prst="gear6">
            <a:avLst>
              <a:gd name="adj1" fmla="val 18000"/>
              <a:gd name="adj2" fmla="val 18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0" y="4983479"/>
            <a:ext cx="4343400" cy="114300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FFFFFF"/>
                </a:solidFill>
                <a:latin typeface="Segoe UI"/>
              </a:rPr>
              <a:t>Neural Network (MLP)</a:t>
            </a:r>
          </a:p>
          <a:p>
            <a:pPr algn="l">
              <a:lnSpc>
                <a:spcPct val="100000"/>
              </a:lnSpc>
              <a:spcBef>
                <a:spcPts val="0"/>
              </a:spcBef>
              <a:spcAft>
                <a:spcPts val="200"/>
              </a:spcAft>
            </a:pPr>
            <a:r>
              <a:rPr sz="1050" b="1" i="0">
                <a:solidFill>
                  <a:srgbClr val="00D4FF"/>
                </a:solidFill>
                <a:latin typeface="Segoe UI"/>
              </a:rPr>
              <a:t>scikit-learn</a:t>
            </a:r>
          </a:p>
          <a:p>
            <a:pPr algn="l">
              <a:lnSpc>
                <a:spcPct val="110000"/>
              </a:lnSpc>
              <a:spcBef>
                <a:spcPts val="0"/>
              </a:spcBef>
              <a:spcAft>
                <a:spcPts val="0"/>
              </a:spcAft>
            </a:pPr>
            <a:r>
              <a:rPr sz="1000" b="0" i="0">
                <a:solidFill>
                  <a:srgbClr val="9CA9D0"/>
                </a:solidFill>
                <a:latin typeface="Segoe UI"/>
              </a:rPr>
              <a:t>layers 256–128–64 · relu · adam · early stop · batch 256</a:t>
            </a:r>
          </a:p>
        </p:txBody>
      </p:sp>
      <p:sp>
        <p:nvSpPr>
          <p:cNvPr id="29" name="Rounded Rectangle 28"/>
          <p:cNvSpPr/>
          <p:nvPr/>
        </p:nvSpPr>
        <p:spPr>
          <a:xfrm>
            <a:off x="548640" y="6400799"/>
            <a:ext cx="11091672" cy="402336"/>
          </a:xfrm>
          <a:prstGeom prst="roundRect">
            <a:avLst>
              <a:gd name="adj" fmla="val 50000"/>
            </a:avLst>
          </a:prstGeom>
          <a:solidFill>
            <a:srgbClr val="1A1F3A"/>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6400799"/>
            <a:ext cx="10698480" cy="402336"/>
          </a:xfrm>
          <a:prstGeom prst="rect">
            <a:avLst/>
          </a:prstGeom>
          <a:noFill/>
        </p:spPr>
        <p:txBody>
          <a:bodyPr wrap="square" anchor="ctr" lIns="0" rIns="0" tIns="0" bIns="0">
            <a:spAutoFit/>
          </a:bodyPr>
          <a:lstStyle/>
          <a:p>
            <a:pPr algn="ctr">
              <a:lnSpc>
                <a:spcPct val="100000"/>
              </a:lnSpc>
              <a:spcBef>
                <a:spcPts val="0"/>
              </a:spcBef>
              <a:spcAft>
                <a:spcPts val="0"/>
              </a:spcAft>
            </a:pPr>
            <a:r>
              <a:rPr sz="1100" b="0" i="0">
                <a:solidFill>
                  <a:srgbClr val="9CA9D0"/>
                </a:solidFill>
                <a:latin typeface="Segoe UI"/>
              </a:rPr>
              <a:t>Config-driven hyperparameters live in src/config.py — one source of truth, fully editable.</a:t>
            </a:r>
          </a:p>
        </p:txBody>
      </p:sp>
      <p:sp>
        <p:nvSpPr>
          <p:cNvPr id="31" name="TextBox 30"/>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2" name="TextBox 31"/>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14 · TRAINING PIPELINE</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Model Training Pipeline</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End-to-end orchestration in main.py (8 stages)</a:t>
            </a:r>
          </a:p>
        </p:txBody>
      </p:sp>
      <p:sp>
        <p:nvSpPr>
          <p:cNvPr id="11" name="Rounded Rectangle 10"/>
          <p:cNvSpPr/>
          <p:nvPr/>
        </p:nvSpPr>
        <p:spPr>
          <a:xfrm>
            <a:off x="548640" y="1874519"/>
            <a:ext cx="2651760" cy="193852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057399"/>
            <a:ext cx="2331720" cy="155448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00D4FF"/>
                </a:solidFill>
                <a:latin typeface="Segoe UI"/>
              </a:rPr>
              <a:t>1 · Load &amp; Merge</a:t>
            </a:r>
          </a:p>
          <a:p>
            <a:pPr algn="l">
              <a:lnSpc>
                <a:spcPct val="115000"/>
              </a:lnSpc>
              <a:spcBef>
                <a:spcPts val="0"/>
              </a:spcBef>
              <a:spcAft>
                <a:spcPts val="0"/>
              </a:spcAft>
            </a:pPr>
            <a:r>
              <a:rPr sz="1050" b="0" i="0">
                <a:solidFill>
                  <a:srgbClr val="9CA9D0"/>
                </a:solidFill>
                <a:latin typeface="Segoe UI"/>
              </a:rPr>
              <a:t>7 raw datasets</a:t>
            </a:r>
          </a:p>
        </p:txBody>
      </p:sp>
      <p:cxnSp>
        <p:nvCxnSpPr>
          <p:cNvPr id="13" name="Connector 12"/>
          <p:cNvCxnSpPr/>
          <p:nvPr/>
        </p:nvCxnSpPr>
        <p:spPr>
          <a:xfrm>
            <a:off x="3218688" y="2843783"/>
            <a:ext cx="128016"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941062"/>
            <a:ext cx="2651760" cy="193852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123942"/>
            <a:ext cx="2331720" cy="155448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00D4FF"/>
                </a:solidFill>
                <a:latin typeface="Segoe UI"/>
              </a:rPr>
              <a:t>2 · Preprocess</a:t>
            </a:r>
          </a:p>
          <a:p>
            <a:pPr algn="l">
              <a:lnSpc>
                <a:spcPct val="115000"/>
              </a:lnSpc>
              <a:spcBef>
                <a:spcPts val="0"/>
              </a:spcBef>
              <a:spcAft>
                <a:spcPts val="0"/>
              </a:spcAft>
            </a:pPr>
            <a:r>
              <a:rPr sz="1050" b="0" i="0">
                <a:solidFill>
                  <a:srgbClr val="9CA9D0"/>
                </a:solidFill>
                <a:latin typeface="Segoe UI"/>
              </a:rPr>
              <a:t>NLP cleaning</a:t>
            </a:r>
          </a:p>
        </p:txBody>
      </p:sp>
      <p:cxnSp>
        <p:nvCxnSpPr>
          <p:cNvPr id="16" name="Connector 15"/>
          <p:cNvCxnSpPr/>
          <p:nvPr/>
        </p:nvCxnSpPr>
        <p:spPr>
          <a:xfrm>
            <a:off x="3218688" y="4910326"/>
            <a:ext cx="128016"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64992" y="1874519"/>
            <a:ext cx="2651760" cy="193852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2057399"/>
            <a:ext cx="2331720" cy="155448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00D4FF"/>
                </a:solidFill>
                <a:latin typeface="Segoe UI"/>
              </a:rPr>
              <a:t>3 · Split</a:t>
            </a:r>
          </a:p>
          <a:p>
            <a:pPr algn="l">
              <a:lnSpc>
                <a:spcPct val="115000"/>
              </a:lnSpc>
              <a:spcBef>
                <a:spcPts val="0"/>
              </a:spcBef>
              <a:spcAft>
                <a:spcPts val="0"/>
              </a:spcAft>
            </a:pPr>
            <a:r>
              <a:rPr sz="1050" b="0" i="0">
                <a:solidFill>
                  <a:srgbClr val="9CA9D0"/>
                </a:solidFill>
                <a:latin typeface="Segoe UI"/>
              </a:rPr>
              <a:t>80/20 stratified, seed 42</a:t>
            </a:r>
          </a:p>
        </p:txBody>
      </p:sp>
      <p:cxnSp>
        <p:nvCxnSpPr>
          <p:cNvPr id="19" name="Connector 18"/>
          <p:cNvCxnSpPr/>
          <p:nvPr/>
        </p:nvCxnSpPr>
        <p:spPr>
          <a:xfrm>
            <a:off x="6035040" y="2843783"/>
            <a:ext cx="128016"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64992" y="3941062"/>
            <a:ext cx="2651760" cy="193852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9584" y="4123942"/>
            <a:ext cx="2331720" cy="155448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00D4FF"/>
                </a:solidFill>
                <a:latin typeface="Segoe UI"/>
              </a:rPr>
              <a:t>4 · Fit Features</a:t>
            </a:r>
          </a:p>
          <a:p>
            <a:pPr algn="l">
              <a:lnSpc>
                <a:spcPct val="115000"/>
              </a:lnSpc>
              <a:spcBef>
                <a:spcPts val="0"/>
              </a:spcBef>
              <a:spcAft>
                <a:spcPts val="0"/>
              </a:spcAft>
            </a:pPr>
            <a:r>
              <a:rPr sz="1050" b="0" i="0">
                <a:solidFill>
                  <a:srgbClr val="9CA9D0"/>
                </a:solidFill>
                <a:latin typeface="Segoe UI"/>
              </a:rPr>
              <a:t>TF-IDF + scaler on train only</a:t>
            </a:r>
          </a:p>
        </p:txBody>
      </p:sp>
      <p:sp>
        <p:nvSpPr>
          <p:cNvPr id="22" name="Rounded Rectangle 21"/>
          <p:cNvSpPr/>
          <p:nvPr/>
        </p:nvSpPr>
        <p:spPr>
          <a:xfrm>
            <a:off x="6181344" y="1874519"/>
            <a:ext cx="2651760" cy="193852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5936" y="2057399"/>
            <a:ext cx="2331720" cy="155448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00D4FF"/>
                </a:solidFill>
                <a:latin typeface="Segoe UI"/>
              </a:rPr>
              <a:t>5 · Train 6 Models</a:t>
            </a:r>
          </a:p>
          <a:p>
            <a:pPr algn="l">
              <a:lnSpc>
                <a:spcPct val="115000"/>
              </a:lnSpc>
              <a:spcBef>
                <a:spcPts val="0"/>
              </a:spcBef>
              <a:spcAft>
                <a:spcPts val="0"/>
              </a:spcAft>
            </a:pPr>
            <a:r>
              <a:rPr sz="1050" b="0" i="0">
                <a:solidFill>
                  <a:srgbClr val="9CA9D0"/>
                </a:solidFill>
                <a:latin typeface="Segoe UI"/>
              </a:rPr>
              <a:t>balanced weights</a:t>
            </a:r>
          </a:p>
        </p:txBody>
      </p:sp>
      <p:cxnSp>
        <p:nvCxnSpPr>
          <p:cNvPr id="24" name="Connector 23"/>
          <p:cNvCxnSpPr/>
          <p:nvPr/>
        </p:nvCxnSpPr>
        <p:spPr>
          <a:xfrm>
            <a:off x="8851392" y="2843783"/>
            <a:ext cx="128016"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81344" y="3941062"/>
            <a:ext cx="2651760" cy="193852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5936" y="4123942"/>
            <a:ext cx="2331720" cy="155448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00D4FF"/>
                </a:solidFill>
                <a:latin typeface="Segoe UI"/>
              </a:rPr>
              <a:t>6 · Evaluate</a:t>
            </a:r>
          </a:p>
          <a:p>
            <a:pPr algn="l">
              <a:lnSpc>
                <a:spcPct val="115000"/>
              </a:lnSpc>
              <a:spcBef>
                <a:spcPts val="0"/>
              </a:spcBef>
              <a:spcAft>
                <a:spcPts val="0"/>
              </a:spcAft>
            </a:pPr>
            <a:r>
              <a:rPr sz="1050" b="0" i="0">
                <a:solidFill>
                  <a:srgbClr val="9CA9D0"/>
                </a:solidFill>
                <a:latin typeface="Segoe UI"/>
              </a:rPr>
              <a:t>test set, full metrics</a:t>
            </a:r>
          </a:p>
        </p:txBody>
      </p:sp>
      <p:cxnSp>
        <p:nvCxnSpPr>
          <p:cNvPr id="27" name="Connector 26"/>
          <p:cNvCxnSpPr/>
          <p:nvPr/>
        </p:nvCxnSpPr>
        <p:spPr>
          <a:xfrm>
            <a:off x="8851392" y="4910326"/>
            <a:ext cx="128016"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997696" y="1874519"/>
            <a:ext cx="2651760" cy="193852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62288" y="2057399"/>
            <a:ext cx="2331720" cy="155448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00D4FF"/>
                </a:solidFill>
                <a:latin typeface="Segoe UI"/>
              </a:rPr>
              <a:t>7 · Select Best</a:t>
            </a:r>
          </a:p>
          <a:p>
            <a:pPr algn="l">
              <a:lnSpc>
                <a:spcPct val="115000"/>
              </a:lnSpc>
              <a:spcBef>
                <a:spcPts val="0"/>
              </a:spcBef>
              <a:spcAft>
                <a:spcPts val="0"/>
              </a:spcAft>
            </a:pPr>
            <a:r>
              <a:rPr sz="1050" b="0" i="0">
                <a:solidFill>
                  <a:srgbClr val="9CA9D0"/>
                </a:solidFill>
                <a:latin typeface="Segoe UI"/>
              </a:rPr>
              <a:t>max F1 → save joblib</a:t>
            </a:r>
          </a:p>
        </p:txBody>
      </p:sp>
      <p:cxnSp>
        <p:nvCxnSpPr>
          <p:cNvPr id="30" name="Connector 29"/>
          <p:cNvCxnSpPr/>
          <p:nvPr/>
        </p:nvCxnSpPr>
        <p:spPr>
          <a:xfrm>
            <a:off x="11667744" y="2843783"/>
            <a:ext cx="128016" cy="0"/>
          </a:xfrm>
          <a:prstGeom prst="line">
            <a:avLst/>
          </a:prstGeom>
          <a:ln w="2222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997696" y="3941062"/>
            <a:ext cx="2651760" cy="193852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62288" y="4123942"/>
            <a:ext cx="2331720" cy="155448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00D4FF"/>
                </a:solidFill>
                <a:latin typeface="Segoe UI"/>
              </a:rPr>
              <a:t>8 · Reports &amp; Charts</a:t>
            </a:r>
          </a:p>
          <a:p>
            <a:pPr algn="l">
              <a:lnSpc>
                <a:spcPct val="115000"/>
              </a:lnSpc>
              <a:spcBef>
                <a:spcPts val="0"/>
              </a:spcBef>
              <a:spcAft>
                <a:spcPts val="0"/>
              </a:spcAft>
            </a:pPr>
            <a:r>
              <a:rPr sz="1050" b="0" i="0">
                <a:solidFill>
                  <a:srgbClr val="9CA9D0"/>
                </a:solidFill>
                <a:latin typeface="Segoe UI"/>
              </a:rPr>
              <a:t>CSV, JSON, PNG</a:t>
            </a:r>
          </a:p>
        </p:txBody>
      </p:sp>
      <p:sp>
        <p:nvSpPr>
          <p:cNvPr id="33" name="Rounded Rectangle 32"/>
          <p:cNvSpPr/>
          <p:nvPr/>
        </p:nvSpPr>
        <p:spPr>
          <a:xfrm>
            <a:off x="548640" y="5989319"/>
            <a:ext cx="11091672" cy="438912"/>
          </a:xfrm>
          <a:prstGeom prst="roundRect">
            <a:avLst>
              <a:gd name="adj" fmla="val 50000"/>
            </a:avLst>
          </a:prstGeom>
          <a:solidFill>
            <a:srgbClr val="151A38"/>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989319"/>
            <a:ext cx="10698480" cy="438912"/>
          </a:xfrm>
          <a:prstGeom prst="rect">
            <a:avLst/>
          </a:prstGeom>
          <a:noFill/>
        </p:spPr>
        <p:txBody>
          <a:bodyPr wrap="square" anchor="ctr" lIns="0" rIns="0" tIns="0" bIns="0">
            <a:spAutoFit/>
          </a:bodyPr>
          <a:lstStyle/>
          <a:p>
            <a:pPr algn="ctr">
              <a:lnSpc>
                <a:spcPct val="100000"/>
              </a:lnSpc>
              <a:spcBef>
                <a:spcPts val="0"/>
              </a:spcBef>
              <a:spcAft>
                <a:spcPts val="0"/>
              </a:spcAft>
            </a:pPr>
            <a:r>
              <a:rPr sz="1150" b="0" i="0">
                <a:solidFill>
                  <a:srgbClr val="F59E0B"/>
                </a:solidFill>
                <a:latin typeface="Segoe UI"/>
              </a:rPr>
              <a:t>Class imbalance handled with class_weight=“balanced” (sklearn) and scale_pos_weight (XGBoost / LightGBM)</a:t>
            </a:r>
          </a:p>
        </p:txBody>
      </p:sp>
      <p:sp>
        <p:nvSpPr>
          <p:cNvPr id="35" name="TextBox 34"/>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6" name="TextBox 35"/>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15 · MODEL COMPARISON</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Model Comparison</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Full benchmark from the latest run — sorted by F1 score (reports/model_comparison.csv)</a:t>
            </a:r>
          </a:p>
        </p:txBody>
      </p:sp>
      <p:graphicFrame>
        <p:nvGraphicFramePr>
          <p:cNvPr id="11" name="Table 10"/>
          <p:cNvGraphicFramePr>
            <a:graphicFrameLocks noGrp="1"/>
          </p:cNvGraphicFramePr>
          <p:nvPr/>
        </p:nvGraphicFramePr>
        <p:xfrm>
          <a:off x="548640" y="1874519"/>
          <a:ext cx="11091667" cy="4206237"/>
        </p:xfrm>
        <a:graphic>
          <a:graphicData uri="http://schemas.openxmlformats.org/drawingml/2006/table">
            <a:tbl>
              <a:tblPr>
                <a:tableStyleId>{5C22544A-7EE6-4342-B048-85BDC9FD1C3A}</a:tableStyleId>
              </a:tblPr>
              <a:tblGrid>
                <a:gridCol w="3091121"/>
                <a:gridCol w="1272814"/>
                <a:gridCol w="1272814"/>
                <a:gridCol w="1272814"/>
                <a:gridCol w="1272814"/>
                <a:gridCol w="1454645"/>
                <a:gridCol w="1454645"/>
              </a:tblGrid>
              <a:tr h="600891">
                <a:tc>
                  <a:txBody>
                    <a:bodyPr wrap="square"/>
                    <a:lstStyle/>
                    <a:p>
                      <a:pPr algn="ctr"/>
                      <a:r>
                        <a:rPr sz="1200" b="1">
                          <a:solidFill>
                            <a:srgbClr val="FFFFFF"/>
                          </a:solidFill>
                          <a:latin typeface="Segoe UI"/>
                        </a:rPr>
                        <a:t>Model</a:t>
                      </a:r>
                    </a:p>
                  </a:txBody>
                  <a:tcPr anchor="ctr" marL="76200" marR="76200" marT="25400" marB="25400">
                    <a:solidFill>
                      <a:srgbClr val="00D4FF"/>
                    </a:solidFill>
                  </a:tcPr>
                </a:tc>
                <a:tc>
                  <a:txBody>
                    <a:bodyPr wrap="square"/>
                    <a:lstStyle/>
                    <a:p>
                      <a:pPr algn="ctr"/>
                      <a:r>
                        <a:rPr sz="1200" b="1">
                          <a:solidFill>
                            <a:srgbClr val="FFFFFF"/>
                          </a:solidFill>
                          <a:latin typeface="Segoe UI"/>
                        </a:rPr>
                        <a:t>Acc</a:t>
                      </a:r>
                    </a:p>
                  </a:txBody>
                  <a:tcPr anchor="ctr" marL="76200" marR="76200" marT="25400" marB="25400">
                    <a:solidFill>
                      <a:srgbClr val="00D4FF"/>
                    </a:solidFill>
                  </a:tcPr>
                </a:tc>
                <a:tc>
                  <a:txBody>
                    <a:bodyPr wrap="square"/>
                    <a:lstStyle/>
                    <a:p>
                      <a:pPr algn="ctr"/>
                      <a:r>
                        <a:rPr sz="1200" b="1">
                          <a:solidFill>
                            <a:srgbClr val="FFFFFF"/>
                          </a:solidFill>
                          <a:latin typeface="Segoe UI"/>
                        </a:rPr>
                        <a:t>Prec</a:t>
                      </a:r>
                    </a:p>
                  </a:txBody>
                  <a:tcPr anchor="ctr" marL="76200" marR="76200" marT="25400" marB="25400">
                    <a:solidFill>
                      <a:srgbClr val="00D4FF"/>
                    </a:solidFill>
                  </a:tcPr>
                </a:tc>
                <a:tc>
                  <a:txBody>
                    <a:bodyPr wrap="square"/>
                    <a:lstStyle/>
                    <a:p>
                      <a:pPr algn="ctr"/>
                      <a:r>
                        <a:rPr sz="1200" b="1">
                          <a:solidFill>
                            <a:srgbClr val="FFFFFF"/>
                          </a:solidFill>
                          <a:latin typeface="Segoe UI"/>
                        </a:rPr>
                        <a:t>Rec</a:t>
                      </a:r>
                    </a:p>
                  </a:txBody>
                  <a:tcPr anchor="ctr" marL="76200" marR="76200" marT="25400" marB="25400">
                    <a:solidFill>
                      <a:srgbClr val="00D4FF"/>
                    </a:solidFill>
                  </a:tcPr>
                </a:tc>
                <a:tc>
                  <a:txBody>
                    <a:bodyPr wrap="square"/>
                    <a:lstStyle/>
                    <a:p>
                      <a:pPr algn="ctr"/>
                      <a:r>
                        <a:rPr sz="1200" b="1">
                          <a:solidFill>
                            <a:srgbClr val="FFFFFF"/>
                          </a:solidFill>
                          <a:latin typeface="Segoe UI"/>
                        </a:rPr>
                        <a:t>F1</a:t>
                      </a:r>
                    </a:p>
                  </a:txBody>
                  <a:tcPr anchor="ctr" marL="76200" marR="76200" marT="25400" marB="25400">
                    <a:solidFill>
                      <a:srgbClr val="00D4FF"/>
                    </a:solidFill>
                  </a:tcPr>
                </a:tc>
                <a:tc>
                  <a:txBody>
                    <a:bodyPr wrap="square"/>
                    <a:lstStyle/>
                    <a:p>
                      <a:pPr algn="ctr"/>
                      <a:r>
                        <a:rPr sz="1200" b="1">
                          <a:solidFill>
                            <a:srgbClr val="FFFFFF"/>
                          </a:solidFill>
                          <a:latin typeface="Segoe UI"/>
                        </a:rPr>
                        <a:t>ROC-AUC</a:t>
                      </a:r>
                    </a:p>
                  </a:txBody>
                  <a:tcPr anchor="ctr" marL="76200" marR="76200" marT="25400" marB="25400">
                    <a:solidFill>
                      <a:srgbClr val="00D4FF"/>
                    </a:solidFill>
                  </a:tcPr>
                </a:tc>
                <a:tc>
                  <a:txBody>
                    <a:bodyPr wrap="square"/>
                    <a:lstStyle/>
                    <a:p>
                      <a:pPr algn="ctr"/>
                      <a:r>
                        <a:rPr sz="1200" b="1">
                          <a:solidFill>
                            <a:srgbClr val="FFFFFF"/>
                          </a:solidFill>
                          <a:latin typeface="Segoe UI"/>
                        </a:rPr>
                        <a:t>PR-AUC</a:t>
                      </a:r>
                    </a:p>
                  </a:txBody>
                  <a:tcPr anchor="ctr" marL="76200" marR="76200" marT="25400" marB="25400">
                    <a:solidFill>
                      <a:srgbClr val="00D4FF"/>
                    </a:solidFill>
                  </a:tcPr>
                </a:tc>
              </a:tr>
              <a:tr h="600891">
                <a:tc>
                  <a:txBody>
                    <a:bodyPr wrap="square"/>
                    <a:lstStyle/>
                    <a:p>
                      <a:pPr algn="l"/>
                      <a:r>
                        <a:rPr sz="1200" b="1">
                          <a:solidFill>
                            <a:srgbClr val="E2E8F0"/>
                          </a:solidFill>
                          <a:latin typeface="Segoe UI"/>
                        </a:rPr>
                        <a:t>Neural Network</a:t>
                      </a:r>
                    </a:p>
                  </a:txBody>
                  <a:tcPr anchor="ctr" marL="76200" marR="76200" marT="25400" marB="25400">
                    <a:solidFill>
                      <a:srgbClr val="1A1F3A"/>
                    </a:solidFill>
                  </a:tcPr>
                </a:tc>
                <a:tc>
                  <a:txBody>
                    <a:bodyPr wrap="square"/>
                    <a:lstStyle/>
                    <a:p>
                      <a:pPr algn="ctr"/>
                      <a:r>
                        <a:rPr sz="1200" b="1">
                          <a:solidFill>
                            <a:srgbClr val="E2E8F0"/>
                          </a:solidFill>
                          <a:latin typeface="Segoe UI"/>
                        </a:rPr>
                        <a:t>99.31</a:t>
                      </a:r>
                    </a:p>
                  </a:txBody>
                  <a:tcPr anchor="ctr" marL="76200" marR="76200" marT="25400" marB="25400">
                    <a:solidFill>
                      <a:srgbClr val="1A1F3A"/>
                    </a:solidFill>
                  </a:tcPr>
                </a:tc>
                <a:tc>
                  <a:txBody>
                    <a:bodyPr wrap="square"/>
                    <a:lstStyle/>
                    <a:p>
                      <a:pPr algn="ctr"/>
                      <a:r>
                        <a:rPr sz="1200" b="1">
                          <a:solidFill>
                            <a:srgbClr val="E2E8F0"/>
                          </a:solidFill>
                          <a:latin typeface="Segoe UI"/>
                        </a:rPr>
                        <a:t>99.49</a:t>
                      </a:r>
                    </a:p>
                  </a:txBody>
                  <a:tcPr anchor="ctr" marL="76200" marR="76200" marT="25400" marB="25400">
                    <a:solidFill>
                      <a:srgbClr val="1A1F3A"/>
                    </a:solidFill>
                  </a:tcPr>
                </a:tc>
                <a:tc>
                  <a:txBody>
                    <a:bodyPr wrap="square"/>
                    <a:lstStyle/>
                    <a:p>
                      <a:pPr algn="ctr"/>
                      <a:r>
                        <a:rPr sz="1200" b="1">
                          <a:solidFill>
                            <a:srgbClr val="E2E8F0"/>
                          </a:solidFill>
                          <a:latin typeface="Segoe UI"/>
                        </a:rPr>
                        <a:t>99.18</a:t>
                      </a:r>
                    </a:p>
                  </a:txBody>
                  <a:tcPr anchor="ctr" marL="76200" marR="76200" marT="25400" marB="25400">
                    <a:solidFill>
                      <a:srgbClr val="1A1F3A"/>
                    </a:solidFill>
                  </a:tcPr>
                </a:tc>
                <a:tc>
                  <a:txBody>
                    <a:bodyPr wrap="square"/>
                    <a:lstStyle/>
                    <a:p>
                      <a:pPr algn="ctr"/>
                      <a:r>
                        <a:rPr sz="1200" b="1">
                          <a:solidFill>
                            <a:srgbClr val="E2E8F0"/>
                          </a:solidFill>
                          <a:latin typeface="Segoe UI"/>
                        </a:rPr>
                        <a:t>99.34</a:t>
                      </a:r>
                    </a:p>
                  </a:txBody>
                  <a:tcPr anchor="ctr" marL="76200" marR="76200" marT="25400" marB="25400">
                    <a:solidFill>
                      <a:srgbClr val="1A1F3A"/>
                    </a:solidFill>
                  </a:tcPr>
                </a:tc>
                <a:tc>
                  <a:txBody>
                    <a:bodyPr wrap="square"/>
                    <a:lstStyle/>
                    <a:p>
                      <a:pPr algn="ctr"/>
                      <a:r>
                        <a:rPr sz="1200" b="1">
                          <a:solidFill>
                            <a:srgbClr val="E2E8F0"/>
                          </a:solidFill>
                          <a:latin typeface="Segoe UI"/>
                        </a:rPr>
                        <a:t>99.96</a:t>
                      </a:r>
                    </a:p>
                  </a:txBody>
                  <a:tcPr anchor="ctr" marL="76200" marR="76200" marT="25400" marB="25400">
                    <a:solidFill>
                      <a:srgbClr val="1A1F3A"/>
                    </a:solidFill>
                  </a:tcPr>
                </a:tc>
                <a:tc>
                  <a:txBody>
                    <a:bodyPr wrap="square"/>
                    <a:lstStyle/>
                    <a:p>
                      <a:pPr algn="ctr"/>
                      <a:r>
                        <a:rPr sz="1200" b="1">
                          <a:solidFill>
                            <a:srgbClr val="E2E8F0"/>
                          </a:solidFill>
                          <a:latin typeface="Segoe UI"/>
                        </a:rPr>
                        <a:t>99.96</a:t>
                      </a:r>
                    </a:p>
                  </a:txBody>
                  <a:tcPr anchor="ctr" marL="76200" marR="76200" marT="25400" marB="25400">
                    <a:solidFill>
                      <a:srgbClr val="1A1F3A"/>
                    </a:solidFill>
                  </a:tcPr>
                </a:tc>
              </a:tr>
              <a:tr h="600891">
                <a:tc>
                  <a:txBody>
                    <a:bodyPr wrap="square"/>
                    <a:lstStyle/>
                    <a:p>
                      <a:pPr algn="l"/>
                      <a:r>
                        <a:rPr sz="1200">
                          <a:solidFill>
                            <a:srgbClr val="E2E8F0"/>
                          </a:solidFill>
                          <a:latin typeface="Segoe UI"/>
                        </a:rPr>
                        <a:t>Logistic Regression</a:t>
                      </a:r>
                    </a:p>
                  </a:txBody>
                  <a:tcPr anchor="ctr" marL="76200" marR="76200" marT="25400" marB="25400">
                    <a:solidFill>
                      <a:srgbClr val="151A38"/>
                    </a:solidFill>
                  </a:tcPr>
                </a:tc>
                <a:tc>
                  <a:txBody>
                    <a:bodyPr wrap="square"/>
                    <a:lstStyle/>
                    <a:p>
                      <a:pPr algn="ctr"/>
                      <a:r>
                        <a:rPr sz="1200">
                          <a:solidFill>
                            <a:srgbClr val="E2E8F0"/>
                          </a:solidFill>
                          <a:latin typeface="Segoe UI"/>
                        </a:rPr>
                        <a:t>98.89</a:t>
                      </a:r>
                    </a:p>
                  </a:txBody>
                  <a:tcPr anchor="ctr" marL="76200" marR="76200" marT="25400" marB="25400">
                    <a:solidFill>
                      <a:srgbClr val="151A38"/>
                    </a:solidFill>
                  </a:tcPr>
                </a:tc>
                <a:tc>
                  <a:txBody>
                    <a:bodyPr wrap="square"/>
                    <a:lstStyle/>
                    <a:p>
                      <a:pPr algn="ctr"/>
                      <a:r>
                        <a:rPr sz="1200">
                          <a:solidFill>
                            <a:srgbClr val="E2E8F0"/>
                          </a:solidFill>
                          <a:latin typeface="Segoe UI"/>
                        </a:rPr>
                        <a:t>98.89</a:t>
                      </a:r>
                    </a:p>
                  </a:txBody>
                  <a:tcPr anchor="ctr" marL="76200" marR="76200" marT="25400" marB="25400">
                    <a:solidFill>
                      <a:srgbClr val="151A38"/>
                    </a:solidFill>
                  </a:tcPr>
                </a:tc>
                <a:tc>
                  <a:txBody>
                    <a:bodyPr wrap="square"/>
                    <a:lstStyle/>
                    <a:p>
                      <a:pPr algn="ctr"/>
                      <a:r>
                        <a:rPr sz="1200">
                          <a:solidFill>
                            <a:srgbClr val="E2E8F0"/>
                          </a:solidFill>
                          <a:latin typeface="Segoe UI"/>
                        </a:rPr>
                        <a:t>98.96</a:t>
                      </a:r>
                    </a:p>
                  </a:txBody>
                  <a:tcPr anchor="ctr" marL="76200" marR="76200" marT="25400" marB="25400">
                    <a:solidFill>
                      <a:srgbClr val="151A38"/>
                    </a:solidFill>
                  </a:tcPr>
                </a:tc>
                <a:tc>
                  <a:txBody>
                    <a:bodyPr wrap="square"/>
                    <a:lstStyle/>
                    <a:p>
                      <a:pPr algn="ctr"/>
                      <a:r>
                        <a:rPr sz="1200">
                          <a:solidFill>
                            <a:srgbClr val="E2E8F0"/>
                          </a:solidFill>
                          <a:latin typeface="Segoe UI"/>
                        </a:rPr>
                        <a:t>98.93</a:t>
                      </a:r>
                    </a:p>
                  </a:txBody>
                  <a:tcPr anchor="ctr" marL="76200" marR="76200" marT="25400" marB="25400">
                    <a:solidFill>
                      <a:srgbClr val="151A38"/>
                    </a:solidFill>
                  </a:tcPr>
                </a:tc>
                <a:tc>
                  <a:txBody>
                    <a:bodyPr wrap="square"/>
                    <a:lstStyle/>
                    <a:p>
                      <a:pPr algn="ctr"/>
                      <a:r>
                        <a:rPr sz="1200">
                          <a:solidFill>
                            <a:srgbClr val="E2E8F0"/>
                          </a:solidFill>
                          <a:latin typeface="Segoe UI"/>
                        </a:rPr>
                        <a:t>99.92</a:t>
                      </a:r>
                    </a:p>
                  </a:txBody>
                  <a:tcPr anchor="ctr" marL="76200" marR="76200" marT="25400" marB="25400">
                    <a:solidFill>
                      <a:srgbClr val="151A38"/>
                    </a:solidFill>
                  </a:tcPr>
                </a:tc>
                <a:tc>
                  <a:txBody>
                    <a:bodyPr wrap="square"/>
                    <a:lstStyle/>
                    <a:p>
                      <a:pPr algn="ctr"/>
                      <a:r>
                        <a:rPr sz="1200">
                          <a:solidFill>
                            <a:srgbClr val="E2E8F0"/>
                          </a:solidFill>
                          <a:latin typeface="Segoe UI"/>
                        </a:rPr>
                        <a:t>99.92</a:t>
                      </a:r>
                    </a:p>
                  </a:txBody>
                  <a:tcPr anchor="ctr" marL="76200" marR="76200" marT="25400" marB="25400">
                    <a:solidFill>
                      <a:srgbClr val="151A38"/>
                    </a:solidFill>
                  </a:tcPr>
                </a:tc>
              </a:tr>
              <a:tr h="600891">
                <a:tc>
                  <a:txBody>
                    <a:bodyPr wrap="square"/>
                    <a:lstStyle/>
                    <a:p>
                      <a:pPr algn="l"/>
                      <a:r>
                        <a:rPr sz="1200">
                          <a:solidFill>
                            <a:srgbClr val="E2E8F0"/>
                          </a:solidFill>
                          <a:latin typeface="Segoe UI"/>
                        </a:rPr>
                        <a:t>LightGBM</a:t>
                      </a:r>
                    </a:p>
                  </a:txBody>
                  <a:tcPr anchor="ctr" marL="76200" marR="76200" marT="25400" marB="25400">
                    <a:solidFill>
                      <a:srgbClr val="1A1F3A"/>
                    </a:solidFill>
                  </a:tcPr>
                </a:tc>
                <a:tc>
                  <a:txBody>
                    <a:bodyPr wrap="square"/>
                    <a:lstStyle/>
                    <a:p>
                      <a:pPr algn="ctr"/>
                      <a:r>
                        <a:rPr sz="1200">
                          <a:solidFill>
                            <a:srgbClr val="E2E8F0"/>
                          </a:solidFill>
                          <a:latin typeface="Segoe UI"/>
                        </a:rPr>
                        <a:t>98.81</a:t>
                      </a:r>
                    </a:p>
                  </a:txBody>
                  <a:tcPr anchor="ctr" marL="76200" marR="76200" marT="25400" marB="25400">
                    <a:solidFill>
                      <a:srgbClr val="1A1F3A"/>
                    </a:solidFill>
                  </a:tcPr>
                </a:tc>
                <a:tc>
                  <a:txBody>
                    <a:bodyPr wrap="square"/>
                    <a:lstStyle/>
                    <a:p>
                      <a:pPr algn="ctr"/>
                      <a:r>
                        <a:rPr sz="1200">
                          <a:solidFill>
                            <a:srgbClr val="E2E8F0"/>
                          </a:solidFill>
                          <a:latin typeface="Segoe UI"/>
                        </a:rPr>
                        <a:t>98.60</a:t>
                      </a:r>
                    </a:p>
                  </a:txBody>
                  <a:tcPr anchor="ctr" marL="76200" marR="76200" marT="25400" marB="25400">
                    <a:solidFill>
                      <a:srgbClr val="1A1F3A"/>
                    </a:solidFill>
                  </a:tcPr>
                </a:tc>
                <a:tc>
                  <a:txBody>
                    <a:bodyPr wrap="square"/>
                    <a:lstStyle/>
                    <a:p>
                      <a:pPr algn="ctr"/>
                      <a:r>
                        <a:rPr sz="1200">
                          <a:solidFill>
                            <a:srgbClr val="E2E8F0"/>
                          </a:solidFill>
                          <a:latin typeface="Segoe UI"/>
                        </a:rPr>
                        <a:t>99.10</a:t>
                      </a:r>
                    </a:p>
                  </a:txBody>
                  <a:tcPr anchor="ctr" marL="76200" marR="76200" marT="25400" marB="25400">
                    <a:solidFill>
                      <a:srgbClr val="1A1F3A"/>
                    </a:solidFill>
                  </a:tcPr>
                </a:tc>
                <a:tc>
                  <a:txBody>
                    <a:bodyPr wrap="square"/>
                    <a:lstStyle/>
                    <a:p>
                      <a:pPr algn="ctr"/>
                      <a:r>
                        <a:rPr sz="1200">
                          <a:solidFill>
                            <a:srgbClr val="E2E8F0"/>
                          </a:solidFill>
                          <a:latin typeface="Segoe UI"/>
                        </a:rPr>
                        <a:t>98.85</a:t>
                      </a:r>
                    </a:p>
                  </a:txBody>
                  <a:tcPr anchor="ctr" marL="76200" marR="76200" marT="25400" marB="25400">
                    <a:solidFill>
                      <a:srgbClr val="1A1F3A"/>
                    </a:solidFill>
                  </a:tcPr>
                </a:tc>
                <a:tc>
                  <a:txBody>
                    <a:bodyPr wrap="square"/>
                    <a:lstStyle/>
                    <a:p>
                      <a:pPr algn="ctr"/>
                      <a:r>
                        <a:rPr sz="1200">
                          <a:solidFill>
                            <a:srgbClr val="E2E8F0"/>
                          </a:solidFill>
                          <a:latin typeface="Segoe UI"/>
                        </a:rPr>
                        <a:t>99.94</a:t>
                      </a:r>
                    </a:p>
                  </a:txBody>
                  <a:tcPr anchor="ctr" marL="76200" marR="76200" marT="25400" marB="25400">
                    <a:solidFill>
                      <a:srgbClr val="1A1F3A"/>
                    </a:solidFill>
                  </a:tcPr>
                </a:tc>
                <a:tc>
                  <a:txBody>
                    <a:bodyPr wrap="square"/>
                    <a:lstStyle/>
                    <a:p>
                      <a:pPr algn="ctr"/>
                      <a:r>
                        <a:rPr sz="1200">
                          <a:solidFill>
                            <a:srgbClr val="E2E8F0"/>
                          </a:solidFill>
                          <a:latin typeface="Segoe UI"/>
                        </a:rPr>
                        <a:t>99.95</a:t>
                      </a:r>
                    </a:p>
                  </a:txBody>
                  <a:tcPr anchor="ctr" marL="76200" marR="76200" marT="25400" marB="25400">
                    <a:solidFill>
                      <a:srgbClr val="1A1F3A"/>
                    </a:solidFill>
                  </a:tcPr>
                </a:tc>
              </a:tr>
              <a:tr h="600891">
                <a:tc>
                  <a:txBody>
                    <a:bodyPr wrap="square"/>
                    <a:lstStyle/>
                    <a:p>
                      <a:pPr algn="l"/>
                      <a:r>
                        <a:rPr sz="1200">
                          <a:solidFill>
                            <a:srgbClr val="E2E8F0"/>
                          </a:solidFill>
                          <a:latin typeface="Segoe UI"/>
                        </a:rPr>
                        <a:t>XGBoost</a:t>
                      </a:r>
                    </a:p>
                  </a:txBody>
                  <a:tcPr anchor="ctr" marL="76200" marR="76200" marT="25400" marB="25400">
                    <a:solidFill>
                      <a:srgbClr val="151A38"/>
                    </a:solidFill>
                  </a:tcPr>
                </a:tc>
                <a:tc>
                  <a:txBody>
                    <a:bodyPr wrap="square"/>
                    <a:lstStyle/>
                    <a:p>
                      <a:pPr algn="ctr"/>
                      <a:r>
                        <a:rPr sz="1200">
                          <a:solidFill>
                            <a:srgbClr val="E2E8F0"/>
                          </a:solidFill>
                          <a:latin typeface="Segoe UI"/>
                        </a:rPr>
                        <a:t>97.90</a:t>
                      </a:r>
                    </a:p>
                  </a:txBody>
                  <a:tcPr anchor="ctr" marL="76200" marR="76200" marT="25400" marB="25400">
                    <a:solidFill>
                      <a:srgbClr val="151A38"/>
                    </a:solidFill>
                  </a:tcPr>
                </a:tc>
                <a:tc>
                  <a:txBody>
                    <a:bodyPr wrap="square"/>
                    <a:lstStyle/>
                    <a:p>
                      <a:pPr algn="ctr"/>
                      <a:r>
                        <a:rPr sz="1200">
                          <a:solidFill>
                            <a:srgbClr val="E2E8F0"/>
                          </a:solidFill>
                          <a:latin typeface="Segoe UI"/>
                        </a:rPr>
                        <a:t>97.19</a:t>
                      </a:r>
                    </a:p>
                  </a:txBody>
                  <a:tcPr anchor="ctr" marL="76200" marR="76200" marT="25400" marB="25400">
                    <a:solidFill>
                      <a:srgbClr val="151A38"/>
                    </a:solidFill>
                  </a:tcPr>
                </a:tc>
                <a:tc>
                  <a:txBody>
                    <a:bodyPr wrap="square"/>
                    <a:lstStyle/>
                    <a:p>
                      <a:pPr algn="ctr"/>
                      <a:r>
                        <a:rPr sz="1200">
                          <a:solidFill>
                            <a:srgbClr val="E2E8F0"/>
                          </a:solidFill>
                          <a:latin typeface="Segoe UI"/>
                        </a:rPr>
                        <a:t>98.79</a:t>
                      </a:r>
                    </a:p>
                  </a:txBody>
                  <a:tcPr anchor="ctr" marL="76200" marR="76200" marT="25400" marB="25400">
                    <a:solidFill>
                      <a:srgbClr val="151A38"/>
                    </a:solidFill>
                  </a:tcPr>
                </a:tc>
                <a:tc>
                  <a:txBody>
                    <a:bodyPr wrap="square"/>
                    <a:lstStyle/>
                    <a:p>
                      <a:pPr algn="ctr"/>
                      <a:r>
                        <a:rPr sz="1200">
                          <a:solidFill>
                            <a:srgbClr val="E2E8F0"/>
                          </a:solidFill>
                          <a:latin typeface="Segoe UI"/>
                        </a:rPr>
                        <a:t>97.99</a:t>
                      </a:r>
                    </a:p>
                  </a:txBody>
                  <a:tcPr anchor="ctr" marL="76200" marR="76200" marT="25400" marB="25400">
                    <a:solidFill>
                      <a:srgbClr val="151A38"/>
                    </a:solidFill>
                  </a:tcPr>
                </a:tc>
                <a:tc>
                  <a:txBody>
                    <a:bodyPr wrap="square"/>
                    <a:lstStyle/>
                    <a:p>
                      <a:pPr algn="ctr"/>
                      <a:r>
                        <a:rPr sz="1200">
                          <a:solidFill>
                            <a:srgbClr val="E2E8F0"/>
                          </a:solidFill>
                          <a:latin typeface="Segoe UI"/>
                        </a:rPr>
                        <a:t>99.81</a:t>
                      </a:r>
                    </a:p>
                  </a:txBody>
                  <a:tcPr anchor="ctr" marL="76200" marR="76200" marT="25400" marB="25400">
                    <a:solidFill>
                      <a:srgbClr val="151A38"/>
                    </a:solidFill>
                  </a:tcPr>
                </a:tc>
                <a:tc>
                  <a:txBody>
                    <a:bodyPr wrap="square"/>
                    <a:lstStyle/>
                    <a:p>
                      <a:pPr algn="ctr"/>
                      <a:r>
                        <a:rPr sz="1200">
                          <a:solidFill>
                            <a:srgbClr val="E2E8F0"/>
                          </a:solidFill>
                          <a:latin typeface="Segoe UI"/>
                        </a:rPr>
                        <a:t>99.82</a:t>
                      </a:r>
                    </a:p>
                  </a:txBody>
                  <a:tcPr anchor="ctr" marL="76200" marR="76200" marT="25400" marB="25400">
                    <a:solidFill>
                      <a:srgbClr val="151A38"/>
                    </a:solidFill>
                  </a:tcPr>
                </a:tc>
              </a:tr>
              <a:tr h="600891">
                <a:tc>
                  <a:txBody>
                    <a:bodyPr wrap="square"/>
                    <a:lstStyle/>
                    <a:p>
                      <a:pPr algn="l"/>
                      <a:r>
                        <a:rPr sz="1200">
                          <a:solidFill>
                            <a:srgbClr val="E2E8F0"/>
                          </a:solidFill>
                          <a:latin typeface="Segoe UI"/>
                        </a:rPr>
                        <a:t>Random Forest</a:t>
                      </a:r>
                    </a:p>
                  </a:txBody>
                  <a:tcPr anchor="ctr" marL="76200" marR="76200" marT="25400" marB="25400">
                    <a:solidFill>
                      <a:srgbClr val="1A1F3A"/>
                    </a:solidFill>
                  </a:tcPr>
                </a:tc>
                <a:tc>
                  <a:txBody>
                    <a:bodyPr wrap="square"/>
                    <a:lstStyle/>
                    <a:p>
                      <a:pPr algn="ctr"/>
                      <a:r>
                        <a:rPr sz="1200">
                          <a:solidFill>
                            <a:srgbClr val="E2E8F0"/>
                          </a:solidFill>
                          <a:latin typeface="Segoe UI"/>
                        </a:rPr>
                        <a:t>97.89</a:t>
                      </a:r>
                    </a:p>
                  </a:txBody>
                  <a:tcPr anchor="ctr" marL="76200" marR="76200" marT="25400" marB="25400">
                    <a:solidFill>
                      <a:srgbClr val="1A1F3A"/>
                    </a:solidFill>
                  </a:tcPr>
                </a:tc>
                <a:tc>
                  <a:txBody>
                    <a:bodyPr wrap="square"/>
                    <a:lstStyle/>
                    <a:p>
                      <a:pPr algn="ctr"/>
                      <a:r>
                        <a:rPr sz="1200">
                          <a:solidFill>
                            <a:srgbClr val="E2E8F0"/>
                          </a:solidFill>
                          <a:latin typeface="Segoe UI"/>
                        </a:rPr>
                        <a:t>97.32</a:t>
                      </a:r>
                    </a:p>
                  </a:txBody>
                  <a:tcPr anchor="ctr" marL="76200" marR="76200" marT="25400" marB="25400">
                    <a:solidFill>
                      <a:srgbClr val="1A1F3A"/>
                    </a:solidFill>
                  </a:tcPr>
                </a:tc>
                <a:tc>
                  <a:txBody>
                    <a:bodyPr wrap="square"/>
                    <a:lstStyle/>
                    <a:p>
                      <a:pPr algn="ctr"/>
                      <a:r>
                        <a:rPr sz="1200">
                          <a:solidFill>
                            <a:srgbClr val="E2E8F0"/>
                          </a:solidFill>
                          <a:latin typeface="Segoe UI"/>
                        </a:rPr>
                        <a:t>98.64</a:t>
                      </a:r>
                    </a:p>
                  </a:txBody>
                  <a:tcPr anchor="ctr" marL="76200" marR="76200" marT="25400" marB="25400">
                    <a:solidFill>
                      <a:srgbClr val="1A1F3A"/>
                    </a:solidFill>
                  </a:tcPr>
                </a:tc>
                <a:tc>
                  <a:txBody>
                    <a:bodyPr wrap="square"/>
                    <a:lstStyle/>
                    <a:p>
                      <a:pPr algn="ctr"/>
                      <a:r>
                        <a:rPr sz="1200">
                          <a:solidFill>
                            <a:srgbClr val="E2E8F0"/>
                          </a:solidFill>
                          <a:latin typeface="Segoe UI"/>
                        </a:rPr>
                        <a:t>97.98</a:t>
                      </a:r>
                    </a:p>
                  </a:txBody>
                  <a:tcPr anchor="ctr" marL="76200" marR="76200" marT="25400" marB="25400">
                    <a:solidFill>
                      <a:srgbClr val="1A1F3A"/>
                    </a:solidFill>
                  </a:tcPr>
                </a:tc>
                <a:tc>
                  <a:txBody>
                    <a:bodyPr wrap="square"/>
                    <a:lstStyle/>
                    <a:p>
                      <a:pPr algn="ctr"/>
                      <a:r>
                        <a:rPr sz="1200">
                          <a:solidFill>
                            <a:srgbClr val="E2E8F0"/>
                          </a:solidFill>
                          <a:latin typeface="Segoe UI"/>
                        </a:rPr>
                        <a:t>99.80</a:t>
                      </a:r>
                    </a:p>
                  </a:txBody>
                  <a:tcPr anchor="ctr" marL="76200" marR="76200" marT="25400" marB="25400">
                    <a:solidFill>
                      <a:srgbClr val="1A1F3A"/>
                    </a:solidFill>
                  </a:tcPr>
                </a:tc>
                <a:tc>
                  <a:txBody>
                    <a:bodyPr wrap="square"/>
                    <a:lstStyle/>
                    <a:p>
                      <a:pPr algn="ctr"/>
                      <a:r>
                        <a:rPr sz="1200">
                          <a:solidFill>
                            <a:srgbClr val="E2E8F0"/>
                          </a:solidFill>
                          <a:latin typeface="Segoe UI"/>
                        </a:rPr>
                        <a:t>99.81</a:t>
                      </a:r>
                    </a:p>
                  </a:txBody>
                  <a:tcPr anchor="ctr" marL="76200" marR="76200" marT="25400" marB="25400">
                    <a:solidFill>
                      <a:srgbClr val="1A1F3A"/>
                    </a:solidFill>
                  </a:tcPr>
                </a:tc>
              </a:tr>
              <a:tr h="600891">
                <a:tc>
                  <a:txBody>
                    <a:bodyPr wrap="square"/>
                    <a:lstStyle/>
                    <a:p>
                      <a:pPr algn="l"/>
                      <a:r>
                        <a:rPr sz="1200">
                          <a:solidFill>
                            <a:srgbClr val="E2E8F0"/>
                          </a:solidFill>
                          <a:latin typeface="Segoe UI"/>
                        </a:rPr>
                        <a:t>Naive Bayes</a:t>
                      </a:r>
                    </a:p>
                  </a:txBody>
                  <a:tcPr anchor="ctr" marL="76200" marR="76200" marT="25400" marB="25400">
                    <a:solidFill>
                      <a:srgbClr val="151A38"/>
                    </a:solidFill>
                  </a:tcPr>
                </a:tc>
                <a:tc>
                  <a:txBody>
                    <a:bodyPr wrap="square"/>
                    <a:lstStyle/>
                    <a:p>
                      <a:pPr algn="ctr"/>
                      <a:r>
                        <a:rPr sz="1200">
                          <a:solidFill>
                            <a:srgbClr val="E2E8F0"/>
                          </a:solidFill>
                          <a:latin typeface="Segoe UI"/>
                        </a:rPr>
                        <a:t>96.30</a:t>
                      </a:r>
                    </a:p>
                  </a:txBody>
                  <a:tcPr anchor="ctr" marL="76200" marR="76200" marT="25400" marB="25400">
                    <a:solidFill>
                      <a:srgbClr val="151A38"/>
                    </a:solidFill>
                  </a:tcPr>
                </a:tc>
                <a:tc>
                  <a:txBody>
                    <a:bodyPr wrap="square"/>
                    <a:lstStyle/>
                    <a:p>
                      <a:pPr algn="ctr"/>
                      <a:r>
                        <a:rPr sz="1200">
                          <a:solidFill>
                            <a:srgbClr val="E2E8F0"/>
                          </a:solidFill>
                          <a:latin typeface="Segoe UI"/>
                        </a:rPr>
                        <a:t>98.83</a:t>
                      </a:r>
                    </a:p>
                  </a:txBody>
                  <a:tcPr anchor="ctr" marL="76200" marR="76200" marT="25400" marB="25400">
                    <a:solidFill>
                      <a:srgbClr val="151A38"/>
                    </a:solidFill>
                  </a:tcPr>
                </a:tc>
                <a:tc>
                  <a:txBody>
                    <a:bodyPr wrap="square"/>
                    <a:lstStyle/>
                    <a:p>
                      <a:pPr algn="ctr"/>
                      <a:r>
                        <a:rPr sz="1200">
                          <a:solidFill>
                            <a:srgbClr val="E2E8F0"/>
                          </a:solidFill>
                          <a:latin typeface="Segoe UI"/>
                        </a:rPr>
                        <a:t>93.95</a:t>
                      </a:r>
                    </a:p>
                  </a:txBody>
                  <a:tcPr anchor="ctr" marL="76200" marR="76200" marT="25400" marB="25400">
                    <a:solidFill>
                      <a:srgbClr val="151A38"/>
                    </a:solidFill>
                  </a:tcPr>
                </a:tc>
                <a:tc>
                  <a:txBody>
                    <a:bodyPr wrap="square"/>
                    <a:lstStyle/>
                    <a:p>
                      <a:pPr algn="ctr"/>
                      <a:r>
                        <a:rPr sz="1200">
                          <a:solidFill>
                            <a:srgbClr val="E2E8F0"/>
                          </a:solidFill>
                          <a:latin typeface="Segoe UI"/>
                        </a:rPr>
                        <a:t>96.33</a:t>
                      </a:r>
                    </a:p>
                  </a:txBody>
                  <a:tcPr anchor="ctr" marL="76200" marR="76200" marT="25400" marB="25400">
                    <a:solidFill>
                      <a:srgbClr val="151A38"/>
                    </a:solidFill>
                  </a:tcPr>
                </a:tc>
                <a:tc>
                  <a:txBody>
                    <a:bodyPr wrap="square"/>
                    <a:lstStyle/>
                    <a:p>
                      <a:pPr algn="ctr"/>
                      <a:r>
                        <a:rPr sz="1200">
                          <a:solidFill>
                            <a:srgbClr val="E2E8F0"/>
                          </a:solidFill>
                          <a:latin typeface="Segoe UI"/>
                        </a:rPr>
                        <a:t>99.57</a:t>
                      </a:r>
                    </a:p>
                  </a:txBody>
                  <a:tcPr anchor="ctr" marL="76200" marR="76200" marT="25400" marB="25400">
                    <a:solidFill>
                      <a:srgbClr val="151A38"/>
                    </a:solidFill>
                  </a:tcPr>
                </a:tc>
                <a:tc>
                  <a:txBody>
                    <a:bodyPr wrap="square"/>
                    <a:lstStyle/>
                    <a:p>
                      <a:pPr algn="ctr"/>
                      <a:r>
                        <a:rPr sz="1200">
                          <a:solidFill>
                            <a:srgbClr val="E2E8F0"/>
                          </a:solidFill>
                          <a:latin typeface="Segoe UI"/>
                        </a:rPr>
                        <a:t>99.58</a:t>
                      </a:r>
                    </a:p>
                  </a:txBody>
                  <a:tcPr anchor="ctr" marL="76200" marR="76200" marT="25400" marB="25400">
                    <a:solidFill>
                      <a:srgbClr val="151A38"/>
                    </a:solidFill>
                  </a:tcPr>
                </a:tc>
              </a:tr>
            </a:tbl>
          </a:graphicData>
        </a:graphic>
      </p:graphicFrame>
      <p:sp>
        <p:nvSpPr>
          <p:cNvPr id="12" name="TextBox 11"/>
          <p:cNvSpPr txBox="1"/>
          <p:nvPr/>
        </p:nvSpPr>
        <p:spPr>
          <a:xfrm>
            <a:off x="548640" y="6190487"/>
            <a:ext cx="11091672" cy="365760"/>
          </a:xfrm>
          <a:prstGeom prst="rect">
            <a:avLst/>
          </a:prstGeom>
          <a:noFill/>
        </p:spPr>
        <p:txBody>
          <a:bodyPr wrap="square" anchor="t" lIns="0" rIns="0" tIns="0" bIns="0">
            <a:spAutoFit/>
          </a:bodyPr>
          <a:lstStyle/>
          <a:p>
            <a:pPr algn="ctr">
              <a:lnSpc>
                <a:spcPct val="100000"/>
              </a:lnSpc>
              <a:spcBef>
                <a:spcPts val="0"/>
              </a:spcBef>
              <a:spcAft>
                <a:spcPts val="0"/>
              </a:spcAft>
            </a:pPr>
            <a:r>
              <a:rPr sz="1200" b="1" i="0">
                <a:solidFill>
                  <a:srgbClr val="00D4FF"/>
                </a:solidFill>
                <a:latin typeface="Segoe UI"/>
              </a:rPr>
              <a:t>Neural Network selected as production model: highest F1 (99.34%) with ROC-AUC 99.96%.</a:t>
            </a:r>
          </a:p>
        </p:txBody>
      </p:sp>
      <p:sp>
        <p:nvSpPr>
          <p:cNvPr id="13" name="TextBox 12"/>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14" name="TextBox 13"/>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16 · EVALUATION METRICS</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Evaluation Metrics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1874519"/>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5820" y="2606039"/>
            <a:ext cx="118872" cy="18288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92124" y="2537459"/>
            <a:ext cx="118872" cy="25146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38428" y="2423159"/>
            <a:ext cx="118872" cy="36576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2020823"/>
            <a:ext cx="4343400" cy="114300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00D4FF"/>
                </a:solidFill>
                <a:latin typeface="Segoe UI"/>
              </a:rPr>
              <a:t>Accuracy</a:t>
            </a:r>
          </a:p>
          <a:p>
            <a:pPr algn="l">
              <a:lnSpc>
                <a:spcPct val="100000"/>
              </a:lnSpc>
              <a:spcBef>
                <a:spcPts val="0"/>
              </a:spcBef>
              <a:spcAft>
                <a:spcPts val="200"/>
              </a:spcAft>
            </a:pPr>
            <a:r>
              <a:rPr sz="1050" b="1" i="0">
                <a:solidFill>
                  <a:srgbClr val="FFFFFF"/>
                </a:solidFill>
                <a:latin typeface="Segoe UI"/>
              </a:rPr>
              <a:t>Correct predictions / total</a:t>
            </a:r>
          </a:p>
          <a:p>
            <a:pPr algn="l">
              <a:lnSpc>
                <a:spcPct val="110000"/>
              </a:lnSpc>
              <a:spcBef>
                <a:spcPts val="0"/>
              </a:spcBef>
              <a:spcAft>
                <a:spcPts val="0"/>
              </a:spcAft>
            </a:pPr>
            <a:r>
              <a:rPr sz="1000" b="0" i="0">
                <a:solidFill>
                  <a:srgbClr val="9CA9D0"/>
                </a:solidFill>
                <a:latin typeface="Segoe UI"/>
              </a:rPr>
              <a:t>Overall correctness</a:t>
            </a:r>
          </a:p>
        </p:txBody>
      </p:sp>
      <p:sp>
        <p:nvSpPr>
          <p:cNvPr id="15" name="Rounded Rectangle 14"/>
          <p:cNvSpPr/>
          <p:nvPr/>
        </p:nvSpPr>
        <p:spPr>
          <a:xfrm>
            <a:off x="6172200" y="1874519"/>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2331719"/>
            <a:ext cx="457200" cy="45720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331719"/>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900" b="1" i="0">
                <a:solidFill>
                  <a:srgbClr val="0A0E27"/>
                </a:solidFill>
                <a:latin typeface="Segoe UI"/>
              </a:rPr>
              <a:t>✓</a:t>
            </a:r>
          </a:p>
        </p:txBody>
      </p:sp>
      <p:sp>
        <p:nvSpPr>
          <p:cNvPr id="18" name="TextBox 17"/>
          <p:cNvSpPr txBox="1"/>
          <p:nvPr/>
        </p:nvSpPr>
        <p:spPr>
          <a:xfrm>
            <a:off x="7132320" y="2020823"/>
            <a:ext cx="4343400" cy="114300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3B82F6"/>
                </a:solidFill>
                <a:latin typeface="Segoe UI"/>
              </a:rPr>
              <a:t>Precision</a:t>
            </a:r>
          </a:p>
          <a:p>
            <a:pPr algn="l">
              <a:lnSpc>
                <a:spcPct val="100000"/>
              </a:lnSpc>
              <a:spcBef>
                <a:spcPts val="0"/>
              </a:spcBef>
              <a:spcAft>
                <a:spcPts val="200"/>
              </a:spcAft>
            </a:pPr>
            <a:r>
              <a:rPr sz="1050" b="1" i="0">
                <a:solidFill>
                  <a:srgbClr val="FFFFFF"/>
                </a:solidFill>
                <a:latin typeface="Segoe UI"/>
              </a:rPr>
              <a:t>TP / (TP + FP)</a:t>
            </a:r>
          </a:p>
          <a:p>
            <a:pPr algn="l">
              <a:lnSpc>
                <a:spcPct val="110000"/>
              </a:lnSpc>
              <a:spcBef>
                <a:spcPts val="0"/>
              </a:spcBef>
              <a:spcAft>
                <a:spcPts val="0"/>
              </a:spcAft>
            </a:pPr>
            <a:r>
              <a:rPr sz="1000" b="0" i="0">
                <a:solidFill>
                  <a:srgbClr val="9CA9D0"/>
                </a:solidFill>
                <a:latin typeface="Segoe UI"/>
              </a:rPr>
              <a:t>How many flagged emails really are phishing — minimises false alarms</a:t>
            </a:r>
          </a:p>
        </p:txBody>
      </p:sp>
      <p:sp>
        <p:nvSpPr>
          <p:cNvPr id="19" name="Rounded Rectangle 18"/>
          <p:cNvSpPr/>
          <p:nvPr/>
        </p:nvSpPr>
        <p:spPr>
          <a:xfrm>
            <a:off x="548640" y="3355847"/>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8680" y="3813047"/>
            <a:ext cx="365760" cy="251460"/>
          </a:xfrm>
          <a:prstGeom prst="roundRect">
            <a:avLst>
              <a:gd name="adj" fmla="val 3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822960" y="4014215"/>
            <a:ext cx="457200" cy="237744"/>
          </a:xfrm>
          <a:prstGeom prst="triangl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08760" y="3502151"/>
            <a:ext cx="4343400" cy="114300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10B981"/>
                </a:solidFill>
                <a:latin typeface="Segoe UI"/>
              </a:rPr>
              <a:t>Recall</a:t>
            </a:r>
          </a:p>
          <a:p>
            <a:pPr algn="l">
              <a:lnSpc>
                <a:spcPct val="100000"/>
              </a:lnSpc>
              <a:spcBef>
                <a:spcPts val="0"/>
              </a:spcBef>
              <a:spcAft>
                <a:spcPts val="200"/>
              </a:spcAft>
            </a:pPr>
            <a:r>
              <a:rPr sz="1050" b="1" i="0">
                <a:solidFill>
                  <a:srgbClr val="FFFFFF"/>
                </a:solidFill>
                <a:latin typeface="Segoe UI"/>
              </a:rPr>
              <a:t>TP / (TP + FN)</a:t>
            </a:r>
          </a:p>
          <a:p>
            <a:pPr algn="l">
              <a:lnSpc>
                <a:spcPct val="110000"/>
              </a:lnSpc>
              <a:spcBef>
                <a:spcPts val="0"/>
              </a:spcBef>
              <a:spcAft>
                <a:spcPts val="0"/>
              </a:spcAft>
            </a:pPr>
            <a:r>
              <a:rPr sz="1000" b="0" i="0">
                <a:solidFill>
                  <a:srgbClr val="9CA9D0"/>
                </a:solidFill>
                <a:latin typeface="Segoe UI"/>
              </a:rPr>
              <a:t>How many phishing emails we catch — minimises missed attacks</a:t>
            </a:r>
          </a:p>
        </p:txBody>
      </p:sp>
      <p:sp>
        <p:nvSpPr>
          <p:cNvPr id="23" name="Rounded Rectangle 22"/>
          <p:cNvSpPr/>
          <p:nvPr/>
        </p:nvSpPr>
        <p:spPr>
          <a:xfrm>
            <a:off x="6172200" y="3355847"/>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ear 6 23"/>
          <p:cNvSpPr/>
          <p:nvPr/>
        </p:nvSpPr>
        <p:spPr>
          <a:xfrm>
            <a:off x="6446520" y="3813047"/>
            <a:ext cx="457200" cy="457200"/>
          </a:xfrm>
          <a:prstGeom prst="gear6">
            <a:avLst>
              <a:gd name="adj1" fmla="val 18000"/>
              <a:gd name="adj2" fmla="val 1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3502151"/>
            <a:ext cx="4343400" cy="114300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59E0B"/>
                </a:solidFill>
                <a:latin typeface="Segoe UI"/>
              </a:rPr>
              <a:t>F1 Score</a:t>
            </a:r>
          </a:p>
          <a:p>
            <a:pPr algn="l">
              <a:lnSpc>
                <a:spcPct val="100000"/>
              </a:lnSpc>
              <a:spcBef>
                <a:spcPts val="0"/>
              </a:spcBef>
              <a:spcAft>
                <a:spcPts val="200"/>
              </a:spcAft>
            </a:pPr>
            <a:r>
              <a:rPr sz="1050" b="1" i="0">
                <a:solidFill>
                  <a:srgbClr val="FFFFFF"/>
                </a:solidFill>
                <a:latin typeface="Segoe UI"/>
              </a:rPr>
              <a:t>2·P·R / (P + R)</a:t>
            </a:r>
          </a:p>
          <a:p>
            <a:pPr algn="l">
              <a:lnSpc>
                <a:spcPct val="110000"/>
              </a:lnSpc>
              <a:spcBef>
                <a:spcPts val="0"/>
              </a:spcBef>
              <a:spcAft>
                <a:spcPts val="0"/>
              </a:spcAft>
            </a:pPr>
            <a:r>
              <a:rPr sz="1000" b="0" i="0">
                <a:solidFill>
                  <a:srgbClr val="9CA9D0"/>
                </a:solidFill>
                <a:latin typeface="Segoe UI"/>
              </a:rPr>
              <a:t>Harmonic mean of precision &amp; recall — our model-selection metric</a:t>
            </a:r>
          </a:p>
        </p:txBody>
      </p:sp>
      <p:sp>
        <p:nvSpPr>
          <p:cNvPr id="26" name="Rounded Rectangle 25"/>
          <p:cNvSpPr/>
          <p:nvPr/>
        </p:nvSpPr>
        <p:spPr>
          <a:xfrm>
            <a:off x="548640" y="4837175"/>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exagon 26"/>
          <p:cNvSpPr/>
          <p:nvPr/>
        </p:nvSpPr>
        <p:spPr>
          <a:xfrm>
            <a:off x="914400" y="5385815"/>
            <a:ext cx="274320" cy="274320"/>
          </a:xfrm>
          <a:prstGeom prst="hexag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5528" y="5266943"/>
            <a:ext cx="128016" cy="12801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79576" y="5266943"/>
            <a:ext cx="128016" cy="12801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5528" y="5650991"/>
            <a:ext cx="128016" cy="12801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79576" y="5650991"/>
            <a:ext cx="128016" cy="12801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08760" y="4983479"/>
            <a:ext cx="4343400" cy="114300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7C3AED"/>
                </a:solidFill>
                <a:latin typeface="Segoe UI"/>
              </a:rPr>
              <a:t>ROC-AUC</a:t>
            </a:r>
          </a:p>
          <a:p>
            <a:pPr algn="l">
              <a:lnSpc>
                <a:spcPct val="100000"/>
              </a:lnSpc>
              <a:spcBef>
                <a:spcPts val="0"/>
              </a:spcBef>
              <a:spcAft>
                <a:spcPts val="200"/>
              </a:spcAft>
            </a:pPr>
            <a:r>
              <a:rPr sz="1050" b="1" i="0">
                <a:solidFill>
                  <a:srgbClr val="FFFFFF"/>
                </a:solidFill>
                <a:latin typeface="Segoe UI"/>
              </a:rPr>
              <a:t>TPR vs FPR over thresholds</a:t>
            </a:r>
          </a:p>
          <a:p>
            <a:pPr algn="l">
              <a:lnSpc>
                <a:spcPct val="110000"/>
              </a:lnSpc>
              <a:spcBef>
                <a:spcPts val="0"/>
              </a:spcBef>
              <a:spcAft>
                <a:spcPts val="0"/>
              </a:spcAft>
            </a:pPr>
            <a:r>
              <a:rPr sz="1000" b="0" i="0">
                <a:solidFill>
                  <a:srgbClr val="9CA9D0"/>
                </a:solidFill>
                <a:latin typeface="Segoe UI"/>
              </a:rPr>
              <a:t>Threshold-independent ranking quality</a:t>
            </a:r>
          </a:p>
        </p:txBody>
      </p:sp>
      <p:sp>
        <p:nvSpPr>
          <p:cNvPr id="33" name="Rounded Rectangle 32"/>
          <p:cNvSpPr/>
          <p:nvPr/>
        </p:nvSpPr>
        <p:spPr>
          <a:xfrm>
            <a:off x="6172200" y="4837175"/>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sosceles Triangle 33"/>
          <p:cNvSpPr/>
          <p:nvPr/>
        </p:nvSpPr>
        <p:spPr>
          <a:xfrm>
            <a:off x="6473952" y="5330951"/>
            <a:ext cx="402336" cy="374904"/>
          </a:xfrm>
          <a:prstGeom prst="triangl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5394959"/>
            <a:ext cx="274320" cy="274320"/>
          </a:xfrm>
          <a:prstGeom prst="rect">
            <a:avLst/>
          </a:prstGeom>
          <a:noFill/>
        </p:spPr>
        <p:txBody>
          <a:bodyPr wrap="square" anchor="t" lIns="0" rIns="0" tIns="0" bIns="0">
            <a:spAutoFit/>
          </a:bodyPr>
          <a:lstStyle/>
          <a:p>
            <a:pPr algn="ctr">
              <a:lnSpc>
                <a:spcPct val="100000"/>
              </a:lnSpc>
              <a:spcBef>
                <a:spcPts val="0"/>
              </a:spcBef>
              <a:spcAft>
                <a:spcPts val="0"/>
              </a:spcAft>
            </a:pPr>
            <a:r>
              <a:rPr sz="1800" b="1" i="0">
                <a:solidFill>
                  <a:srgbClr val="0A0E27"/>
                </a:solidFill>
                <a:latin typeface="Segoe UI"/>
              </a:rPr>
              <a:t>!</a:t>
            </a:r>
          </a:p>
        </p:txBody>
      </p:sp>
      <p:sp>
        <p:nvSpPr>
          <p:cNvPr id="36" name="TextBox 35"/>
          <p:cNvSpPr txBox="1"/>
          <p:nvPr/>
        </p:nvSpPr>
        <p:spPr>
          <a:xfrm>
            <a:off x="7132320" y="4983479"/>
            <a:ext cx="4343400" cy="114300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EF4444"/>
                </a:solidFill>
                <a:latin typeface="Segoe UI"/>
              </a:rPr>
              <a:t>PR-AUC</a:t>
            </a:r>
          </a:p>
          <a:p>
            <a:pPr algn="l">
              <a:lnSpc>
                <a:spcPct val="100000"/>
              </a:lnSpc>
              <a:spcBef>
                <a:spcPts val="0"/>
              </a:spcBef>
              <a:spcAft>
                <a:spcPts val="200"/>
              </a:spcAft>
            </a:pPr>
            <a:r>
              <a:rPr sz="1050" b="1" i="0">
                <a:solidFill>
                  <a:srgbClr val="FFFFFF"/>
                </a:solidFill>
                <a:latin typeface="Segoe UI"/>
              </a:rPr>
              <a:t>Precision vs recall over thresholds</a:t>
            </a:r>
          </a:p>
          <a:p>
            <a:pPr algn="l">
              <a:lnSpc>
                <a:spcPct val="110000"/>
              </a:lnSpc>
              <a:spcBef>
                <a:spcPts val="0"/>
              </a:spcBef>
              <a:spcAft>
                <a:spcPts val="0"/>
              </a:spcAft>
            </a:pPr>
            <a:r>
              <a:rPr sz="1000" b="0" i="0">
                <a:solidFill>
                  <a:srgbClr val="9CA9D0"/>
                </a:solidFill>
                <a:latin typeface="Segoe UI"/>
              </a:rPr>
              <a:t>Focuses on the positive (phishing) class — more honest under imbalance</a:t>
            </a:r>
          </a:p>
        </p:txBody>
      </p:sp>
      <p:sp>
        <p:nvSpPr>
          <p:cNvPr id="37" name="TextBox 36"/>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8" name="TextBox 37"/>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17 · EXPERIMENTAL RESULTS</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Experimental Results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Native editable chart — all models above 96% on every metric</a:t>
            </a:r>
          </a:p>
        </p:txBody>
      </p:sp>
      <p:graphicFrame>
        <p:nvGraphicFramePr>
          <p:cNvPr id="11" name="Chart 10"/>
          <p:cNvGraphicFramePr>
            <a:graphicFrameLocks noGrp="1"/>
          </p:cNvGraphicFramePr>
          <p:nvPr/>
        </p:nvGraphicFramePr>
        <p:xfrm>
          <a:off x="548640" y="1874519"/>
          <a:ext cx="6949440" cy="4297680"/>
        </p:xfrm>
        <a:graphic>
          <a:graphicData uri="http://schemas.openxmlformats.org/drawingml/2006/chart">
            <c:chart xmlns:c="http://schemas.openxmlformats.org/drawingml/2006/chart" r:id="rId2"/>
          </a:graphicData>
        </a:graphic>
      </p:graphicFrame>
      <p:sp>
        <p:nvSpPr>
          <p:cNvPr id="12" name="Rounded Rectangle 11"/>
          <p:cNvSpPr/>
          <p:nvPr/>
        </p:nvSpPr>
        <p:spPr>
          <a:xfrm>
            <a:off x="7818120" y="1874519"/>
            <a:ext cx="3822191" cy="201168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057399"/>
            <a:ext cx="3383280" cy="1737360"/>
          </a:xfrm>
          <a:prstGeom prst="rect">
            <a:avLst/>
          </a:prstGeom>
          <a:noFill/>
        </p:spPr>
        <p:txBody>
          <a:bodyPr wrap="square" anchor="t" lIns="0" rIns="0" tIns="0" bIns="0">
            <a:spAutoFit/>
          </a:bodyPr>
          <a:lstStyle/>
          <a:p>
            <a:pPr algn="l">
              <a:lnSpc>
                <a:spcPct val="100000"/>
              </a:lnSpc>
              <a:spcBef>
                <a:spcPts val="0"/>
              </a:spcBef>
              <a:spcAft>
                <a:spcPts val="600"/>
              </a:spcAft>
            </a:pPr>
            <a:r>
              <a:rPr sz="1350" b="1" i="0">
                <a:solidFill>
                  <a:srgbClr val="00D4FF"/>
                </a:solidFill>
                <a:latin typeface="Segoe UI"/>
              </a:rPr>
              <a:t>Key findings</a:t>
            </a:r>
          </a:p>
          <a:p>
            <a:pPr algn="l" marL="183000" indent="-183000">
              <a:lnSpc>
                <a:spcPct val="100000"/>
              </a:lnSpc>
              <a:spcBef>
                <a:spcPts val="0"/>
              </a:spcBef>
              <a:spcAft>
                <a:spcPts val="400"/>
              </a:spcAft>
            </a:pPr>
            <a:r>
              <a:rPr sz="1150" b="1">
                <a:solidFill>
                  <a:srgbClr val="00D4FF"/>
                </a:solidFill>
                <a:latin typeface="Segoe UI"/>
              </a:rPr>
              <a:t>▪  </a:t>
            </a:r>
            <a:r>
              <a:rPr sz="1150" b="0" i="0">
                <a:solidFill>
                  <a:srgbClr val="E2E8F0"/>
                </a:solidFill>
                <a:latin typeface="Segoe UI"/>
              </a:rPr>
              <a:t>Neural Network leads all four metrics.</a:t>
            </a:r>
          </a:p>
          <a:p>
            <a:pPr algn="l" marL="183000" indent="-183000">
              <a:lnSpc>
                <a:spcPct val="100000"/>
              </a:lnSpc>
              <a:spcBef>
                <a:spcPts val="0"/>
              </a:spcBef>
              <a:spcAft>
                <a:spcPts val="400"/>
              </a:spcAft>
            </a:pPr>
            <a:r>
              <a:rPr sz="1150" b="1">
                <a:solidFill>
                  <a:srgbClr val="00D4FF"/>
                </a:solidFill>
                <a:latin typeface="Segoe UI"/>
              </a:rPr>
              <a:t>▪  </a:t>
            </a:r>
            <a:r>
              <a:rPr sz="1150" b="0" i="0">
                <a:solidFill>
                  <a:srgbClr val="E2E8F0"/>
                </a:solidFill>
                <a:latin typeface="Segoe UI"/>
              </a:rPr>
              <a:t>Naive Bayes trails on recall (93.95%) — misses more phishing.</a:t>
            </a:r>
          </a:p>
          <a:p>
            <a:pPr algn="l" marL="183000" indent="-183000">
              <a:lnSpc>
                <a:spcPct val="100000"/>
              </a:lnSpc>
              <a:spcBef>
                <a:spcPts val="0"/>
              </a:spcBef>
              <a:spcAft>
                <a:spcPts val="400"/>
              </a:spcAft>
            </a:pPr>
            <a:r>
              <a:rPr sz="1150" b="1">
                <a:solidFill>
                  <a:srgbClr val="00D4FF"/>
                </a:solidFill>
                <a:latin typeface="Segoe UI"/>
              </a:rPr>
              <a:t>▪  </a:t>
            </a:r>
            <a:r>
              <a:rPr sz="1150" b="0" i="0">
                <a:solidFill>
                  <a:srgbClr val="E2E8F0"/>
                </a:solidFill>
                <a:latin typeface="Segoe UI"/>
              </a:rPr>
              <a:t>Logistic Regression: 98.89% accuracy in 5.8 s — best cost/accuracy.</a:t>
            </a:r>
          </a:p>
        </p:txBody>
      </p:sp>
      <p:sp>
        <p:nvSpPr>
          <p:cNvPr id="14" name="Rounded Rectangle 13"/>
          <p:cNvSpPr/>
          <p:nvPr/>
        </p:nvSpPr>
        <p:spPr>
          <a:xfrm>
            <a:off x="7818120" y="4069079"/>
            <a:ext cx="3822191" cy="201168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251959"/>
            <a:ext cx="3383280" cy="1737360"/>
          </a:xfrm>
          <a:prstGeom prst="rect">
            <a:avLst/>
          </a:prstGeom>
          <a:noFill/>
        </p:spPr>
        <p:txBody>
          <a:bodyPr wrap="square" anchor="t" lIns="0" rIns="0" tIns="0" bIns="0">
            <a:spAutoFit/>
          </a:bodyPr>
          <a:lstStyle/>
          <a:p>
            <a:pPr algn="l">
              <a:lnSpc>
                <a:spcPct val="100000"/>
              </a:lnSpc>
              <a:spcBef>
                <a:spcPts val="0"/>
              </a:spcBef>
              <a:spcAft>
                <a:spcPts val="600"/>
              </a:spcAft>
            </a:pPr>
            <a:r>
              <a:rPr sz="1350" b="1" i="0">
                <a:solidFill>
                  <a:srgbClr val="10B981"/>
                </a:solidFill>
                <a:latin typeface="Segoe UI"/>
              </a:rPr>
              <a:t>Winner: Neural Network</a:t>
            </a:r>
          </a:p>
          <a:p>
            <a:pPr algn="l">
              <a:lnSpc>
                <a:spcPct val="100000"/>
              </a:lnSpc>
              <a:spcBef>
                <a:spcPts val="0"/>
              </a:spcBef>
              <a:spcAft>
                <a:spcPts val="400"/>
              </a:spcAft>
            </a:pPr>
            <a:r>
              <a:rPr sz="1200" b="1" i="0">
                <a:solidFill>
                  <a:srgbClr val="FFFFFF"/>
                </a:solidFill>
                <a:latin typeface="Segoe UI"/>
              </a:rPr>
              <a:t>Accuracy 99.31% · F1 99.34%</a:t>
            </a:r>
          </a:p>
          <a:p>
            <a:pPr algn="l">
              <a:lnSpc>
                <a:spcPct val="100000"/>
              </a:lnSpc>
              <a:spcBef>
                <a:spcPts val="0"/>
              </a:spcBef>
              <a:spcAft>
                <a:spcPts val="400"/>
              </a:spcAft>
            </a:pPr>
            <a:r>
              <a:rPr sz="1200" b="1" i="0">
                <a:solidFill>
                  <a:srgbClr val="FFFFFF"/>
                </a:solidFill>
                <a:latin typeface="Segoe UI"/>
              </a:rPr>
              <a:t>ROC-AUC 99.96% · PR-AUC 99.96%</a:t>
            </a:r>
          </a:p>
          <a:p>
            <a:pPr algn="l">
              <a:lnSpc>
                <a:spcPct val="100000"/>
              </a:lnSpc>
              <a:spcBef>
                <a:spcPts val="0"/>
              </a:spcBef>
              <a:spcAft>
                <a:spcPts val="0"/>
              </a:spcAft>
            </a:pPr>
            <a:r>
              <a:rPr sz="1100" b="0" i="0">
                <a:solidFill>
                  <a:srgbClr val="9CA9D0"/>
                </a:solidFill>
                <a:latin typeface="Segoe UI"/>
              </a:rPr>
              <a:t>Prediction ≈ 0.6 s per email</a:t>
            </a:r>
          </a:p>
        </p:txBody>
      </p:sp>
      <p:sp>
        <p:nvSpPr>
          <p:cNvPr id="16" name="TextBox 15"/>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17" name="TextBox 16"/>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18 · CONFUSION MATRIX</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Confusion Matrices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All six classifiers on the held-out test set (25,486 emails)</a:t>
            </a:r>
          </a:p>
        </p:txBody>
      </p:sp>
      <p:pic>
        <p:nvPicPr>
          <p:cNvPr id="11" name="Picture 10" descr="confusion_matrices.png"/>
          <p:cNvPicPr>
            <a:picLocks noChangeAspect="1"/>
          </p:cNvPicPr>
          <p:nvPr/>
        </p:nvPicPr>
        <p:blipFill>
          <a:blip r:embed="rId2"/>
          <a:stretch>
            <a:fillRect/>
          </a:stretch>
        </p:blipFill>
        <p:spPr>
          <a:xfrm>
            <a:off x="548640" y="2155389"/>
            <a:ext cx="6766560" cy="3873098"/>
          </a:xfrm>
          <a:prstGeom prst="rect">
            <a:avLst/>
          </a:prstGeom>
        </p:spPr>
      </p:pic>
      <p:sp>
        <p:nvSpPr>
          <p:cNvPr id="12" name="Rectangle 11"/>
          <p:cNvSpPr/>
          <p:nvPr/>
        </p:nvSpPr>
        <p:spPr>
          <a:xfrm>
            <a:off x="548640" y="2155389"/>
            <a:ext cx="6766560" cy="3873098"/>
          </a:xfrm>
          <a:prstGeom prst="rect">
            <a:avLst/>
          </a:prstGeom>
          <a:no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144768"/>
            <a:ext cx="6766560" cy="274320"/>
          </a:xfrm>
          <a:prstGeom prst="rect">
            <a:avLst/>
          </a:prstGeom>
          <a:noFill/>
        </p:spPr>
        <p:txBody>
          <a:bodyPr wrap="square" anchor="t" lIns="0" rIns="0" tIns="0" bIns="0">
            <a:spAutoFit/>
          </a:bodyPr>
          <a:lstStyle/>
          <a:p>
            <a:pPr algn="ctr">
              <a:lnSpc>
                <a:spcPct val="100000"/>
              </a:lnSpc>
              <a:spcBef>
                <a:spcPts val="0"/>
              </a:spcBef>
              <a:spcAft>
                <a:spcPts val="0"/>
              </a:spcAft>
            </a:pPr>
            <a:r>
              <a:rPr sz="950" b="0" i="0">
                <a:solidFill>
                  <a:srgbClr val="9CA9D0"/>
                </a:solidFill>
                <a:latin typeface="Segoe UI"/>
              </a:rPr>
              <a:t>Figure: generated by evaluate_models.py for every model</a:t>
            </a:r>
          </a:p>
        </p:txBody>
      </p:sp>
      <p:sp>
        <p:nvSpPr>
          <p:cNvPr id="14" name="Rounded Rectangle 13"/>
          <p:cNvSpPr/>
          <p:nvPr/>
        </p:nvSpPr>
        <p:spPr>
          <a:xfrm>
            <a:off x="7635240" y="1874519"/>
            <a:ext cx="4005072" cy="224028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2039111"/>
            <a:ext cx="3566160" cy="196596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00D4FF"/>
                </a:solidFill>
                <a:latin typeface="Segoe UI"/>
              </a:rPr>
              <a:t>Reading a confusion matrix</a:t>
            </a:r>
          </a:p>
          <a:p>
            <a:pPr algn="l">
              <a:lnSpc>
                <a:spcPct val="100000"/>
              </a:lnSpc>
              <a:spcBef>
                <a:spcPts val="0"/>
              </a:spcBef>
              <a:spcAft>
                <a:spcPts val="400"/>
              </a:spcAft>
            </a:pPr>
            <a:r>
              <a:rPr sz="1100" b="0" i="0">
                <a:solidFill>
                  <a:srgbClr val="E2E8F0"/>
                </a:solidFill>
                <a:latin typeface="Segoe UI"/>
              </a:rPr>
              <a:t>Rows = actual · Columns = predicted</a:t>
            </a:r>
          </a:p>
          <a:p>
            <a:pPr algn="l">
              <a:lnSpc>
                <a:spcPct val="100000"/>
              </a:lnSpc>
              <a:spcBef>
                <a:spcPts val="0"/>
              </a:spcBef>
              <a:spcAft>
                <a:spcPts val="0"/>
              </a:spcAft>
            </a:pPr>
            <a:r>
              <a:rPr sz="1100" b="0" i="0">
                <a:solidFill>
                  <a:srgbClr val="E2E8F0"/>
                </a:solidFill>
                <a:latin typeface="Segoe UI"/>
              </a:rPr>
              <a:t>Diagonal = correct; off-diagonal = errors</a:t>
            </a:r>
          </a:p>
        </p:txBody>
      </p:sp>
      <p:sp>
        <p:nvSpPr>
          <p:cNvPr id="16" name="Rounded Rectangle 15"/>
          <p:cNvSpPr/>
          <p:nvPr/>
        </p:nvSpPr>
        <p:spPr>
          <a:xfrm>
            <a:off x="7635240" y="4251959"/>
            <a:ext cx="4005072" cy="214884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416551"/>
            <a:ext cx="3566160" cy="1874519"/>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10B981"/>
                </a:solidFill>
                <a:latin typeface="Segoe UI"/>
              </a:rPr>
              <a:t>Neural Network (best model)</a:t>
            </a:r>
          </a:p>
          <a:p>
            <a:pPr algn="l" marL="183000" indent="-183000">
              <a:lnSpc>
                <a:spcPct val="100000"/>
              </a:lnSpc>
              <a:spcBef>
                <a:spcPts val="0"/>
              </a:spcBef>
              <a:spcAft>
                <a:spcPts val="350"/>
              </a:spcAft>
            </a:pPr>
            <a:r>
              <a:rPr sz="1100" b="1">
                <a:solidFill>
                  <a:srgbClr val="10B981"/>
                </a:solidFill>
                <a:latin typeface="Segoe UI"/>
              </a:rPr>
              <a:t>▪  </a:t>
            </a:r>
            <a:r>
              <a:rPr sz="1100" b="0" i="0">
                <a:solidFill>
                  <a:srgbClr val="E2E8F0"/>
                </a:solidFill>
                <a:latin typeface="Segoe UI"/>
              </a:rPr>
              <a:t>12,239 legitimate correctly classified (TN)</a:t>
            </a:r>
          </a:p>
          <a:p>
            <a:pPr algn="l" marL="183000" indent="-183000">
              <a:lnSpc>
                <a:spcPct val="100000"/>
              </a:lnSpc>
              <a:spcBef>
                <a:spcPts val="0"/>
              </a:spcBef>
              <a:spcAft>
                <a:spcPts val="350"/>
              </a:spcAft>
            </a:pPr>
            <a:r>
              <a:rPr sz="1100" b="1">
                <a:solidFill>
                  <a:srgbClr val="10B981"/>
                </a:solidFill>
                <a:latin typeface="Segoe UI"/>
              </a:rPr>
              <a:t>▪  </a:t>
            </a:r>
            <a:r>
              <a:rPr sz="1100" b="0" i="0">
                <a:solidFill>
                  <a:srgbClr val="E2E8F0"/>
                </a:solidFill>
                <a:latin typeface="Segoe UI"/>
              </a:rPr>
              <a:t>67 legitimate falsely flagged (FP)</a:t>
            </a:r>
          </a:p>
          <a:p>
            <a:pPr algn="l" marL="183000" indent="-183000">
              <a:lnSpc>
                <a:spcPct val="100000"/>
              </a:lnSpc>
              <a:spcBef>
                <a:spcPts val="0"/>
              </a:spcBef>
              <a:spcAft>
                <a:spcPts val="350"/>
              </a:spcAft>
            </a:pPr>
            <a:r>
              <a:rPr sz="1100" b="1">
                <a:solidFill>
                  <a:srgbClr val="10B981"/>
                </a:solidFill>
                <a:latin typeface="Segoe UI"/>
              </a:rPr>
              <a:t>▪  </a:t>
            </a:r>
            <a:r>
              <a:rPr sz="1100" b="0" i="0">
                <a:solidFill>
                  <a:srgbClr val="E2E8F0"/>
                </a:solidFill>
                <a:latin typeface="Segoe UI"/>
              </a:rPr>
              <a:t>108 phishing missed (FN) — the dangerous cases</a:t>
            </a:r>
          </a:p>
          <a:p>
            <a:pPr algn="l" marL="183000" indent="-183000">
              <a:lnSpc>
                <a:spcPct val="100000"/>
              </a:lnSpc>
              <a:spcBef>
                <a:spcPts val="0"/>
              </a:spcBef>
              <a:spcAft>
                <a:spcPts val="350"/>
              </a:spcAft>
            </a:pPr>
            <a:r>
              <a:rPr sz="1100" b="1">
                <a:solidFill>
                  <a:srgbClr val="10B981"/>
                </a:solidFill>
                <a:latin typeface="Segoe UI"/>
              </a:rPr>
              <a:t>▪  </a:t>
            </a:r>
            <a:r>
              <a:rPr sz="1100" b="0" i="0">
                <a:solidFill>
                  <a:srgbClr val="E2E8F0"/>
                </a:solidFill>
                <a:latin typeface="Segoe UI"/>
              </a:rPr>
              <a:t>13,072 phishing correctly caught (TP)</a:t>
            </a:r>
          </a:p>
        </p:txBody>
      </p:sp>
      <p:sp>
        <p:nvSpPr>
          <p:cNvPr id="18" name="TextBox 17"/>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19" name="TextBox 18"/>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19 · ROC CURVE</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ROC Curves — All Models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AUC 0.9957 → 0.9996 — all models near-perfect ranking</a:t>
            </a:r>
          </a:p>
        </p:txBody>
      </p:sp>
      <p:pic>
        <p:nvPicPr>
          <p:cNvPr id="11" name="Picture 10" descr="roc_curves.png"/>
          <p:cNvPicPr>
            <a:picLocks noChangeAspect="1"/>
          </p:cNvPicPr>
          <p:nvPr/>
        </p:nvPicPr>
        <p:blipFill>
          <a:blip r:embed="rId2"/>
          <a:stretch>
            <a:fillRect/>
          </a:stretch>
        </p:blipFill>
        <p:spPr>
          <a:xfrm>
            <a:off x="1501320" y="1874519"/>
            <a:ext cx="5501278" cy="4389120"/>
          </a:xfrm>
          <a:prstGeom prst="rect">
            <a:avLst/>
          </a:prstGeom>
        </p:spPr>
      </p:pic>
      <p:sp>
        <p:nvSpPr>
          <p:cNvPr id="12" name="Rectangle 11"/>
          <p:cNvSpPr/>
          <p:nvPr/>
        </p:nvSpPr>
        <p:spPr>
          <a:xfrm>
            <a:off x="1501320" y="1874519"/>
            <a:ext cx="5501278" cy="4389120"/>
          </a:xfrm>
          <a:prstGeom prst="rect">
            <a:avLst/>
          </a:prstGeom>
          <a:no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75319" y="1874519"/>
            <a:ext cx="3364992" cy="228600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19" y="2057399"/>
            <a:ext cx="2926080" cy="19659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00D4FF"/>
                </a:solidFill>
                <a:latin typeface="Segoe UI"/>
              </a:rPr>
              <a:t>How to read it</a:t>
            </a:r>
          </a:p>
          <a:p>
            <a:pPr algn="l">
              <a:lnSpc>
                <a:spcPct val="120000"/>
              </a:lnSpc>
              <a:spcBef>
                <a:spcPts val="0"/>
              </a:spcBef>
              <a:spcAft>
                <a:spcPts val="800"/>
              </a:spcAft>
            </a:pPr>
            <a:r>
              <a:rPr sz="1150" b="0" i="0">
                <a:solidFill>
                  <a:srgbClr val="9CA9D0"/>
                </a:solidFill>
                <a:latin typeface="Segoe UI"/>
              </a:rPr>
              <a:t>TPR vs FPR across all thresholds — the higher the curve, the better.</a:t>
            </a:r>
          </a:p>
          <a:p>
            <a:pPr algn="l">
              <a:lnSpc>
                <a:spcPct val="100000"/>
              </a:lnSpc>
              <a:spcBef>
                <a:spcPts val="0"/>
              </a:spcBef>
              <a:spcAft>
                <a:spcPts val="800"/>
              </a:spcAft>
            </a:pPr>
            <a:r>
              <a:rPr sz="1150" b="0" i="0">
                <a:solidFill>
                  <a:srgbClr val="E2E8F0"/>
                </a:solidFill>
                <a:latin typeface="Segoe UI"/>
              </a:rPr>
              <a:t>AUC 1.0 = perfect · 0.5 = random.</a:t>
            </a:r>
          </a:p>
        </p:txBody>
      </p:sp>
      <p:sp>
        <p:nvSpPr>
          <p:cNvPr id="15" name="Rounded Rectangle 14"/>
          <p:cNvSpPr/>
          <p:nvPr/>
        </p:nvSpPr>
        <p:spPr>
          <a:xfrm>
            <a:off x="8275319" y="4343399"/>
            <a:ext cx="3364992" cy="210312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19" y="4526279"/>
            <a:ext cx="2926080" cy="182880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10B981"/>
                </a:solidFill>
                <a:latin typeface="Segoe UI"/>
              </a:rPr>
              <a:t>Top AUC values</a:t>
            </a:r>
          </a:p>
          <a:p>
            <a:pPr algn="l" marL="183000" indent="-183000">
              <a:lnSpc>
                <a:spcPct val="100000"/>
              </a:lnSpc>
              <a:spcBef>
                <a:spcPts val="0"/>
              </a:spcBef>
              <a:spcAft>
                <a:spcPts val="300"/>
              </a:spcAft>
            </a:pPr>
            <a:r>
              <a:rPr sz="1150" b="1">
                <a:solidFill>
                  <a:srgbClr val="10B981"/>
                </a:solidFill>
                <a:latin typeface="Segoe UI"/>
              </a:rPr>
              <a:t>▪  </a:t>
            </a:r>
            <a:r>
              <a:rPr sz="1150" b="0" i="0">
                <a:solidFill>
                  <a:srgbClr val="E2E8F0"/>
                </a:solidFill>
                <a:latin typeface="Segoe UI"/>
              </a:rPr>
              <a:t>Neural Network  0.9996</a:t>
            </a:r>
          </a:p>
          <a:p>
            <a:pPr algn="l" marL="183000" indent="-183000">
              <a:lnSpc>
                <a:spcPct val="100000"/>
              </a:lnSpc>
              <a:spcBef>
                <a:spcPts val="0"/>
              </a:spcBef>
              <a:spcAft>
                <a:spcPts val="300"/>
              </a:spcAft>
            </a:pPr>
            <a:r>
              <a:rPr sz="1150" b="1">
                <a:solidFill>
                  <a:srgbClr val="10B981"/>
                </a:solidFill>
                <a:latin typeface="Segoe UI"/>
              </a:rPr>
              <a:t>▪  </a:t>
            </a:r>
            <a:r>
              <a:rPr sz="1150" b="0" i="0">
                <a:solidFill>
                  <a:srgbClr val="E2E8F0"/>
                </a:solidFill>
                <a:latin typeface="Segoe UI"/>
              </a:rPr>
              <a:t>LightGBM        0.9994</a:t>
            </a:r>
          </a:p>
          <a:p>
            <a:pPr algn="l" marL="183000" indent="-183000">
              <a:lnSpc>
                <a:spcPct val="100000"/>
              </a:lnSpc>
              <a:spcBef>
                <a:spcPts val="0"/>
              </a:spcBef>
              <a:spcAft>
                <a:spcPts val="300"/>
              </a:spcAft>
            </a:pPr>
            <a:r>
              <a:rPr sz="1150" b="1">
                <a:solidFill>
                  <a:srgbClr val="10B981"/>
                </a:solidFill>
                <a:latin typeface="Segoe UI"/>
              </a:rPr>
              <a:t>▪  </a:t>
            </a:r>
            <a:r>
              <a:rPr sz="1150" b="0" i="0">
                <a:solidFill>
                  <a:srgbClr val="E2E8F0"/>
                </a:solidFill>
                <a:latin typeface="Segoe UI"/>
              </a:rPr>
              <a:t>Logistic Regr.  0.9992</a:t>
            </a:r>
          </a:p>
        </p:txBody>
      </p:sp>
      <p:sp>
        <p:nvSpPr>
          <p:cNvPr id="17" name="TextBox 16"/>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18" name="TextBox 17"/>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20 · PRECISION-RECALL</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Precision-Recall Curves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PR-AUC 0.9958 → 0.9996 — the phishing-class view</a:t>
            </a:r>
          </a:p>
        </p:txBody>
      </p:sp>
      <p:pic>
        <p:nvPicPr>
          <p:cNvPr id="11" name="Picture 10" descr="precision_recall_curves.png"/>
          <p:cNvPicPr>
            <a:picLocks noChangeAspect="1"/>
          </p:cNvPicPr>
          <p:nvPr/>
        </p:nvPicPr>
        <p:blipFill>
          <a:blip r:embed="rId2"/>
          <a:stretch>
            <a:fillRect/>
          </a:stretch>
        </p:blipFill>
        <p:spPr>
          <a:xfrm>
            <a:off x="1501320" y="1874519"/>
            <a:ext cx="5501278" cy="4389120"/>
          </a:xfrm>
          <a:prstGeom prst="rect">
            <a:avLst/>
          </a:prstGeom>
        </p:spPr>
      </p:pic>
      <p:sp>
        <p:nvSpPr>
          <p:cNvPr id="12" name="Rectangle 11"/>
          <p:cNvSpPr/>
          <p:nvPr/>
        </p:nvSpPr>
        <p:spPr>
          <a:xfrm>
            <a:off x="1501320" y="1874519"/>
            <a:ext cx="5501278" cy="4389120"/>
          </a:xfrm>
          <a:prstGeom prst="rect">
            <a:avLst/>
          </a:prstGeom>
          <a:no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75319" y="1874519"/>
            <a:ext cx="3364992" cy="228600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19" y="2057399"/>
            <a:ext cx="2926080" cy="19659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F59E0B"/>
                </a:solidFill>
                <a:latin typeface="Segoe UI"/>
              </a:rPr>
              <a:t>Why PR over ROC?</a:t>
            </a:r>
          </a:p>
          <a:p>
            <a:pPr algn="l">
              <a:lnSpc>
                <a:spcPct val="120000"/>
              </a:lnSpc>
              <a:spcBef>
                <a:spcPts val="0"/>
              </a:spcBef>
              <a:spcAft>
                <a:spcPts val="800"/>
              </a:spcAft>
            </a:pPr>
            <a:r>
              <a:rPr sz="1150" b="0" i="0">
                <a:solidFill>
                  <a:srgbClr val="9CA9D0"/>
                </a:solidFill>
                <a:latin typeface="Segoe UI"/>
              </a:rPr>
              <a:t>Focuses on the positive (phishing) class only — more honest when classes are imbalanced.</a:t>
            </a:r>
          </a:p>
          <a:p>
            <a:pPr algn="l">
              <a:lnSpc>
                <a:spcPct val="100000"/>
              </a:lnSpc>
              <a:spcBef>
                <a:spcPts val="0"/>
              </a:spcBef>
              <a:spcAft>
                <a:spcPts val="0"/>
              </a:spcAft>
            </a:pPr>
            <a:r>
              <a:rPr sz="1150" b="0" i="0">
                <a:solidFill>
                  <a:srgbClr val="E2E8F0"/>
                </a:solidFill>
                <a:latin typeface="Segoe UI"/>
              </a:rPr>
              <a:t>High precision = few false alarms; high recall = few missed attacks.</a:t>
            </a:r>
          </a:p>
        </p:txBody>
      </p:sp>
      <p:sp>
        <p:nvSpPr>
          <p:cNvPr id="15" name="Rounded Rectangle 14"/>
          <p:cNvSpPr/>
          <p:nvPr/>
        </p:nvSpPr>
        <p:spPr>
          <a:xfrm>
            <a:off x="8275319" y="4343399"/>
            <a:ext cx="3364992" cy="210312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19" y="4526279"/>
            <a:ext cx="2926080" cy="1828800"/>
          </a:xfrm>
          <a:prstGeom prst="rect">
            <a:avLst/>
          </a:prstGeom>
          <a:noFill/>
        </p:spPr>
        <p:txBody>
          <a:bodyPr wrap="square" anchor="t" lIns="0" rIns="0" tIns="0" bIns="0">
            <a:spAutoFit/>
          </a:bodyPr>
          <a:lstStyle/>
          <a:p>
            <a:pPr algn="l">
              <a:lnSpc>
                <a:spcPct val="100000"/>
              </a:lnSpc>
              <a:spcBef>
                <a:spcPts val="0"/>
              </a:spcBef>
              <a:spcAft>
                <a:spcPts val="500"/>
              </a:spcAft>
            </a:pPr>
            <a:r>
              <a:rPr sz="1300" b="1" i="0">
                <a:solidFill>
                  <a:srgbClr val="10B981"/>
                </a:solidFill>
                <a:latin typeface="Segoe UI"/>
              </a:rPr>
              <a:t>Top PR-AUC values</a:t>
            </a:r>
          </a:p>
          <a:p>
            <a:pPr algn="l" marL="183000" indent="-183000">
              <a:lnSpc>
                <a:spcPct val="100000"/>
              </a:lnSpc>
              <a:spcBef>
                <a:spcPts val="0"/>
              </a:spcBef>
              <a:spcAft>
                <a:spcPts val="300"/>
              </a:spcAft>
            </a:pPr>
            <a:r>
              <a:rPr sz="1150" b="1">
                <a:solidFill>
                  <a:srgbClr val="10B981"/>
                </a:solidFill>
                <a:latin typeface="Segoe UI"/>
              </a:rPr>
              <a:t>▪  </a:t>
            </a:r>
            <a:r>
              <a:rPr sz="1150" b="0" i="0">
                <a:solidFill>
                  <a:srgbClr val="E2E8F0"/>
                </a:solidFill>
                <a:latin typeface="Segoe UI"/>
              </a:rPr>
              <a:t>Neural Network  0.9996</a:t>
            </a:r>
          </a:p>
          <a:p>
            <a:pPr algn="l" marL="183000" indent="-183000">
              <a:lnSpc>
                <a:spcPct val="100000"/>
              </a:lnSpc>
              <a:spcBef>
                <a:spcPts val="0"/>
              </a:spcBef>
              <a:spcAft>
                <a:spcPts val="300"/>
              </a:spcAft>
            </a:pPr>
            <a:r>
              <a:rPr sz="1150" b="1">
                <a:solidFill>
                  <a:srgbClr val="10B981"/>
                </a:solidFill>
                <a:latin typeface="Segoe UI"/>
              </a:rPr>
              <a:t>▪  </a:t>
            </a:r>
            <a:r>
              <a:rPr sz="1150" b="0" i="0">
                <a:solidFill>
                  <a:srgbClr val="E2E8F0"/>
                </a:solidFill>
                <a:latin typeface="Segoe UI"/>
              </a:rPr>
              <a:t>LightGBM        0.9995</a:t>
            </a:r>
          </a:p>
          <a:p>
            <a:pPr algn="l" marL="183000" indent="-183000">
              <a:lnSpc>
                <a:spcPct val="100000"/>
              </a:lnSpc>
              <a:spcBef>
                <a:spcPts val="0"/>
              </a:spcBef>
              <a:spcAft>
                <a:spcPts val="300"/>
              </a:spcAft>
            </a:pPr>
            <a:r>
              <a:rPr sz="1150" b="1">
                <a:solidFill>
                  <a:srgbClr val="10B981"/>
                </a:solidFill>
                <a:latin typeface="Segoe UI"/>
              </a:rPr>
              <a:t>▪  </a:t>
            </a:r>
            <a:r>
              <a:rPr sz="1150" b="0" i="0">
                <a:solidFill>
                  <a:srgbClr val="E2E8F0"/>
                </a:solidFill>
                <a:latin typeface="Segoe UI"/>
              </a:rPr>
              <a:t>Logistic Regr.  0.9992</a:t>
            </a:r>
          </a:p>
        </p:txBody>
      </p:sp>
      <p:sp>
        <p:nvSpPr>
          <p:cNvPr id="17" name="TextBox 16"/>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18" name="TextBox 17"/>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21 · ARCHITECTURE</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System Architecture</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Modular layers — data → ML → inference → interfaces</a:t>
            </a:r>
          </a:p>
        </p:txBody>
      </p:sp>
      <p:pic>
        <p:nvPicPr>
          <p:cNvPr id="11" name="Picture 10" descr="fig_system_architecture.png"/>
          <p:cNvPicPr>
            <a:picLocks noChangeAspect="1"/>
          </p:cNvPicPr>
          <p:nvPr/>
        </p:nvPicPr>
        <p:blipFill>
          <a:blip r:embed="rId2"/>
          <a:stretch>
            <a:fillRect/>
          </a:stretch>
        </p:blipFill>
        <p:spPr>
          <a:xfrm>
            <a:off x="1066438" y="1783079"/>
            <a:ext cx="6462482" cy="4480560"/>
          </a:xfrm>
          <a:prstGeom prst="rect">
            <a:avLst/>
          </a:prstGeom>
        </p:spPr>
      </p:pic>
      <p:sp>
        <p:nvSpPr>
          <p:cNvPr id="12" name="Rectangle 11"/>
          <p:cNvSpPr/>
          <p:nvPr/>
        </p:nvSpPr>
        <p:spPr>
          <a:xfrm>
            <a:off x="1066438" y="1783079"/>
            <a:ext cx="6462482" cy="4480560"/>
          </a:xfrm>
          <a:prstGeom prst="rect">
            <a:avLst/>
          </a:prstGeom>
          <a:no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863840" y="1874519"/>
            <a:ext cx="3776472" cy="2212848"/>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2057399"/>
            <a:ext cx="3337560" cy="192024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00D4FF"/>
                </a:solidFill>
                <a:latin typeface="Segoe UI"/>
              </a:rPr>
              <a:t>Layers</a:t>
            </a:r>
          </a:p>
          <a:p>
            <a:pPr algn="l" marL="183000" indent="-183000">
              <a:lnSpc>
                <a:spcPct val="100000"/>
              </a:lnSpc>
              <a:spcBef>
                <a:spcPts val="0"/>
              </a:spcBef>
              <a:spcAft>
                <a:spcPts val="400"/>
              </a:spcAft>
            </a:pPr>
            <a:r>
              <a:rPr sz="1150" b="1">
                <a:solidFill>
                  <a:srgbClr val="00D4FF"/>
                </a:solidFill>
                <a:latin typeface="Segoe UI"/>
              </a:rPr>
              <a:t>▪  </a:t>
            </a:r>
            <a:r>
              <a:rPr sz="1150" b="0" i="0">
                <a:solidFill>
                  <a:srgbClr val="E2E8F0"/>
                </a:solidFill>
                <a:latin typeface="Segoe UI"/>
              </a:rPr>
              <a:t>dataset/ — raw + processed data</a:t>
            </a:r>
          </a:p>
          <a:p>
            <a:pPr algn="l" marL="183000" indent="-183000">
              <a:lnSpc>
                <a:spcPct val="100000"/>
              </a:lnSpc>
              <a:spcBef>
                <a:spcPts val="0"/>
              </a:spcBef>
              <a:spcAft>
                <a:spcPts val="400"/>
              </a:spcAft>
            </a:pPr>
            <a:r>
              <a:rPr sz="1150" b="1">
                <a:solidFill>
                  <a:srgbClr val="00D4FF"/>
                </a:solidFill>
                <a:latin typeface="Segoe UI"/>
              </a:rPr>
              <a:t>▪  </a:t>
            </a:r>
            <a:r>
              <a:rPr sz="1150" b="0" i="0">
                <a:solidFill>
                  <a:srgbClr val="E2E8F0"/>
                </a:solidFill>
                <a:latin typeface="Segoe UI"/>
              </a:rPr>
              <a:t>src/ — pipeline, models, evaluation, API</a:t>
            </a:r>
          </a:p>
          <a:p>
            <a:pPr algn="l" marL="183000" indent="-183000">
              <a:lnSpc>
                <a:spcPct val="100000"/>
              </a:lnSpc>
              <a:spcBef>
                <a:spcPts val="0"/>
              </a:spcBef>
              <a:spcAft>
                <a:spcPts val="400"/>
              </a:spcAft>
            </a:pPr>
            <a:r>
              <a:rPr sz="1150" b="1">
                <a:solidFill>
                  <a:srgbClr val="00D4FF"/>
                </a:solidFill>
                <a:latin typeface="Segoe UI"/>
              </a:rPr>
              <a:t>▪  </a:t>
            </a:r>
            <a:r>
              <a:rPr sz="1150" b="0" i="0">
                <a:solidFill>
                  <a:srgbClr val="E2E8F0"/>
                </a:solidFill>
                <a:latin typeface="Segoe UI"/>
              </a:rPr>
              <a:t>app/ — Streamlit multipage UI</a:t>
            </a:r>
          </a:p>
          <a:p>
            <a:pPr algn="l" marL="183000" indent="-183000">
              <a:lnSpc>
                <a:spcPct val="100000"/>
              </a:lnSpc>
              <a:spcBef>
                <a:spcPts val="0"/>
              </a:spcBef>
              <a:spcAft>
                <a:spcPts val="400"/>
              </a:spcAft>
            </a:pPr>
            <a:r>
              <a:rPr sz="1150" b="1">
                <a:solidFill>
                  <a:srgbClr val="00D4FF"/>
                </a:solidFill>
                <a:latin typeface="Segoe UI"/>
              </a:rPr>
              <a:t>▪  </a:t>
            </a:r>
            <a:r>
              <a:rPr sz="1150" b="0" i="0">
                <a:solidFill>
                  <a:srgbClr val="E2E8F0"/>
                </a:solidFill>
                <a:latin typeface="Segoe UI"/>
              </a:rPr>
              <a:t>models/ · reports/ · images/ — artifacts</a:t>
            </a:r>
          </a:p>
        </p:txBody>
      </p:sp>
      <p:sp>
        <p:nvSpPr>
          <p:cNvPr id="15" name="Rounded Rectangle 14"/>
          <p:cNvSpPr/>
          <p:nvPr/>
        </p:nvSpPr>
        <p:spPr>
          <a:xfrm>
            <a:off x="7863840" y="4270247"/>
            <a:ext cx="3776472" cy="214884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4453127"/>
            <a:ext cx="3337560" cy="1874519"/>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10B981"/>
                </a:solidFill>
                <a:latin typeface="Segoe UI"/>
              </a:rPr>
              <a:t>Design principles</a:t>
            </a:r>
          </a:p>
          <a:p>
            <a:pPr algn="l" marL="183000" indent="-183000">
              <a:lnSpc>
                <a:spcPct val="100000"/>
              </a:lnSpc>
              <a:spcBef>
                <a:spcPts val="0"/>
              </a:spcBef>
              <a:spcAft>
                <a:spcPts val="400"/>
              </a:spcAft>
            </a:pPr>
            <a:r>
              <a:rPr sz="1150" b="1">
                <a:solidFill>
                  <a:srgbClr val="10B981"/>
                </a:solidFill>
                <a:latin typeface="Segoe UI"/>
              </a:rPr>
              <a:t>▪  </a:t>
            </a:r>
            <a:r>
              <a:rPr sz="1150" b="0" i="0">
                <a:solidFill>
                  <a:srgbClr val="E2E8F0"/>
                </a:solidFill>
                <a:latin typeface="Segoe UI"/>
              </a:rPr>
              <a:t>Config-driven (src/config.py) — no magic numbers</a:t>
            </a:r>
          </a:p>
          <a:p>
            <a:pPr algn="l" marL="183000" indent="-183000">
              <a:lnSpc>
                <a:spcPct val="100000"/>
              </a:lnSpc>
              <a:spcBef>
                <a:spcPts val="0"/>
              </a:spcBef>
              <a:spcAft>
                <a:spcPts val="400"/>
              </a:spcAft>
            </a:pPr>
            <a:r>
              <a:rPr sz="1150" b="1">
                <a:solidFill>
                  <a:srgbClr val="10B981"/>
                </a:solidFill>
                <a:latin typeface="Segoe UI"/>
              </a:rPr>
              <a:t>▪  </a:t>
            </a:r>
            <a:r>
              <a:rPr sz="1150" b="0" i="0">
                <a:solidFill>
                  <a:srgbClr val="E2E8F0"/>
                </a:solidFill>
                <a:latin typeface="Segoe UI"/>
              </a:rPr>
              <a:t>Fit-on-train-only to prevent leakage</a:t>
            </a:r>
          </a:p>
          <a:p>
            <a:pPr algn="l" marL="183000" indent="-183000">
              <a:lnSpc>
                <a:spcPct val="100000"/>
              </a:lnSpc>
              <a:spcBef>
                <a:spcPts val="0"/>
              </a:spcBef>
              <a:spcAft>
                <a:spcPts val="400"/>
              </a:spcAft>
            </a:pPr>
            <a:r>
              <a:rPr sz="1150" b="1">
                <a:solidFill>
                  <a:srgbClr val="10B981"/>
                </a:solidFill>
                <a:latin typeface="Segoe UI"/>
              </a:rPr>
              <a:t>▪  </a:t>
            </a:r>
            <a:r>
              <a:rPr sz="1150" b="0" i="0">
                <a:solidFill>
                  <a:srgbClr val="E2E8F0"/>
                </a:solidFill>
                <a:latin typeface="Segoe UI"/>
              </a:rPr>
              <a:t>Lazy artifact loading for fast startup</a:t>
            </a:r>
          </a:p>
          <a:p>
            <a:pPr algn="l" marL="183000" indent="-183000">
              <a:lnSpc>
                <a:spcPct val="100000"/>
              </a:lnSpc>
              <a:spcBef>
                <a:spcPts val="0"/>
              </a:spcBef>
              <a:spcAft>
                <a:spcPts val="400"/>
              </a:spcAft>
            </a:pPr>
            <a:r>
              <a:rPr sz="1150" b="1">
                <a:solidFill>
                  <a:srgbClr val="10B981"/>
                </a:solidFill>
                <a:latin typeface="Segoe UI"/>
              </a:rPr>
              <a:t>▪  </a:t>
            </a:r>
            <a:r>
              <a:rPr sz="1150" b="0" i="0">
                <a:solidFill>
                  <a:srgbClr val="E2E8F0"/>
                </a:solidFill>
                <a:latin typeface="Segoe UI"/>
              </a:rPr>
              <a:t>Single code path for train &amp; inference</a:t>
            </a:r>
          </a:p>
        </p:txBody>
      </p:sp>
      <p:sp>
        <p:nvSpPr>
          <p:cNvPr id="17" name="TextBox 16"/>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18" name="TextBox 17"/>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22 · WORKFLOW</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End-to-End Workflow</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1874519"/>
            <a:ext cx="1444752" cy="1600200"/>
          </a:xfrm>
          <a:prstGeom prst="roundRect">
            <a:avLst>
              <a:gd name="adj" fmla="val 10000"/>
            </a:avLst>
          </a:prstGeom>
          <a:solidFill>
            <a:srgbClr val="151A38"/>
          </a:solidFill>
          <a:ln w="15875">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n 10"/>
          <p:cNvSpPr/>
          <p:nvPr/>
        </p:nvSpPr>
        <p:spPr>
          <a:xfrm>
            <a:off x="1057046" y="2112263"/>
            <a:ext cx="427939" cy="475488"/>
          </a:xfrm>
          <a:prstGeom prst="can">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2743199"/>
            <a:ext cx="1335024" cy="685800"/>
          </a:xfrm>
          <a:prstGeom prst="rect">
            <a:avLst/>
          </a:prstGeom>
          <a:noFill/>
        </p:spPr>
        <p:txBody>
          <a:bodyPr wrap="square" anchor="t" lIns="0" rIns="0" tIns="0" bIns="0">
            <a:spAutoFit/>
          </a:bodyPr>
          <a:lstStyle/>
          <a:p>
            <a:pPr algn="ctr">
              <a:lnSpc>
                <a:spcPct val="100000"/>
              </a:lnSpc>
              <a:spcBef>
                <a:spcPts val="0"/>
              </a:spcBef>
              <a:spcAft>
                <a:spcPts val="200"/>
              </a:spcAft>
            </a:pPr>
            <a:r>
              <a:rPr sz="1300" b="1" i="0">
                <a:solidFill>
                  <a:srgbClr val="00D4FF"/>
                </a:solidFill>
                <a:latin typeface="Segoe UI"/>
              </a:rPr>
              <a:t>Ingest</a:t>
            </a:r>
          </a:p>
          <a:p>
            <a:pPr algn="ctr">
              <a:lnSpc>
                <a:spcPct val="105000"/>
              </a:lnSpc>
              <a:spcBef>
                <a:spcPts val="0"/>
              </a:spcBef>
              <a:spcAft>
                <a:spcPts val="0"/>
              </a:spcAft>
            </a:pPr>
            <a:r>
              <a:rPr sz="950" b="0" i="0">
                <a:solidFill>
                  <a:srgbClr val="9CA9D0"/>
                </a:solidFill>
                <a:latin typeface="Segoe UI"/>
              </a:rPr>
              <a:t>7 datasets merged</a:t>
            </a:r>
          </a:p>
        </p:txBody>
      </p:sp>
      <p:cxnSp>
        <p:nvCxnSpPr>
          <p:cNvPr id="13" name="Connector 12"/>
          <p:cNvCxnSpPr/>
          <p:nvPr/>
        </p:nvCxnSpPr>
        <p:spPr>
          <a:xfrm>
            <a:off x="1993392" y="2674619"/>
            <a:ext cx="146304" cy="0"/>
          </a:xfrm>
          <a:prstGeom prst="line">
            <a:avLst/>
          </a:prstGeom>
          <a:ln w="2857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139696" y="1874519"/>
            <a:ext cx="1444752" cy="1600200"/>
          </a:xfrm>
          <a:prstGeom prst="roundRect">
            <a:avLst>
              <a:gd name="adj" fmla="val 10000"/>
            </a:avLst>
          </a:prstGeom>
          <a:solidFill>
            <a:srgbClr val="151A38"/>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ear 6 14"/>
          <p:cNvSpPr/>
          <p:nvPr/>
        </p:nvSpPr>
        <p:spPr>
          <a:xfrm>
            <a:off x="2624328" y="2112263"/>
            <a:ext cx="475488" cy="475488"/>
          </a:xfrm>
          <a:prstGeom prst="gear6">
            <a:avLst>
              <a:gd name="adj1" fmla="val 18000"/>
              <a:gd name="adj2" fmla="val 18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2743199"/>
            <a:ext cx="1335024" cy="685800"/>
          </a:xfrm>
          <a:prstGeom prst="rect">
            <a:avLst/>
          </a:prstGeom>
          <a:noFill/>
        </p:spPr>
        <p:txBody>
          <a:bodyPr wrap="square" anchor="t" lIns="0" rIns="0" tIns="0" bIns="0">
            <a:spAutoFit/>
          </a:bodyPr>
          <a:lstStyle/>
          <a:p>
            <a:pPr algn="ctr">
              <a:lnSpc>
                <a:spcPct val="100000"/>
              </a:lnSpc>
              <a:spcBef>
                <a:spcPts val="0"/>
              </a:spcBef>
              <a:spcAft>
                <a:spcPts val="200"/>
              </a:spcAft>
            </a:pPr>
            <a:r>
              <a:rPr sz="1300" b="1" i="0">
                <a:solidFill>
                  <a:srgbClr val="3B82F6"/>
                </a:solidFill>
                <a:latin typeface="Segoe UI"/>
              </a:rPr>
              <a:t>Preprocess</a:t>
            </a:r>
          </a:p>
          <a:p>
            <a:pPr algn="ctr">
              <a:lnSpc>
                <a:spcPct val="105000"/>
              </a:lnSpc>
              <a:spcBef>
                <a:spcPts val="0"/>
              </a:spcBef>
              <a:spcAft>
                <a:spcPts val="0"/>
              </a:spcAft>
            </a:pPr>
            <a:r>
              <a:rPr sz="950" b="0" i="0">
                <a:solidFill>
                  <a:srgbClr val="9CA9D0"/>
                </a:solidFill>
                <a:latin typeface="Segoe UI"/>
              </a:rPr>
              <a:t>NLP cleaning</a:t>
            </a:r>
          </a:p>
        </p:txBody>
      </p:sp>
      <p:cxnSp>
        <p:nvCxnSpPr>
          <p:cNvPr id="17" name="Connector 16"/>
          <p:cNvCxnSpPr/>
          <p:nvPr/>
        </p:nvCxnSpPr>
        <p:spPr>
          <a:xfrm>
            <a:off x="3584448" y="2674619"/>
            <a:ext cx="146304" cy="0"/>
          </a:xfrm>
          <a:prstGeom prst="line">
            <a:avLst/>
          </a:prstGeom>
          <a:ln w="2857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730752" y="1874519"/>
            <a:ext cx="1444752" cy="1600200"/>
          </a:xfrm>
          <a:prstGeom prst="roundRect">
            <a:avLst>
              <a:gd name="adj" fmla="val 10000"/>
            </a:avLst>
          </a:prstGeom>
          <a:solidFill>
            <a:srgbClr val="151A38"/>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exagon 18"/>
          <p:cNvSpPr/>
          <p:nvPr/>
        </p:nvSpPr>
        <p:spPr>
          <a:xfrm>
            <a:off x="4310481" y="2207360"/>
            <a:ext cx="285292" cy="285292"/>
          </a:xfrm>
          <a:prstGeom prst="hexag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186854" y="2083733"/>
            <a:ext cx="133136" cy="13313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86264" y="2083733"/>
            <a:ext cx="133136" cy="13313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186854" y="2483143"/>
            <a:ext cx="133136" cy="13313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86264" y="2483143"/>
            <a:ext cx="133136" cy="13313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85616" y="2743199"/>
            <a:ext cx="1335024" cy="685800"/>
          </a:xfrm>
          <a:prstGeom prst="rect">
            <a:avLst/>
          </a:prstGeom>
          <a:noFill/>
        </p:spPr>
        <p:txBody>
          <a:bodyPr wrap="square" anchor="t" lIns="0" rIns="0" tIns="0" bIns="0">
            <a:spAutoFit/>
          </a:bodyPr>
          <a:lstStyle/>
          <a:p>
            <a:pPr algn="ctr">
              <a:lnSpc>
                <a:spcPct val="100000"/>
              </a:lnSpc>
              <a:spcBef>
                <a:spcPts val="0"/>
              </a:spcBef>
              <a:spcAft>
                <a:spcPts val="200"/>
              </a:spcAft>
            </a:pPr>
            <a:r>
              <a:rPr sz="1300" b="1" i="0">
                <a:solidFill>
                  <a:srgbClr val="7C3AED"/>
                </a:solidFill>
                <a:latin typeface="Segoe UI"/>
              </a:rPr>
              <a:t>Features</a:t>
            </a:r>
          </a:p>
          <a:p>
            <a:pPr algn="ctr">
              <a:lnSpc>
                <a:spcPct val="105000"/>
              </a:lnSpc>
              <a:spcBef>
                <a:spcPts val="0"/>
              </a:spcBef>
              <a:spcAft>
                <a:spcPts val="0"/>
              </a:spcAft>
            </a:pPr>
            <a:r>
              <a:rPr sz="950" b="0" i="0">
                <a:solidFill>
                  <a:srgbClr val="9CA9D0"/>
                </a:solidFill>
                <a:latin typeface="Segoe UI"/>
              </a:rPr>
              <a:t>TF-IDF + metadata</a:t>
            </a:r>
          </a:p>
        </p:txBody>
      </p:sp>
      <p:cxnSp>
        <p:nvCxnSpPr>
          <p:cNvPr id="25" name="Connector 24"/>
          <p:cNvCxnSpPr/>
          <p:nvPr/>
        </p:nvCxnSpPr>
        <p:spPr>
          <a:xfrm>
            <a:off x="5175504" y="2674619"/>
            <a:ext cx="146304" cy="0"/>
          </a:xfrm>
          <a:prstGeom prst="line">
            <a:avLst/>
          </a:prstGeom>
          <a:ln w="2857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321808" y="1874519"/>
            <a:ext cx="1444752" cy="1600200"/>
          </a:xfrm>
          <a:prstGeom prst="roundRect">
            <a:avLst>
              <a:gd name="adj" fmla="val 10000"/>
            </a:avLst>
          </a:prstGeom>
          <a:solidFill>
            <a:srgbClr val="151A38"/>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830214" y="2397555"/>
            <a:ext cx="123626" cy="19019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82370" y="2326232"/>
            <a:ext cx="123626" cy="2615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34526" y="2207360"/>
            <a:ext cx="123626" cy="3803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76672" y="2743199"/>
            <a:ext cx="1335024" cy="685800"/>
          </a:xfrm>
          <a:prstGeom prst="rect">
            <a:avLst/>
          </a:prstGeom>
          <a:noFill/>
        </p:spPr>
        <p:txBody>
          <a:bodyPr wrap="square" anchor="t" lIns="0" rIns="0" tIns="0" bIns="0">
            <a:spAutoFit/>
          </a:bodyPr>
          <a:lstStyle/>
          <a:p>
            <a:pPr algn="ctr">
              <a:lnSpc>
                <a:spcPct val="100000"/>
              </a:lnSpc>
              <a:spcBef>
                <a:spcPts val="0"/>
              </a:spcBef>
              <a:spcAft>
                <a:spcPts val="200"/>
              </a:spcAft>
            </a:pPr>
            <a:r>
              <a:rPr sz="1300" b="1" i="0">
                <a:solidFill>
                  <a:srgbClr val="10B981"/>
                </a:solidFill>
                <a:latin typeface="Segoe UI"/>
              </a:rPr>
              <a:t>Train</a:t>
            </a:r>
          </a:p>
          <a:p>
            <a:pPr algn="ctr">
              <a:lnSpc>
                <a:spcPct val="105000"/>
              </a:lnSpc>
              <a:spcBef>
                <a:spcPts val="0"/>
              </a:spcBef>
              <a:spcAft>
                <a:spcPts val="0"/>
              </a:spcAft>
            </a:pPr>
            <a:r>
              <a:rPr sz="950" b="0" i="0">
                <a:solidFill>
                  <a:srgbClr val="9CA9D0"/>
                </a:solidFill>
                <a:latin typeface="Segoe UI"/>
              </a:rPr>
              <a:t>6 classifiers</a:t>
            </a:r>
          </a:p>
        </p:txBody>
      </p:sp>
      <p:cxnSp>
        <p:nvCxnSpPr>
          <p:cNvPr id="31" name="Connector 30"/>
          <p:cNvCxnSpPr/>
          <p:nvPr/>
        </p:nvCxnSpPr>
        <p:spPr>
          <a:xfrm>
            <a:off x="6766560" y="2674619"/>
            <a:ext cx="146304" cy="0"/>
          </a:xfrm>
          <a:prstGeom prst="line">
            <a:avLst/>
          </a:prstGeom>
          <a:ln w="2857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912864" y="1874519"/>
            <a:ext cx="1444752" cy="1600200"/>
          </a:xfrm>
          <a:prstGeom prst="roundRect">
            <a:avLst>
              <a:gd name="adj" fmla="val 10000"/>
            </a:avLst>
          </a:prstGeom>
          <a:solidFill>
            <a:srgbClr val="151A38"/>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7426025" y="2150302"/>
            <a:ext cx="418429" cy="389900"/>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2593" y="2216870"/>
            <a:ext cx="285292" cy="285292"/>
          </a:xfrm>
          <a:prstGeom prst="rect">
            <a:avLst/>
          </a:prstGeom>
          <a:noFill/>
        </p:spPr>
        <p:txBody>
          <a:bodyPr wrap="square" anchor="t" lIns="0" rIns="0" tIns="0" bIns="0">
            <a:spAutoFit/>
          </a:bodyPr>
          <a:lstStyle/>
          <a:p>
            <a:pPr algn="ctr">
              <a:lnSpc>
                <a:spcPct val="100000"/>
              </a:lnSpc>
              <a:spcBef>
                <a:spcPts val="0"/>
              </a:spcBef>
              <a:spcAft>
                <a:spcPts val="0"/>
              </a:spcAft>
            </a:pPr>
            <a:r>
              <a:rPr sz="1800" b="1" i="0">
                <a:solidFill>
                  <a:srgbClr val="0A0E27"/>
                </a:solidFill>
                <a:latin typeface="Segoe UI"/>
              </a:rPr>
              <a:t>!</a:t>
            </a:r>
          </a:p>
        </p:txBody>
      </p:sp>
      <p:sp>
        <p:nvSpPr>
          <p:cNvPr id="35" name="TextBox 34"/>
          <p:cNvSpPr txBox="1"/>
          <p:nvPr/>
        </p:nvSpPr>
        <p:spPr>
          <a:xfrm>
            <a:off x="6967728" y="2743199"/>
            <a:ext cx="1335024" cy="685800"/>
          </a:xfrm>
          <a:prstGeom prst="rect">
            <a:avLst/>
          </a:prstGeom>
          <a:noFill/>
        </p:spPr>
        <p:txBody>
          <a:bodyPr wrap="square" anchor="t" lIns="0" rIns="0" tIns="0" bIns="0">
            <a:spAutoFit/>
          </a:bodyPr>
          <a:lstStyle/>
          <a:p>
            <a:pPr algn="ctr">
              <a:lnSpc>
                <a:spcPct val="100000"/>
              </a:lnSpc>
              <a:spcBef>
                <a:spcPts val="0"/>
              </a:spcBef>
              <a:spcAft>
                <a:spcPts val="200"/>
              </a:spcAft>
            </a:pPr>
            <a:r>
              <a:rPr sz="1300" b="1" i="0">
                <a:solidFill>
                  <a:srgbClr val="F59E0B"/>
                </a:solidFill>
                <a:latin typeface="Segoe UI"/>
              </a:rPr>
              <a:t>Evaluate</a:t>
            </a:r>
          </a:p>
          <a:p>
            <a:pPr algn="ctr">
              <a:lnSpc>
                <a:spcPct val="105000"/>
              </a:lnSpc>
              <a:spcBef>
                <a:spcPts val="0"/>
              </a:spcBef>
              <a:spcAft>
                <a:spcPts val="0"/>
              </a:spcAft>
            </a:pPr>
            <a:r>
              <a:rPr sz="950" b="0" i="0">
                <a:solidFill>
                  <a:srgbClr val="9CA9D0"/>
                </a:solidFill>
                <a:latin typeface="Segoe UI"/>
              </a:rPr>
              <a:t>metrics &amp; charts</a:t>
            </a:r>
          </a:p>
        </p:txBody>
      </p:sp>
      <p:cxnSp>
        <p:nvCxnSpPr>
          <p:cNvPr id="36" name="Connector 35"/>
          <p:cNvCxnSpPr/>
          <p:nvPr/>
        </p:nvCxnSpPr>
        <p:spPr>
          <a:xfrm>
            <a:off x="8357616" y="2674619"/>
            <a:ext cx="146304" cy="0"/>
          </a:xfrm>
          <a:prstGeom prst="line">
            <a:avLst/>
          </a:prstGeom>
          <a:ln w="2857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503920" y="1874519"/>
            <a:ext cx="1444752" cy="1600200"/>
          </a:xfrm>
          <a:prstGeom prst="roundRect">
            <a:avLst>
              <a:gd name="adj" fmla="val 10000"/>
            </a:avLst>
          </a:prstGeom>
          <a:solidFill>
            <a:srgbClr val="151A38"/>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036100" y="2112263"/>
            <a:ext cx="380390" cy="261518"/>
          </a:xfrm>
          <a:prstGeom prst="roundRect">
            <a:avLst>
              <a:gd name="adj" fmla="val 35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8988552" y="2321477"/>
            <a:ext cx="475488" cy="247253"/>
          </a:xfrm>
          <a:prstGeom prst="triangl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58784" y="2743199"/>
            <a:ext cx="1335024" cy="685800"/>
          </a:xfrm>
          <a:prstGeom prst="rect">
            <a:avLst/>
          </a:prstGeom>
          <a:noFill/>
        </p:spPr>
        <p:txBody>
          <a:bodyPr wrap="square" anchor="t" lIns="0" rIns="0" tIns="0" bIns="0">
            <a:spAutoFit/>
          </a:bodyPr>
          <a:lstStyle/>
          <a:p>
            <a:pPr algn="ctr">
              <a:lnSpc>
                <a:spcPct val="100000"/>
              </a:lnSpc>
              <a:spcBef>
                <a:spcPts val="0"/>
              </a:spcBef>
              <a:spcAft>
                <a:spcPts val="200"/>
              </a:spcAft>
            </a:pPr>
            <a:r>
              <a:rPr sz="1300" b="1" i="0">
                <a:solidFill>
                  <a:srgbClr val="EF4444"/>
                </a:solidFill>
                <a:latin typeface="Segoe UI"/>
              </a:rPr>
              <a:t>Deploy</a:t>
            </a:r>
          </a:p>
          <a:p>
            <a:pPr algn="ctr">
              <a:lnSpc>
                <a:spcPct val="105000"/>
              </a:lnSpc>
              <a:spcBef>
                <a:spcPts val="0"/>
              </a:spcBef>
              <a:spcAft>
                <a:spcPts val="0"/>
              </a:spcAft>
            </a:pPr>
            <a:r>
              <a:rPr sz="950" b="0" i="0">
                <a:solidFill>
                  <a:srgbClr val="9CA9D0"/>
                </a:solidFill>
                <a:latin typeface="Segoe UI"/>
              </a:rPr>
              <a:t>UI + API + Docker</a:t>
            </a:r>
          </a:p>
        </p:txBody>
      </p:sp>
      <p:cxnSp>
        <p:nvCxnSpPr>
          <p:cNvPr id="41" name="Connector 40"/>
          <p:cNvCxnSpPr/>
          <p:nvPr/>
        </p:nvCxnSpPr>
        <p:spPr>
          <a:xfrm>
            <a:off x="9948672" y="2674619"/>
            <a:ext cx="146304" cy="0"/>
          </a:xfrm>
          <a:prstGeom prst="line">
            <a:avLst/>
          </a:prstGeom>
          <a:ln w="28575">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10094976" y="1874519"/>
            <a:ext cx="1444752" cy="1600200"/>
          </a:xfrm>
          <a:prstGeom prst="roundRect">
            <a:avLst>
              <a:gd name="adj" fmla="val 10000"/>
            </a:avLst>
          </a:prstGeom>
          <a:solidFill>
            <a:srgbClr val="151A38"/>
          </a:solidFill>
          <a:ln w="15875">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579608" y="2178831"/>
            <a:ext cx="475488" cy="323331"/>
          </a:xfrm>
          <a:prstGeom prst="roundRect">
            <a:avLst>
              <a:gd name="adj" fmla="val 14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rot="10800000">
            <a:off x="10579608" y="2178831"/>
            <a:ext cx="475488" cy="261518"/>
          </a:xfrm>
          <a:prstGeom prst="triangl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49840" y="2743199"/>
            <a:ext cx="1335024" cy="685800"/>
          </a:xfrm>
          <a:prstGeom prst="rect">
            <a:avLst/>
          </a:prstGeom>
          <a:noFill/>
        </p:spPr>
        <p:txBody>
          <a:bodyPr wrap="square" anchor="t" lIns="0" rIns="0" tIns="0" bIns="0">
            <a:spAutoFit/>
          </a:bodyPr>
          <a:lstStyle/>
          <a:p>
            <a:pPr algn="ctr">
              <a:lnSpc>
                <a:spcPct val="100000"/>
              </a:lnSpc>
              <a:spcBef>
                <a:spcPts val="0"/>
              </a:spcBef>
              <a:spcAft>
                <a:spcPts val="200"/>
              </a:spcAft>
            </a:pPr>
            <a:r>
              <a:rPr sz="1300" b="1" i="0">
                <a:solidFill>
                  <a:srgbClr val="00D4FF"/>
                </a:solidFill>
                <a:latin typeface="Segoe UI"/>
              </a:rPr>
              <a:t>Infer</a:t>
            </a:r>
          </a:p>
          <a:p>
            <a:pPr algn="ctr">
              <a:lnSpc>
                <a:spcPct val="105000"/>
              </a:lnSpc>
              <a:spcBef>
                <a:spcPts val="0"/>
              </a:spcBef>
              <a:spcAft>
                <a:spcPts val="0"/>
              </a:spcAft>
            </a:pPr>
            <a:r>
              <a:rPr sz="950" b="0" i="0">
                <a:solidFill>
                  <a:srgbClr val="9CA9D0"/>
                </a:solidFill>
                <a:latin typeface="Segoe UI"/>
              </a:rPr>
              <a:t>verdict + risk + explain</a:t>
            </a:r>
          </a:p>
        </p:txBody>
      </p:sp>
      <p:sp>
        <p:nvSpPr>
          <p:cNvPr id="46" name="Rounded Rectangle 45"/>
          <p:cNvSpPr/>
          <p:nvPr/>
        </p:nvSpPr>
        <p:spPr>
          <a:xfrm>
            <a:off x="548640" y="3840479"/>
            <a:ext cx="11091672" cy="475488"/>
          </a:xfrm>
          <a:prstGeom prst="roundRect">
            <a:avLst>
              <a:gd name="adj" fmla="val 50000"/>
            </a:avLst>
          </a:prstGeom>
          <a:solidFill>
            <a:srgbClr val="1A1F3A"/>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3840479"/>
            <a:ext cx="10698480" cy="475488"/>
          </a:xfrm>
          <a:prstGeom prst="rect">
            <a:avLst/>
          </a:prstGeom>
          <a:noFill/>
        </p:spPr>
        <p:txBody>
          <a:bodyPr wrap="square" anchor="ctr" lIns="0" rIns="0" tIns="0" bIns="0">
            <a:spAutoFit/>
          </a:bodyPr>
          <a:lstStyle/>
          <a:p>
            <a:pPr algn="ctr">
              <a:lnSpc>
                <a:spcPct val="100000"/>
              </a:lnSpc>
              <a:spcBef>
                <a:spcPts val="0"/>
              </a:spcBef>
              <a:spcAft>
                <a:spcPts val="0"/>
              </a:spcAft>
            </a:pPr>
            <a:r>
              <a:rPr sz="1150" b="0" i="0">
                <a:solidFill>
                  <a:srgbClr val="00D4FF"/>
                </a:solidFill>
                <a:latin typeface="Segoe UI"/>
              </a:rPr>
              <a:t>Artifacts: models/*.joblib  ·  reports/*.csv &amp; *.json  ·  images/*.png</a:t>
            </a:r>
          </a:p>
        </p:txBody>
      </p:sp>
      <p:sp>
        <p:nvSpPr>
          <p:cNvPr id="48" name="Rounded Rectangle 47"/>
          <p:cNvSpPr/>
          <p:nvPr/>
        </p:nvSpPr>
        <p:spPr>
          <a:xfrm>
            <a:off x="548640" y="4571999"/>
            <a:ext cx="5394960" cy="178308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ear 6 48"/>
          <p:cNvSpPr/>
          <p:nvPr/>
        </p:nvSpPr>
        <p:spPr>
          <a:xfrm>
            <a:off x="845820" y="4933187"/>
            <a:ext cx="502920" cy="502920"/>
          </a:xfrm>
          <a:prstGeom prst="gear6">
            <a:avLst>
              <a:gd name="adj1" fmla="val 18000"/>
              <a:gd name="adj2" fmla="val 1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08760" y="4690871"/>
            <a:ext cx="4389120" cy="155448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10B981"/>
                </a:solidFill>
                <a:latin typeface="Segoe UI"/>
              </a:rPr>
              <a:t>One command</a:t>
            </a:r>
          </a:p>
          <a:p>
            <a:pPr algn="l">
              <a:lnSpc>
                <a:spcPct val="100000"/>
              </a:lnSpc>
              <a:spcBef>
                <a:spcPts val="0"/>
              </a:spcBef>
              <a:spcAft>
                <a:spcPts val="300"/>
              </a:spcAft>
            </a:pPr>
            <a:r>
              <a:rPr sz="1200" b="1" i="0">
                <a:solidFill>
                  <a:srgbClr val="FFFFFF"/>
                </a:solidFill>
                <a:latin typeface="Segoe UI"/>
              </a:rPr>
              <a:t>python main.py</a:t>
            </a:r>
          </a:p>
          <a:p>
            <a:pPr algn="l">
              <a:lnSpc>
                <a:spcPct val="115000"/>
              </a:lnSpc>
              <a:spcBef>
                <a:spcPts val="0"/>
              </a:spcBef>
              <a:spcAft>
                <a:spcPts val="0"/>
              </a:spcAft>
            </a:pPr>
            <a:r>
              <a:rPr sz="1100" b="0" i="0">
                <a:solidFill>
                  <a:srgbClr val="9CA9D0"/>
                </a:solidFill>
                <a:latin typeface="Segoe UI"/>
              </a:rPr>
              <a:t>runs the full pipeline end-to-end and regenerates every artifact.</a:t>
            </a:r>
          </a:p>
        </p:txBody>
      </p:sp>
      <p:sp>
        <p:nvSpPr>
          <p:cNvPr id="51" name="Rounded Rectangle 50"/>
          <p:cNvSpPr/>
          <p:nvPr/>
        </p:nvSpPr>
        <p:spPr>
          <a:xfrm>
            <a:off x="6217920" y="4571999"/>
            <a:ext cx="5422392" cy="178308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565392" y="4933187"/>
            <a:ext cx="402336" cy="276606"/>
          </a:xfrm>
          <a:prstGeom prst="roundRect">
            <a:avLst>
              <a:gd name="adj" fmla="val 3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sosceles Triangle 52"/>
          <p:cNvSpPr/>
          <p:nvPr/>
        </p:nvSpPr>
        <p:spPr>
          <a:xfrm rot="10800000">
            <a:off x="6515100" y="5154471"/>
            <a:ext cx="502920" cy="261518"/>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78040" y="4690871"/>
            <a:ext cx="4434840" cy="155448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F59E0B"/>
                </a:solidFill>
                <a:latin typeface="Segoe UI"/>
              </a:rPr>
              <a:t>Two interfaces, one engine</a:t>
            </a:r>
          </a:p>
          <a:p>
            <a:pPr algn="l">
              <a:lnSpc>
                <a:spcPct val="100000"/>
              </a:lnSpc>
              <a:spcBef>
                <a:spcPts val="0"/>
              </a:spcBef>
              <a:spcAft>
                <a:spcPts val="300"/>
              </a:spcAft>
            </a:pPr>
            <a:r>
              <a:rPr sz="1150" b="0" i="0">
                <a:solidFill>
                  <a:srgbClr val="E2E8F0"/>
                </a:solidFill>
                <a:latin typeface="Segoe UI"/>
              </a:rPr>
              <a:t>Streamlit UI (port 8501) · FastAPI REST (port 8000)</a:t>
            </a:r>
          </a:p>
          <a:p>
            <a:pPr algn="l">
              <a:lnSpc>
                <a:spcPct val="115000"/>
              </a:lnSpc>
              <a:spcBef>
                <a:spcPts val="0"/>
              </a:spcBef>
              <a:spcAft>
                <a:spcPts val="0"/>
              </a:spcAft>
            </a:pPr>
            <a:r>
              <a:rPr sz="1100" b="0" i="0">
                <a:solidFill>
                  <a:srgbClr val="9CA9D0"/>
                </a:solidFill>
                <a:latin typeface="Segoe UI"/>
              </a:rPr>
              <a:t>Docker compose starts both services from one image.</a:t>
            </a:r>
          </a:p>
        </p:txBody>
      </p:sp>
      <p:sp>
        <p:nvSpPr>
          <p:cNvPr id="55" name="TextBox 54"/>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56" name="TextBox 55"/>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23 · PREDICTION PIPELINE</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Prediction Pipeline</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Production inference — the same transforms used at training time</a:t>
            </a:r>
          </a:p>
        </p:txBody>
      </p:sp>
      <p:sp>
        <p:nvSpPr>
          <p:cNvPr id="11" name="Rounded Rectangle 10"/>
          <p:cNvSpPr/>
          <p:nvPr/>
        </p:nvSpPr>
        <p:spPr>
          <a:xfrm>
            <a:off x="548640" y="1874519"/>
            <a:ext cx="1719072" cy="1463040"/>
          </a:xfrm>
          <a:prstGeom prst="roundRect">
            <a:avLst>
              <a:gd name="adj" fmla="val 10000"/>
            </a:avLst>
          </a:prstGeom>
          <a:solidFill>
            <a:srgbClr val="151A38"/>
          </a:solidFill>
          <a:ln w="127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97864" y="2107142"/>
            <a:ext cx="420624" cy="286024"/>
          </a:xfrm>
          <a:prstGeom prst="roundRect">
            <a:avLst>
              <a:gd name="adj" fmla="val 14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1197864" y="2107142"/>
            <a:ext cx="420624" cy="231343"/>
          </a:xfrm>
          <a:prstGeom prst="triangl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624327"/>
            <a:ext cx="1627632" cy="64008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00D4FF"/>
                </a:solidFill>
                <a:latin typeface="Segoe UI"/>
              </a:rPr>
              <a:t>Input</a:t>
            </a:r>
          </a:p>
          <a:p>
            <a:pPr algn="ctr">
              <a:lnSpc>
                <a:spcPct val="100000"/>
              </a:lnSpc>
              <a:spcBef>
                <a:spcPts val="0"/>
              </a:spcBef>
              <a:spcAft>
                <a:spcPts val="0"/>
              </a:spcAft>
            </a:pPr>
            <a:r>
              <a:rPr sz="850" b="0" i="0">
                <a:solidFill>
                  <a:srgbClr val="9CA9D0"/>
                </a:solidFill>
                <a:latin typeface="Segoe UI"/>
              </a:rPr>
              <a:t>paste · .txt · .eml · CSV batch</a:t>
            </a:r>
          </a:p>
        </p:txBody>
      </p:sp>
      <p:cxnSp>
        <p:nvCxnSpPr>
          <p:cNvPr id="15" name="Connector 14"/>
          <p:cNvCxnSpPr/>
          <p:nvPr/>
        </p:nvCxnSpPr>
        <p:spPr>
          <a:xfrm>
            <a:off x="2267712" y="2606039"/>
            <a:ext cx="128016" cy="0"/>
          </a:xfrm>
          <a:prstGeom prst="line">
            <a:avLst/>
          </a:prstGeom>
          <a:ln w="254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395728" y="1874519"/>
            <a:ext cx="1719072" cy="1463040"/>
          </a:xfrm>
          <a:prstGeom prst="roundRect">
            <a:avLst>
              <a:gd name="adj" fmla="val 10000"/>
            </a:avLst>
          </a:prstGeom>
          <a:solidFill>
            <a:srgbClr val="151A38"/>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Gear 6 16"/>
          <p:cNvSpPr/>
          <p:nvPr/>
        </p:nvSpPr>
        <p:spPr>
          <a:xfrm>
            <a:off x="3044952" y="2048255"/>
            <a:ext cx="420624" cy="420624"/>
          </a:xfrm>
          <a:prstGeom prst="gear6">
            <a:avLst>
              <a:gd name="adj1" fmla="val 18000"/>
              <a:gd name="adj2" fmla="val 18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41448" y="2624327"/>
            <a:ext cx="1627632" cy="64008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3B82F6"/>
                </a:solidFill>
                <a:latin typeface="Segoe UI"/>
              </a:rPr>
              <a:t>Clean</a:t>
            </a:r>
          </a:p>
          <a:p>
            <a:pPr algn="ctr">
              <a:lnSpc>
                <a:spcPct val="100000"/>
              </a:lnSpc>
              <a:spcBef>
                <a:spcPts val="0"/>
              </a:spcBef>
              <a:spcAft>
                <a:spcPts val="0"/>
              </a:spcAft>
            </a:pPr>
            <a:r>
              <a:rPr sz="850" b="0" i="0">
                <a:solidFill>
                  <a:srgbClr val="9CA9D0"/>
                </a:solidFill>
                <a:latin typeface="Segoe UI"/>
              </a:rPr>
              <a:t>TextPreprocessor.clean_text()</a:t>
            </a:r>
          </a:p>
        </p:txBody>
      </p:sp>
      <p:cxnSp>
        <p:nvCxnSpPr>
          <p:cNvPr id="19" name="Connector 18"/>
          <p:cNvCxnSpPr/>
          <p:nvPr/>
        </p:nvCxnSpPr>
        <p:spPr>
          <a:xfrm>
            <a:off x="4114800" y="2606039"/>
            <a:ext cx="128016" cy="0"/>
          </a:xfrm>
          <a:prstGeom prst="line">
            <a:avLst/>
          </a:prstGeom>
          <a:ln w="254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42816" y="1874519"/>
            <a:ext cx="1719072" cy="1463040"/>
          </a:xfrm>
          <a:prstGeom prst="roundRect">
            <a:avLst>
              <a:gd name="adj" fmla="val 10000"/>
            </a:avLst>
          </a:prstGeom>
          <a:solidFill>
            <a:srgbClr val="151A38"/>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n 20"/>
          <p:cNvSpPr/>
          <p:nvPr/>
        </p:nvSpPr>
        <p:spPr>
          <a:xfrm>
            <a:off x="4913071" y="2048255"/>
            <a:ext cx="378561" cy="420624"/>
          </a:xfrm>
          <a:prstGeom prst="ca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88536" y="2624327"/>
            <a:ext cx="1627632" cy="64008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7C3AED"/>
                </a:solidFill>
                <a:latin typeface="Segoe UI"/>
              </a:rPr>
              <a:t>Features</a:t>
            </a:r>
          </a:p>
          <a:p>
            <a:pPr algn="ctr">
              <a:lnSpc>
                <a:spcPct val="100000"/>
              </a:lnSpc>
              <a:spcBef>
                <a:spcPts val="0"/>
              </a:spcBef>
              <a:spcAft>
                <a:spcPts val="0"/>
              </a:spcAft>
            </a:pPr>
            <a:r>
              <a:rPr sz="850" b="0" i="0">
                <a:solidFill>
                  <a:srgbClr val="9CA9D0"/>
                </a:solidFill>
                <a:latin typeface="Segoe UI"/>
              </a:rPr>
              <a:t>TF-IDF + scaled metadata → hstack</a:t>
            </a:r>
          </a:p>
        </p:txBody>
      </p:sp>
      <p:cxnSp>
        <p:nvCxnSpPr>
          <p:cNvPr id="23" name="Connector 22"/>
          <p:cNvCxnSpPr/>
          <p:nvPr/>
        </p:nvCxnSpPr>
        <p:spPr>
          <a:xfrm>
            <a:off x="5961888" y="2606039"/>
            <a:ext cx="128016" cy="0"/>
          </a:xfrm>
          <a:prstGeom prst="line">
            <a:avLst/>
          </a:prstGeom>
          <a:ln w="254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089904" y="1874519"/>
            <a:ext cx="1719072" cy="1463040"/>
          </a:xfrm>
          <a:prstGeom prst="roundRect">
            <a:avLst>
              <a:gd name="adj" fmla="val 10000"/>
            </a:avLst>
          </a:prstGeom>
          <a:solidFill>
            <a:srgbClr val="151A38"/>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exagon 24"/>
          <p:cNvSpPr/>
          <p:nvPr/>
        </p:nvSpPr>
        <p:spPr>
          <a:xfrm>
            <a:off x="6823252" y="2132379"/>
            <a:ext cx="252374" cy="252374"/>
          </a:xfrm>
          <a:prstGeom prst="hexag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713890" y="2023017"/>
            <a:ext cx="117774" cy="117774"/>
          </a:xfrm>
          <a:prstGeom prst="ellipse">
            <a:avLst/>
          </a:prstGeom>
          <a:solidFill>
            <a:srgbClr val="151A38"/>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067214" y="2023017"/>
            <a:ext cx="117774" cy="117774"/>
          </a:xfrm>
          <a:prstGeom prst="ellipse">
            <a:avLst/>
          </a:prstGeom>
          <a:solidFill>
            <a:srgbClr val="151A38"/>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13890" y="2376341"/>
            <a:ext cx="117774" cy="117774"/>
          </a:xfrm>
          <a:prstGeom prst="ellipse">
            <a:avLst/>
          </a:prstGeom>
          <a:solidFill>
            <a:srgbClr val="151A38"/>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67214" y="2376341"/>
            <a:ext cx="117774" cy="117774"/>
          </a:xfrm>
          <a:prstGeom prst="ellipse">
            <a:avLst/>
          </a:prstGeom>
          <a:solidFill>
            <a:srgbClr val="151A38"/>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35624" y="2624327"/>
            <a:ext cx="1627632" cy="64008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0B981"/>
                </a:solidFill>
                <a:latin typeface="Segoe UI"/>
              </a:rPr>
              <a:t>Predict</a:t>
            </a:r>
          </a:p>
          <a:p>
            <a:pPr algn="ctr">
              <a:lnSpc>
                <a:spcPct val="100000"/>
              </a:lnSpc>
              <a:spcBef>
                <a:spcPts val="0"/>
              </a:spcBef>
              <a:spcAft>
                <a:spcPts val="0"/>
              </a:spcAft>
            </a:pPr>
            <a:r>
              <a:rPr sz="850" b="0" i="0">
                <a:solidFill>
                  <a:srgbClr val="9CA9D0"/>
                </a:solidFill>
                <a:latin typeface="Segoe UI"/>
              </a:rPr>
              <a:t>best model → phishing probability</a:t>
            </a:r>
          </a:p>
        </p:txBody>
      </p:sp>
      <p:cxnSp>
        <p:nvCxnSpPr>
          <p:cNvPr id="31" name="Connector 30"/>
          <p:cNvCxnSpPr/>
          <p:nvPr/>
        </p:nvCxnSpPr>
        <p:spPr>
          <a:xfrm>
            <a:off x="7808976" y="2606039"/>
            <a:ext cx="128016" cy="0"/>
          </a:xfrm>
          <a:prstGeom prst="line">
            <a:avLst/>
          </a:prstGeom>
          <a:ln w="254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936992" y="1874519"/>
            <a:ext cx="1719072" cy="1463040"/>
          </a:xfrm>
          <a:prstGeom prst="roundRect">
            <a:avLst>
              <a:gd name="adj" fmla="val 10000"/>
            </a:avLst>
          </a:prstGeom>
          <a:solidFill>
            <a:srgbClr val="151A38"/>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8611453" y="2081904"/>
            <a:ext cx="370149" cy="344911"/>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70340" y="2140792"/>
            <a:ext cx="252374" cy="252374"/>
          </a:xfrm>
          <a:prstGeom prst="rect">
            <a:avLst/>
          </a:prstGeom>
          <a:noFill/>
        </p:spPr>
        <p:txBody>
          <a:bodyPr wrap="square" anchor="t" lIns="0" rIns="0" tIns="0" bIns="0">
            <a:spAutoFit/>
          </a:bodyPr>
          <a:lstStyle/>
          <a:p>
            <a:pPr algn="ctr">
              <a:lnSpc>
                <a:spcPct val="100000"/>
              </a:lnSpc>
              <a:spcBef>
                <a:spcPts val="0"/>
              </a:spcBef>
              <a:spcAft>
                <a:spcPts val="0"/>
              </a:spcAft>
            </a:pPr>
            <a:r>
              <a:rPr sz="1600" b="1" i="0">
                <a:solidFill>
                  <a:srgbClr val="0A0E27"/>
                </a:solidFill>
                <a:latin typeface="Segoe UI"/>
              </a:rPr>
              <a:t>!</a:t>
            </a:r>
          </a:p>
        </p:txBody>
      </p:sp>
      <p:sp>
        <p:nvSpPr>
          <p:cNvPr id="35" name="TextBox 34"/>
          <p:cNvSpPr txBox="1"/>
          <p:nvPr/>
        </p:nvSpPr>
        <p:spPr>
          <a:xfrm>
            <a:off x="7982712" y="2624327"/>
            <a:ext cx="1627632" cy="64008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F59E0B"/>
                </a:solidFill>
                <a:latin typeface="Segoe UI"/>
              </a:rPr>
              <a:t>Risk Score</a:t>
            </a:r>
          </a:p>
          <a:p>
            <a:pPr algn="ctr">
              <a:lnSpc>
                <a:spcPct val="100000"/>
              </a:lnSpc>
              <a:spcBef>
                <a:spcPts val="0"/>
              </a:spcBef>
              <a:spcAft>
                <a:spcPts val="0"/>
              </a:spcAft>
            </a:pPr>
            <a:r>
              <a:rPr sz="850" b="0" i="0">
                <a:solidFill>
                  <a:srgbClr val="9CA9D0"/>
                </a:solidFill>
                <a:latin typeface="Segoe UI"/>
              </a:rPr>
              <a:t>0–100 weighted</a:t>
            </a:r>
          </a:p>
        </p:txBody>
      </p:sp>
      <p:cxnSp>
        <p:nvCxnSpPr>
          <p:cNvPr id="36" name="Connector 35"/>
          <p:cNvCxnSpPr/>
          <p:nvPr/>
        </p:nvCxnSpPr>
        <p:spPr>
          <a:xfrm>
            <a:off x="9656064" y="2606039"/>
            <a:ext cx="128016" cy="0"/>
          </a:xfrm>
          <a:prstGeom prst="line">
            <a:avLst/>
          </a:prstGeom>
          <a:ln w="254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784080" y="1874519"/>
            <a:ext cx="1719072" cy="1463040"/>
          </a:xfrm>
          <a:prstGeom prst="roundRect">
            <a:avLst>
              <a:gd name="adj" fmla="val 10000"/>
            </a:avLst>
          </a:prstGeom>
          <a:solidFill>
            <a:srgbClr val="151A38"/>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475366" y="2048255"/>
            <a:ext cx="336499" cy="231343"/>
          </a:xfrm>
          <a:prstGeom prst="roundRect">
            <a:avLst>
              <a:gd name="adj" fmla="val 35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10433304" y="2233329"/>
            <a:ext cx="420624" cy="218724"/>
          </a:xfrm>
          <a:prstGeom prst="triangl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29800" y="2624327"/>
            <a:ext cx="1627632" cy="64008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EF4444"/>
                </a:solidFill>
                <a:latin typeface="Segoe UI"/>
              </a:rPr>
              <a:t>Output</a:t>
            </a:r>
          </a:p>
          <a:p>
            <a:pPr algn="ctr">
              <a:lnSpc>
                <a:spcPct val="100000"/>
              </a:lnSpc>
              <a:spcBef>
                <a:spcPts val="0"/>
              </a:spcBef>
              <a:spcAft>
                <a:spcPts val="0"/>
              </a:spcAft>
            </a:pPr>
            <a:r>
              <a:rPr sz="850" b="0" i="0">
                <a:solidFill>
                  <a:srgbClr val="9CA9D0"/>
                </a:solidFill>
                <a:latin typeface="Segoe UI"/>
              </a:rPr>
              <a:t>verdict · explain · recommend · report</a:t>
            </a:r>
          </a:p>
        </p:txBody>
      </p:sp>
      <p:sp>
        <p:nvSpPr>
          <p:cNvPr id="41" name="Rounded Rectangle 40"/>
          <p:cNvSpPr/>
          <p:nvPr/>
        </p:nvSpPr>
        <p:spPr>
          <a:xfrm>
            <a:off x="548640" y="3703319"/>
            <a:ext cx="5577840" cy="214884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3840479"/>
            <a:ext cx="5212080" cy="192024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00D4FF"/>
                </a:solidFill>
                <a:latin typeface="Segoe UI"/>
              </a:rPr>
              <a:t>Risk score — weighted formula</a:t>
            </a:r>
          </a:p>
          <a:p>
            <a:pPr algn="l">
              <a:lnSpc>
                <a:spcPct val="100000"/>
              </a:lnSpc>
              <a:spcBef>
                <a:spcPts val="0"/>
              </a:spcBef>
              <a:spcAft>
                <a:spcPts val="600"/>
              </a:spcAft>
            </a:pPr>
            <a:r>
              <a:rPr sz="1250" b="1" i="0">
                <a:solidFill>
                  <a:srgbClr val="FFFFFF"/>
                </a:solidFill>
                <a:latin typeface="Segoe UI"/>
              </a:rPr>
              <a:t>Score = 0.60·confidence + 0.25·keyword + 0.15·URL</a:t>
            </a:r>
          </a:p>
          <a:p>
            <a:pPr algn="l">
              <a:lnSpc>
                <a:spcPct val="100000"/>
              </a:lnSpc>
              <a:spcBef>
                <a:spcPts val="0"/>
              </a:spcBef>
              <a:spcAft>
                <a:spcPts val="300"/>
              </a:spcAft>
            </a:pPr>
            <a:r>
              <a:rPr sz="1100" b="0" i="0">
                <a:solidFill>
                  <a:srgbClr val="9CA9D0"/>
                </a:solidFill>
                <a:latin typeface="Segoe UI"/>
              </a:rPr>
              <a:t>keyword term = min(keywords × 3, 25)</a:t>
            </a:r>
          </a:p>
          <a:p>
            <a:pPr algn="l">
              <a:lnSpc>
                <a:spcPct val="100000"/>
              </a:lnSpc>
              <a:spcBef>
                <a:spcPts val="0"/>
              </a:spcBef>
              <a:spcAft>
                <a:spcPts val="600"/>
              </a:spcAft>
            </a:pPr>
            <a:r>
              <a:rPr sz="1100" b="0" i="0">
                <a:solidFill>
                  <a:srgbClr val="9CA9D0"/>
                </a:solidFill>
                <a:latin typeface="Segoe UI"/>
              </a:rPr>
              <a:t>URL term     = min(urls × 5, 15)</a:t>
            </a:r>
          </a:p>
          <a:p>
            <a:pPr algn="l">
              <a:lnSpc>
                <a:spcPct val="100000"/>
              </a:lnSpc>
              <a:spcBef>
                <a:spcPts val="0"/>
              </a:spcBef>
              <a:spcAft>
                <a:spcPts val="0"/>
              </a:spcAft>
            </a:pPr>
            <a:r>
              <a:rPr sz="1100" b="0" i="0">
                <a:solidFill>
                  <a:srgbClr val="F59E0B"/>
                </a:solidFill>
                <a:latin typeface="Segoe UI"/>
              </a:rPr>
              <a:t>Levels: 0–30 Low · 31–60 Medium · 61–80 High · 81–100 Critical</a:t>
            </a:r>
          </a:p>
        </p:txBody>
      </p:sp>
      <p:sp>
        <p:nvSpPr>
          <p:cNvPr id="43" name="Rounded Rectangle 42"/>
          <p:cNvSpPr/>
          <p:nvPr/>
        </p:nvSpPr>
        <p:spPr>
          <a:xfrm>
            <a:off x="6355080" y="3703319"/>
            <a:ext cx="5285232" cy="214884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0" y="3840479"/>
            <a:ext cx="4846320" cy="192024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10B981"/>
                </a:solidFill>
                <a:latin typeface="Segoe UI"/>
              </a:rPr>
              <a:t>Per-email output</a:t>
            </a:r>
          </a:p>
          <a:p>
            <a:pPr algn="l" marL="183000" indent="-183000">
              <a:lnSpc>
                <a:spcPct val="100000"/>
              </a:lnSpc>
              <a:spcBef>
                <a:spcPts val="0"/>
              </a:spcBef>
              <a:spcAft>
                <a:spcPts val="400"/>
              </a:spcAft>
            </a:pPr>
            <a:r>
              <a:rPr sz="1100" b="1">
                <a:solidFill>
                  <a:srgbClr val="10B981"/>
                </a:solidFill>
                <a:latin typeface="Segoe UI"/>
              </a:rPr>
              <a:t>▪  </a:t>
            </a:r>
            <a:r>
              <a:rPr sz="1100" b="0" i="0">
                <a:solidFill>
                  <a:srgbClr val="E2E8F0"/>
                </a:solidFill>
                <a:latin typeface="Segoe UI"/>
              </a:rPr>
              <a:t>Verdict + confidence (model probability)</a:t>
            </a:r>
          </a:p>
          <a:p>
            <a:pPr algn="l" marL="183000" indent="-183000">
              <a:lnSpc>
                <a:spcPct val="100000"/>
              </a:lnSpc>
              <a:spcBef>
                <a:spcPts val="0"/>
              </a:spcBef>
              <a:spcAft>
                <a:spcPts val="400"/>
              </a:spcAft>
            </a:pPr>
            <a:r>
              <a:rPr sz="1100" b="1">
                <a:solidFill>
                  <a:srgbClr val="10B981"/>
                </a:solidFill>
                <a:latin typeface="Segoe UI"/>
              </a:rPr>
              <a:t>▪  </a:t>
            </a:r>
            <a:r>
              <a:rPr sz="1100" b="0" i="0">
                <a:solidFill>
                  <a:srgbClr val="E2E8F0"/>
                </a:solidFill>
                <a:latin typeface="Segoe UI"/>
              </a:rPr>
              <a:t>Suspicious keyword highlighting &amp; detected URLs</a:t>
            </a:r>
          </a:p>
          <a:p>
            <a:pPr algn="l" marL="183000" indent="-183000">
              <a:lnSpc>
                <a:spcPct val="100000"/>
              </a:lnSpc>
              <a:spcBef>
                <a:spcPts val="0"/>
              </a:spcBef>
              <a:spcAft>
                <a:spcPts val="400"/>
              </a:spcAft>
            </a:pPr>
            <a:r>
              <a:rPr sz="1100" b="1">
                <a:solidFill>
                  <a:srgbClr val="10B981"/>
                </a:solidFill>
                <a:latin typeface="Segoe UI"/>
              </a:rPr>
              <a:t>▪  </a:t>
            </a:r>
            <a:r>
              <a:rPr sz="1100" b="0" i="0">
                <a:solidFill>
                  <a:srgbClr val="E2E8F0"/>
                </a:solidFill>
                <a:latin typeface="Segoe UI"/>
              </a:rPr>
              <a:t>Natural-language explanation &amp; safety recommendation</a:t>
            </a:r>
          </a:p>
          <a:p>
            <a:pPr algn="l" marL="183000" indent="-183000">
              <a:lnSpc>
                <a:spcPct val="100000"/>
              </a:lnSpc>
              <a:spcBef>
                <a:spcPts val="0"/>
              </a:spcBef>
              <a:spcAft>
                <a:spcPts val="400"/>
              </a:spcAft>
            </a:pPr>
            <a:r>
              <a:rPr sz="1100" b="1">
                <a:solidFill>
                  <a:srgbClr val="10B981"/>
                </a:solidFill>
                <a:latin typeface="Segoe UI"/>
              </a:rPr>
              <a:t>▪  </a:t>
            </a:r>
            <a:r>
              <a:rPr sz="1100" b="0" i="0">
                <a:solidFill>
                  <a:srgbClr val="E2E8F0"/>
                </a:solidFill>
                <a:latin typeface="Segoe UI"/>
              </a:rPr>
              <a:t>Downloadable .txt security report</a:t>
            </a:r>
          </a:p>
        </p:txBody>
      </p:sp>
      <p:sp>
        <p:nvSpPr>
          <p:cNvPr id="45" name="Rounded Rectangle 44"/>
          <p:cNvSpPr/>
          <p:nvPr/>
        </p:nvSpPr>
        <p:spPr>
          <a:xfrm>
            <a:off x="548640" y="6035039"/>
            <a:ext cx="11091672" cy="457200"/>
          </a:xfrm>
          <a:prstGeom prst="roundRect">
            <a:avLst>
              <a:gd name="adj" fmla="val 50000"/>
            </a:avLst>
          </a:prstGeom>
          <a:solidFill>
            <a:srgbClr val="1A1F3A"/>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6035039"/>
            <a:ext cx="10698480" cy="457200"/>
          </a:xfrm>
          <a:prstGeom prst="rect">
            <a:avLst/>
          </a:prstGeom>
          <a:noFill/>
        </p:spPr>
        <p:txBody>
          <a:bodyPr wrap="square" anchor="ctr" lIns="0" rIns="0" tIns="0" bIns="0">
            <a:spAutoFit/>
          </a:bodyPr>
          <a:lstStyle/>
          <a:p>
            <a:pPr algn="ctr">
              <a:lnSpc>
                <a:spcPct val="100000"/>
              </a:lnSpc>
              <a:spcBef>
                <a:spcPts val="0"/>
              </a:spcBef>
              <a:spcAft>
                <a:spcPts val="0"/>
              </a:spcAft>
            </a:pPr>
            <a:r>
              <a:rPr sz="1150" b="0" i="0">
                <a:solidFill>
                  <a:srgbClr val="00D4FF"/>
                </a:solidFill>
                <a:latin typeface="Segoe UI"/>
              </a:rPr>
              <a:t>CSV batch scanning appends verdict · label · confidence · risk_score · risk_level to every row</a:t>
            </a:r>
          </a:p>
        </p:txBody>
      </p:sp>
      <p:sp>
        <p:nvSpPr>
          <p:cNvPr id="47" name="TextBox 46"/>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48" name="TextBox 47"/>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24 · STREAMLIT UI</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Streamlit Application — “AI Phishing Shield”</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Cyber-themed, multipage, light/dark themes</a:t>
            </a:r>
          </a:p>
        </p:txBody>
      </p:sp>
      <p:sp>
        <p:nvSpPr>
          <p:cNvPr id="11" name="Rounded Rectangle 10"/>
          <p:cNvSpPr/>
          <p:nvPr/>
        </p:nvSpPr>
        <p:spPr>
          <a:xfrm>
            <a:off x="548640" y="1874519"/>
            <a:ext cx="4846320" cy="84124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 y="2339034"/>
            <a:ext cx="114117" cy="175564"/>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48781" y="2273197"/>
            <a:ext cx="114117" cy="241401"/>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89233" y="2163469"/>
            <a:ext cx="114117" cy="351129"/>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17320" y="1984247"/>
            <a:ext cx="3840480" cy="64008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00D4FF"/>
                </a:solidFill>
                <a:latin typeface="Segoe UI"/>
              </a:rPr>
              <a:t>Dashboard</a:t>
            </a:r>
          </a:p>
          <a:p>
            <a:pPr algn="l">
              <a:lnSpc>
                <a:spcPct val="105000"/>
              </a:lnSpc>
              <a:spcBef>
                <a:spcPts val="0"/>
              </a:spcBef>
              <a:spcAft>
                <a:spcPts val="0"/>
              </a:spcAft>
            </a:pPr>
            <a:r>
              <a:rPr sz="1050" b="0" i="0">
                <a:solidFill>
                  <a:srgbClr val="9CA9D0"/>
                </a:solidFill>
                <a:latin typeface="Segoe UI"/>
              </a:rPr>
              <a:t>KPIs, threat donut, model leaderboard, prediction history</a:t>
            </a:r>
          </a:p>
        </p:txBody>
      </p:sp>
      <p:sp>
        <p:nvSpPr>
          <p:cNvPr id="16" name="Rounded Rectangle 15"/>
          <p:cNvSpPr/>
          <p:nvPr/>
        </p:nvSpPr>
        <p:spPr>
          <a:xfrm>
            <a:off x="548640" y="2788919"/>
            <a:ext cx="4846320" cy="84124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6384" y="3051534"/>
            <a:ext cx="438912" cy="298460"/>
          </a:xfrm>
          <a:prstGeom prst="roundRect">
            <a:avLst>
              <a:gd name="adj" fmla="val 14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786384" y="3051534"/>
            <a:ext cx="438912" cy="241401"/>
          </a:xfrm>
          <a:prstGeom prst="triangl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17320" y="2898647"/>
            <a:ext cx="3840480" cy="64008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10B981"/>
                </a:solidFill>
                <a:latin typeface="Segoe UI"/>
              </a:rPr>
              <a:t>Email Detector</a:t>
            </a:r>
          </a:p>
          <a:p>
            <a:pPr algn="l">
              <a:lnSpc>
                <a:spcPct val="105000"/>
              </a:lnSpc>
              <a:spcBef>
                <a:spcPts val="0"/>
              </a:spcBef>
              <a:spcAft>
                <a:spcPts val="0"/>
              </a:spcAft>
            </a:pPr>
            <a:r>
              <a:rPr sz="1050" b="0" i="0">
                <a:solidFill>
                  <a:srgbClr val="9CA9D0"/>
                </a:solidFill>
                <a:latin typeface="Segoe UI"/>
              </a:rPr>
              <a:t>paste / file / CSV · live risk gauge · highlighted keywords</a:t>
            </a:r>
          </a:p>
        </p:txBody>
      </p:sp>
      <p:sp>
        <p:nvSpPr>
          <p:cNvPr id="20" name="Rounded Rectangle 19"/>
          <p:cNvSpPr/>
          <p:nvPr/>
        </p:nvSpPr>
        <p:spPr>
          <a:xfrm>
            <a:off x="548640" y="3703319"/>
            <a:ext cx="4846320" cy="84124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n 20"/>
          <p:cNvSpPr/>
          <p:nvPr/>
        </p:nvSpPr>
        <p:spPr>
          <a:xfrm>
            <a:off x="808329" y="3904487"/>
            <a:ext cx="395020" cy="438912"/>
          </a:xfrm>
          <a:prstGeom prst="ca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3813047"/>
            <a:ext cx="3840480" cy="64008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7C3AED"/>
                </a:solidFill>
                <a:latin typeface="Segoe UI"/>
              </a:rPr>
              <a:t>Dataset Analytics</a:t>
            </a:r>
          </a:p>
          <a:p>
            <a:pPr algn="l">
              <a:lnSpc>
                <a:spcPct val="105000"/>
              </a:lnSpc>
              <a:spcBef>
                <a:spcPts val="0"/>
              </a:spcBef>
              <a:spcAft>
                <a:spcPts val="0"/>
              </a:spcAft>
            </a:pPr>
            <a:r>
              <a:rPr sz="1050" b="0" i="0">
                <a:solidFill>
                  <a:srgbClr val="9CA9D0"/>
                </a:solidFill>
                <a:latin typeface="Segoe UI"/>
              </a:rPr>
              <a:t>class &amp; source distribution, wordclouds, top words, heatmap</a:t>
            </a:r>
          </a:p>
        </p:txBody>
      </p:sp>
      <p:sp>
        <p:nvSpPr>
          <p:cNvPr id="23" name="Rounded Rectangle 22"/>
          <p:cNvSpPr/>
          <p:nvPr/>
        </p:nvSpPr>
        <p:spPr>
          <a:xfrm>
            <a:off x="548640" y="4617719"/>
            <a:ext cx="4846320" cy="84124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exagon 23"/>
          <p:cNvSpPr/>
          <p:nvPr/>
        </p:nvSpPr>
        <p:spPr>
          <a:xfrm>
            <a:off x="874166" y="4906669"/>
            <a:ext cx="263347" cy="263347"/>
          </a:xfrm>
          <a:prstGeom prst="hexag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60049" y="4792552"/>
            <a:ext cx="122895" cy="122895"/>
          </a:xfrm>
          <a:prstGeom prst="ellipse">
            <a:avLst/>
          </a:prstGeom>
          <a:solidFill>
            <a:srgbClr val="151A38"/>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28735" y="4792552"/>
            <a:ext cx="122895" cy="122895"/>
          </a:xfrm>
          <a:prstGeom prst="ellipse">
            <a:avLst/>
          </a:prstGeom>
          <a:solidFill>
            <a:srgbClr val="151A38"/>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0049" y="5161238"/>
            <a:ext cx="122895" cy="122895"/>
          </a:xfrm>
          <a:prstGeom prst="ellipse">
            <a:avLst/>
          </a:prstGeom>
          <a:solidFill>
            <a:srgbClr val="151A38"/>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28735" y="5161238"/>
            <a:ext cx="122895" cy="122895"/>
          </a:xfrm>
          <a:prstGeom prst="ellipse">
            <a:avLst/>
          </a:prstGeom>
          <a:solidFill>
            <a:srgbClr val="151A38"/>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17320" y="4727447"/>
            <a:ext cx="3840480" cy="64008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F59E0B"/>
                </a:solidFill>
                <a:latin typeface="Segoe UI"/>
              </a:rPr>
              <a:t>Model Performance</a:t>
            </a:r>
          </a:p>
          <a:p>
            <a:pPr algn="l">
              <a:lnSpc>
                <a:spcPct val="105000"/>
              </a:lnSpc>
              <a:spcBef>
                <a:spcPts val="0"/>
              </a:spcBef>
              <a:spcAft>
                <a:spcPts val="0"/>
              </a:spcAft>
            </a:pPr>
            <a:r>
              <a:rPr sz="1050" b="0" i="0">
                <a:solidFill>
                  <a:srgbClr val="9CA9D0"/>
                </a:solidFill>
                <a:latin typeface="Segoe UI"/>
              </a:rPr>
              <a:t>metrics table, ROC/PR curves, confusion matrices, feature importance</a:t>
            </a:r>
          </a:p>
        </p:txBody>
      </p:sp>
      <p:sp>
        <p:nvSpPr>
          <p:cNvPr id="30" name="Rounded Rectangle 29"/>
          <p:cNvSpPr/>
          <p:nvPr/>
        </p:nvSpPr>
        <p:spPr>
          <a:xfrm>
            <a:off x="548640" y="5532119"/>
            <a:ext cx="4846320" cy="841248"/>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9053" y="5733287"/>
            <a:ext cx="333573" cy="43891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91722" y="5829847"/>
            <a:ext cx="228234" cy="30723"/>
          </a:xfrm>
          <a:prstGeom prst="rect">
            <a:avLst/>
          </a:prstGeom>
          <a:solidFill>
            <a:srgbClr val="151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1722" y="5943964"/>
            <a:ext cx="228234" cy="30723"/>
          </a:xfrm>
          <a:prstGeom prst="rect">
            <a:avLst/>
          </a:prstGeom>
          <a:solidFill>
            <a:srgbClr val="151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1722" y="6058081"/>
            <a:ext cx="228234" cy="30723"/>
          </a:xfrm>
          <a:prstGeom prst="rect">
            <a:avLst/>
          </a:prstGeom>
          <a:solidFill>
            <a:srgbClr val="151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17320" y="5641847"/>
            <a:ext cx="3840480" cy="64008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3B82F6"/>
                </a:solidFill>
                <a:latin typeface="Segoe UI"/>
              </a:rPr>
              <a:t>About Project</a:t>
            </a:r>
          </a:p>
          <a:p>
            <a:pPr algn="l">
              <a:lnSpc>
                <a:spcPct val="105000"/>
              </a:lnSpc>
              <a:spcBef>
                <a:spcPts val="0"/>
              </a:spcBef>
              <a:spcAft>
                <a:spcPts val="0"/>
              </a:spcAft>
            </a:pPr>
            <a:r>
              <a:rPr sz="1050" b="0" i="0">
                <a:solidFill>
                  <a:srgbClr val="9CA9D0"/>
                </a:solidFill>
                <a:latin typeface="Segoe UI"/>
              </a:rPr>
              <a:t>methodology, architecture map, tech stack, credits</a:t>
            </a:r>
          </a:p>
        </p:txBody>
      </p:sp>
      <p:pic>
        <p:nvPicPr>
          <p:cNvPr id="36" name="Picture 35" descr="ui_dashboard.png"/>
          <p:cNvPicPr>
            <a:picLocks noChangeAspect="1"/>
          </p:cNvPicPr>
          <p:nvPr/>
        </p:nvPicPr>
        <p:blipFill>
          <a:blip r:embed="rId2"/>
          <a:stretch>
            <a:fillRect/>
          </a:stretch>
        </p:blipFill>
        <p:spPr>
          <a:xfrm>
            <a:off x="5788152" y="1874519"/>
            <a:ext cx="5705856" cy="3566160"/>
          </a:xfrm>
          <a:prstGeom prst="rect">
            <a:avLst/>
          </a:prstGeom>
        </p:spPr>
      </p:pic>
      <p:sp>
        <p:nvSpPr>
          <p:cNvPr id="37" name="Rectangle 36"/>
          <p:cNvSpPr/>
          <p:nvPr/>
        </p:nvSpPr>
        <p:spPr>
          <a:xfrm>
            <a:off x="5788152" y="1874519"/>
            <a:ext cx="5705856" cy="3566160"/>
          </a:xfrm>
          <a:prstGeom prst="rect">
            <a:avLst/>
          </a:prstGeom>
          <a:no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623560" y="5577839"/>
            <a:ext cx="6035040" cy="822960"/>
          </a:xfrm>
          <a:prstGeom prst="roundRect">
            <a:avLst>
              <a:gd name="adj" fmla="val 10000"/>
            </a:avLst>
          </a:prstGeom>
          <a:solidFill>
            <a:srgbClr val="1A1F3A"/>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52160" y="5714999"/>
            <a:ext cx="5577840" cy="594360"/>
          </a:xfrm>
          <a:prstGeom prst="rect">
            <a:avLst/>
          </a:prstGeom>
          <a:noFill/>
        </p:spPr>
        <p:txBody>
          <a:bodyPr wrap="square" anchor="t" lIns="0" rIns="0" tIns="0" bIns="0">
            <a:spAutoFit/>
          </a:bodyPr>
          <a:lstStyle/>
          <a:p>
            <a:pPr algn="l">
              <a:lnSpc>
                <a:spcPct val="100000"/>
              </a:lnSpc>
              <a:spcBef>
                <a:spcPts val="0"/>
              </a:spcBef>
              <a:spcAft>
                <a:spcPts val="300"/>
              </a:spcAft>
            </a:pPr>
            <a:r>
              <a:rPr sz="1150" b="1" i="0">
                <a:solidFill>
                  <a:srgbClr val="00D4FF"/>
                </a:solidFill>
                <a:latin typeface="Segoe UI"/>
              </a:rPr>
              <a:t>Live status sidebar</a:t>
            </a:r>
          </a:p>
          <a:p>
            <a:pPr algn="l">
              <a:lnSpc>
                <a:spcPct val="100000"/>
              </a:lnSpc>
              <a:spcBef>
                <a:spcPts val="0"/>
              </a:spcBef>
              <a:spcAft>
                <a:spcPts val="0"/>
              </a:spcAft>
            </a:pPr>
            <a:r>
              <a:rPr sz="1050" b="0" i="0">
                <a:solidFill>
                  <a:srgbClr val="9CA9D0"/>
                </a:solidFill>
                <a:latin typeface="Segoe UI"/>
              </a:rPr>
              <a:t>Engine ONLINE · NLP READY · Vectorizer ACTIVE — theme toggle, v2.0.0</a:t>
            </a:r>
          </a:p>
        </p:txBody>
      </p:sp>
      <p:sp>
        <p:nvSpPr>
          <p:cNvPr id="40" name="TextBox 39"/>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41" name="TextBox 40"/>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25 · DEMO SCREENSHOTS</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Live Application Screenshots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26464"/>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9CA9D0"/>
                </a:solidFill>
                <a:latin typeface="Segoe UI"/>
              </a:rPr>
              <a:t>Real captures from the running Streamlit dashboard</a:t>
            </a:r>
          </a:p>
        </p:txBody>
      </p:sp>
      <p:sp>
        <p:nvSpPr>
          <p:cNvPr id="11" name="Rounded Rectangle 10"/>
          <p:cNvSpPr/>
          <p:nvPr/>
        </p:nvSpPr>
        <p:spPr>
          <a:xfrm>
            <a:off x="548640" y="1874519"/>
            <a:ext cx="5486400" cy="2286000"/>
          </a:xfrm>
          <a:prstGeom prst="roundRect">
            <a:avLst>
              <a:gd name="adj" fmla="val 8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i_dashboard.png"/>
          <p:cNvPicPr>
            <a:picLocks noChangeAspect="1"/>
          </p:cNvPicPr>
          <p:nvPr/>
        </p:nvPicPr>
        <p:blipFill>
          <a:blip r:embed="rId2"/>
          <a:stretch>
            <a:fillRect/>
          </a:stretch>
        </p:blipFill>
        <p:spPr>
          <a:xfrm>
            <a:off x="1828800" y="1929383"/>
            <a:ext cx="2926080" cy="1828800"/>
          </a:xfrm>
          <a:prstGeom prst="rect">
            <a:avLst/>
          </a:prstGeom>
        </p:spPr>
      </p:pic>
      <p:sp>
        <p:nvSpPr>
          <p:cNvPr id="13" name="TextBox 12"/>
          <p:cNvSpPr txBox="1"/>
          <p:nvPr/>
        </p:nvSpPr>
        <p:spPr>
          <a:xfrm>
            <a:off x="548640" y="3776471"/>
            <a:ext cx="5486400" cy="347472"/>
          </a:xfrm>
          <a:prstGeom prst="rect">
            <a:avLst/>
          </a:prstGeom>
          <a:noFill/>
        </p:spPr>
        <p:txBody>
          <a:bodyPr wrap="square" anchor="t" lIns="0" rIns="0" tIns="0" bIns="0">
            <a:spAutoFit/>
          </a:bodyPr>
          <a:lstStyle/>
          <a:p>
            <a:pPr algn="ctr">
              <a:lnSpc>
                <a:spcPct val="100000"/>
              </a:lnSpc>
              <a:spcBef>
                <a:spcPts val="0"/>
              </a:spcBef>
              <a:spcAft>
                <a:spcPts val="0"/>
              </a:spcAft>
            </a:pPr>
            <a:r>
              <a:rPr sz="1150" b="1" i="0">
                <a:solidFill>
                  <a:srgbClr val="00D4FF"/>
                </a:solidFill>
                <a:latin typeface="Segoe UI"/>
              </a:rPr>
              <a:t>Security Dashboard</a:t>
            </a:r>
          </a:p>
        </p:txBody>
      </p:sp>
      <p:sp>
        <p:nvSpPr>
          <p:cNvPr id="14" name="Rounded Rectangle 13"/>
          <p:cNvSpPr/>
          <p:nvPr/>
        </p:nvSpPr>
        <p:spPr>
          <a:xfrm>
            <a:off x="6153912" y="1874519"/>
            <a:ext cx="5486400" cy="2286000"/>
          </a:xfrm>
          <a:prstGeom prst="roundRect">
            <a:avLst>
              <a:gd name="adj" fmla="val 8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ui_email_detector.png"/>
          <p:cNvPicPr>
            <a:picLocks noChangeAspect="1"/>
          </p:cNvPicPr>
          <p:nvPr/>
        </p:nvPicPr>
        <p:blipFill>
          <a:blip r:embed="rId3"/>
          <a:stretch>
            <a:fillRect/>
          </a:stretch>
        </p:blipFill>
        <p:spPr>
          <a:xfrm>
            <a:off x="7434072" y="1929383"/>
            <a:ext cx="2926080" cy="1828800"/>
          </a:xfrm>
          <a:prstGeom prst="rect">
            <a:avLst/>
          </a:prstGeom>
        </p:spPr>
      </p:pic>
      <p:sp>
        <p:nvSpPr>
          <p:cNvPr id="16" name="TextBox 15"/>
          <p:cNvSpPr txBox="1"/>
          <p:nvPr/>
        </p:nvSpPr>
        <p:spPr>
          <a:xfrm>
            <a:off x="6153912" y="3776471"/>
            <a:ext cx="5486400" cy="347472"/>
          </a:xfrm>
          <a:prstGeom prst="rect">
            <a:avLst/>
          </a:prstGeom>
          <a:noFill/>
        </p:spPr>
        <p:txBody>
          <a:bodyPr wrap="square" anchor="t" lIns="0" rIns="0" tIns="0" bIns="0">
            <a:spAutoFit/>
          </a:bodyPr>
          <a:lstStyle/>
          <a:p>
            <a:pPr algn="ctr">
              <a:lnSpc>
                <a:spcPct val="100000"/>
              </a:lnSpc>
              <a:spcBef>
                <a:spcPts val="0"/>
              </a:spcBef>
              <a:spcAft>
                <a:spcPts val="0"/>
              </a:spcAft>
            </a:pPr>
            <a:r>
              <a:rPr sz="1150" b="1" i="0">
                <a:solidFill>
                  <a:srgbClr val="00D4FF"/>
                </a:solidFill>
                <a:latin typeface="Segoe UI"/>
              </a:rPr>
              <a:t>Email Detector</a:t>
            </a:r>
          </a:p>
        </p:txBody>
      </p:sp>
      <p:sp>
        <p:nvSpPr>
          <p:cNvPr id="17" name="Rounded Rectangle 16"/>
          <p:cNvSpPr/>
          <p:nvPr/>
        </p:nvSpPr>
        <p:spPr>
          <a:xfrm>
            <a:off x="548640" y="4114799"/>
            <a:ext cx="5486400" cy="2286000"/>
          </a:xfrm>
          <a:prstGeom prst="roundRect">
            <a:avLst>
              <a:gd name="adj" fmla="val 8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ui_dataset_analytics.png"/>
          <p:cNvPicPr>
            <a:picLocks noChangeAspect="1"/>
          </p:cNvPicPr>
          <p:nvPr/>
        </p:nvPicPr>
        <p:blipFill>
          <a:blip r:embed="rId4"/>
          <a:stretch>
            <a:fillRect/>
          </a:stretch>
        </p:blipFill>
        <p:spPr>
          <a:xfrm>
            <a:off x="1828800" y="4169663"/>
            <a:ext cx="2926080" cy="1828800"/>
          </a:xfrm>
          <a:prstGeom prst="rect">
            <a:avLst/>
          </a:prstGeom>
        </p:spPr>
      </p:pic>
      <p:sp>
        <p:nvSpPr>
          <p:cNvPr id="19" name="TextBox 18"/>
          <p:cNvSpPr txBox="1"/>
          <p:nvPr/>
        </p:nvSpPr>
        <p:spPr>
          <a:xfrm>
            <a:off x="548640" y="6016751"/>
            <a:ext cx="5486400" cy="347472"/>
          </a:xfrm>
          <a:prstGeom prst="rect">
            <a:avLst/>
          </a:prstGeom>
          <a:noFill/>
        </p:spPr>
        <p:txBody>
          <a:bodyPr wrap="square" anchor="t" lIns="0" rIns="0" tIns="0" bIns="0">
            <a:spAutoFit/>
          </a:bodyPr>
          <a:lstStyle/>
          <a:p>
            <a:pPr algn="ctr">
              <a:lnSpc>
                <a:spcPct val="100000"/>
              </a:lnSpc>
              <a:spcBef>
                <a:spcPts val="0"/>
              </a:spcBef>
              <a:spcAft>
                <a:spcPts val="0"/>
              </a:spcAft>
            </a:pPr>
            <a:r>
              <a:rPr sz="1150" b="1" i="0">
                <a:solidFill>
                  <a:srgbClr val="00D4FF"/>
                </a:solidFill>
                <a:latin typeface="Segoe UI"/>
              </a:rPr>
              <a:t>Dataset Analytics</a:t>
            </a:r>
          </a:p>
        </p:txBody>
      </p:sp>
      <p:sp>
        <p:nvSpPr>
          <p:cNvPr id="20" name="Rounded Rectangle 19"/>
          <p:cNvSpPr/>
          <p:nvPr/>
        </p:nvSpPr>
        <p:spPr>
          <a:xfrm>
            <a:off x="6153912" y="4114799"/>
            <a:ext cx="5486400" cy="2286000"/>
          </a:xfrm>
          <a:prstGeom prst="roundRect">
            <a:avLst>
              <a:gd name="adj" fmla="val 8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ui_model_performance.png"/>
          <p:cNvPicPr>
            <a:picLocks noChangeAspect="1"/>
          </p:cNvPicPr>
          <p:nvPr/>
        </p:nvPicPr>
        <p:blipFill>
          <a:blip r:embed="rId5"/>
          <a:stretch>
            <a:fillRect/>
          </a:stretch>
        </p:blipFill>
        <p:spPr>
          <a:xfrm>
            <a:off x="7434072" y="4169663"/>
            <a:ext cx="2926080" cy="1828800"/>
          </a:xfrm>
          <a:prstGeom prst="rect">
            <a:avLst/>
          </a:prstGeom>
        </p:spPr>
      </p:pic>
      <p:sp>
        <p:nvSpPr>
          <p:cNvPr id="22" name="TextBox 21"/>
          <p:cNvSpPr txBox="1"/>
          <p:nvPr/>
        </p:nvSpPr>
        <p:spPr>
          <a:xfrm>
            <a:off x="6153912" y="6016751"/>
            <a:ext cx="5486400" cy="347472"/>
          </a:xfrm>
          <a:prstGeom prst="rect">
            <a:avLst/>
          </a:prstGeom>
          <a:noFill/>
        </p:spPr>
        <p:txBody>
          <a:bodyPr wrap="square" anchor="t" lIns="0" rIns="0" tIns="0" bIns="0">
            <a:spAutoFit/>
          </a:bodyPr>
          <a:lstStyle/>
          <a:p>
            <a:pPr algn="ctr">
              <a:lnSpc>
                <a:spcPct val="100000"/>
              </a:lnSpc>
              <a:spcBef>
                <a:spcPts val="0"/>
              </a:spcBef>
              <a:spcAft>
                <a:spcPts val="0"/>
              </a:spcAft>
            </a:pPr>
            <a:r>
              <a:rPr sz="1150" b="1" i="0">
                <a:solidFill>
                  <a:srgbClr val="00D4FF"/>
                </a:solidFill>
                <a:latin typeface="Segoe UI"/>
              </a:rPr>
              <a:t>Model Performance</a:t>
            </a:r>
          </a:p>
        </p:txBody>
      </p:sp>
      <p:sp>
        <p:nvSpPr>
          <p:cNvPr id="23" name="TextBox 22"/>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24" name="TextBox 23"/>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26 · ADVANTAGES</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Advantages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1874519"/>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960" y="233171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331719"/>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900" b="1" i="0">
                <a:solidFill>
                  <a:srgbClr val="0A0E27"/>
                </a:solidFill>
                <a:latin typeface="Segoe UI"/>
              </a:rPr>
              <a:t>✓</a:t>
            </a:r>
          </a:p>
        </p:txBody>
      </p:sp>
      <p:sp>
        <p:nvSpPr>
          <p:cNvPr id="13" name="TextBox 12"/>
          <p:cNvSpPr txBox="1"/>
          <p:nvPr/>
        </p:nvSpPr>
        <p:spPr>
          <a:xfrm>
            <a:off x="1508760" y="2057399"/>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10B981"/>
                </a:solidFill>
                <a:latin typeface="Segoe UI"/>
              </a:rPr>
              <a:t>High accuracy</a:t>
            </a:r>
          </a:p>
          <a:p>
            <a:pPr algn="l">
              <a:lnSpc>
                <a:spcPct val="115000"/>
              </a:lnSpc>
              <a:spcBef>
                <a:spcPts val="0"/>
              </a:spcBef>
              <a:spcAft>
                <a:spcPts val="0"/>
              </a:spcAft>
            </a:pPr>
            <a:r>
              <a:rPr sz="1100" b="0" i="0">
                <a:solidFill>
                  <a:srgbClr val="9CA9D0"/>
                </a:solidFill>
                <a:latin typeface="Segoe UI"/>
              </a:rPr>
              <a:t>99.31% accuracy · 99.34% F1 on 25,486 held-out emails.</a:t>
            </a:r>
          </a:p>
        </p:txBody>
      </p:sp>
      <p:sp>
        <p:nvSpPr>
          <p:cNvPr id="14" name="Rounded Rectangle 13"/>
          <p:cNvSpPr/>
          <p:nvPr/>
        </p:nvSpPr>
        <p:spPr>
          <a:xfrm>
            <a:off x="6172200" y="1874519"/>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46520" y="233171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331719"/>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900" b="1" i="0">
                <a:solidFill>
                  <a:srgbClr val="0A0E27"/>
                </a:solidFill>
                <a:latin typeface="Segoe UI"/>
              </a:rPr>
              <a:t>✓</a:t>
            </a:r>
          </a:p>
        </p:txBody>
      </p:sp>
      <p:sp>
        <p:nvSpPr>
          <p:cNvPr id="17" name="TextBox 16"/>
          <p:cNvSpPr txBox="1"/>
          <p:nvPr/>
        </p:nvSpPr>
        <p:spPr>
          <a:xfrm>
            <a:off x="7132320" y="2057399"/>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10B981"/>
                </a:solidFill>
                <a:latin typeface="Segoe UI"/>
              </a:rPr>
              <a:t>Hard to bypass</a:t>
            </a:r>
          </a:p>
          <a:p>
            <a:pPr algn="l">
              <a:lnSpc>
                <a:spcPct val="115000"/>
              </a:lnSpc>
              <a:spcBef>
                <a:spcPts val="0"/>
              </a:spcBef>
              <a:spcAft>
                <a:spcPts val="0"/>
              </a:spcAft>
            </a:pPr>
            <a:r>
              <a:rPr sz="1100" b="0" i="0">
                <a:solidFill>
                  <a:srgbClr val="9CA9D0"/>
                </a:solidFill>
                <a:latin typeface="Segoe UI"/>
              </a:rPr>
              <a:t>Hybrid features — semantic + structural — survive paraphrasing and obfuscation.</a:t>
            </a:r>
          </a:p>
        </p:txBody>
      </p:sp>
      <p:sp>
        <p:nvSpPr>
          <p:cNvPr id="18" name="Rounded Rectangle 17"/>
          <p:cNvSpPr/>
          <p:nvPr/>
        </p:nvSpPr>
        <p:spPr>
          <a:xfrm>
            <a:off x="548640" y="3355847"/>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60" y="381304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813047"/>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900" b="1" i="0">
                <a:solidFill>
                  <a:srgbClr val="0A0E27"/>
                </a:solidFill>
                <a:latin typeface="Segoe UI"/>
              </a:rPr>
              <a:t>✓</a:t>
            </a:r>
          </a:p>
        </p:txBody>
      </p:sp>
      <p:sp>
        <p:nvSpPr>
          <p:cNvPr id="21" name="TextBox 20"/>
          <p:cNvSpPr txBox="1"/>
          <p:nvPr/>
        </p:nvSpPr>
        <p:spPr>
          <a:xfrm>
            <a:off x="1508760" y="3538727"/>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10B981"/>
                </a:solidFill>
                <a:latin typeface="Segoe UI"/>
              </a:rPr>
              <a:t>Explainable output</a:t>
            </a:r>
          </a:p>
          <a:p>
            <a:pPr algn="l">
              <a:lnSpc>
                <a:spcPct val="115000"/>
              </a:lnSpc>
              <a:spcBef>
                <a:spcPts val="0"/>
              </a:spcBef>
              <a:spcAft>
                <a:spcPts val="0"/>
              </a:spcAft>
            </a:pPr>
            <a:r>
              <a:rPr sz="1100" b="0" i="0">
                <a:solidFill>
                  <a:srgbClr val="9CA9D0"/>
                </a:solidFill>
                <a:latin typeface="Segoe UI"/>
              </a:rPr>
              <a:t>Every verdict ships with confidence, risk score, flagged keywords, URLs and reasons.</a:t>
            </a:r>
          </a:p>
        </p:txBody>
      </p:sp>
      <p:sp>
        <p:nvSpPr>
          <p:cNvPr id="22" name="Rounded Rectangle 21"/>
          <p:cNvSpPr/>
          <p:nvPr/>
        </p:nvSpPr>
        <p:spPr>
          <a:xfrm>
            <a:off x="6172200" y="3355847"/>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46520" y="381304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813047"/>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900" b="1" i="0">
                <a:solidFill>
                  <a:srgbClr val="0A0E27"/>
                </a:solidFill>
                <a:latin typeface="Segoe UI"/>
              </a:rPr>
              <a:t>✓</a:t>
            </a:r>
          </a:p>
        </p:txBody>
      </p:sp>
      <p:sp>
        <p:nvSpPr>
          <p:cNvPr id="25" name="TextBox 24"/>
          <p:cNvSpPr txBox="1"/>
          <p:nvPr/>
        </p:nvSpPr>
        <p:spPr>
          <a:xfrm>
            <a:off x="7132320" y="3538727"/>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10B981"/>
                </a:solidFill>
                <a:latin typeface="Segoe UI"/>
              </a:rPr>
              <a:t>Multi-interface</a:t>
            </a:r>
          </a:p>
          <a:p>
            <a:pPr algn="l">
              <a:lnSpc>
                <a:spcPct val="115000"/>
              </a:lnSpc>
              <a:spcBef>
                <a:spcPts val="0"/>
              </a:spcBef>
              <a:spcAft>
                <a:spcPts val="0"/>
              </a:spcAft>
            </a:pPr>
            <a:r>
              <a:rPr sz="1100" b="0" i="0">
                <a:solidFill>
                  <a:srgbClr val="9CA9D0"/>
                </a:solidFill>
                <a:latin typeface="Segoe UI"/>
              </a:rPr>
              <a:t>Streamlit UI, FastAPI REST (+Swagger), CLI pipeline, Docker one-command startup.</a:t>
            </a:r>
          </a:p>
        </p:txBody>
      </p:sp>
      <p:sp>
        <p:nvSpPr>
          <p:cNvPr id="26" name="Rounded Rectangle 25"/>
          <p:cNvSpPr/>
          <p:nvPr/>
        </p:nvSpPr>
        <p:spPr>
          <a:xfrm>
            <a:off x="548640" y="4837175"/>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294375"/>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294375"/>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900" b="1" i="0">
                <a:solidFill>
                  <a:srgbClr val="0A0E27"/>
                </a:solidFill>
                <a:latin typeface="Segoe UI"/>
              </a:rPr>
              <a:t>✓</a:t>
            </a:r>
          </a:p>
        </p:txBody>
      </p:sp>
      <p:sp>
        <p:nvSpPr>
          <p:cNvPr id="29" name="TextBox 28"/>
          <p:cNvSpPr txBox="1"/>
          <p:nvPr/>
        </p:nvSpPr>
        <p:spPr>
          <a:xfrm>
            <a:off x="1508760" y="5020055"/>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10B981"/>
                </a:solidFill>
                <a:latin typeface="Segoe UI"/>
              </a:rPr>
              <a:t>Engineering quality</a:t>
            </a:r>
          </a:p>
          <a:p>
            <a:pPr algn="l">
              <a:lnSpc>
                <a:spcPct val="115000"/>
              </a:lnSpc>
              <a:spcBef>
                <a:spcPts val="0"/>
              </a:spcBef>
              <a:spcAft>
                <a:spcPts val="0"/>
              </a:spcAft>
            </a:pPr>
            <a:r>
              <a:rPr sz="1100" b="0" i="0">
                <a:solidFill>
                  <a:srgbClr val="9CA9D0"/>
                </a:solidFill>
                <a:latin typeface="Segoe UI"/>
              </a:rPr>
              <a:t>Unit-tested, config-driven hyperparameters, reproducible seeds, cached cleaning.</a:t>
            </a:r>
          </a:p>
        </p:txBody>
      </p:sp>
      <p:sp>
        <p:nvSpPr>
          <p:cNvPr id="30" name="Rounded Rectangle 29"/>
          <p:cNvSpPr/>
          <p:nvPr/>
        </p:nvSpPr>
        <p:spPr>
          <a:xfrm>
            <a:off x="6172200" y="4837175"/>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46520" y="5294375"/>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5294375"/>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900" b="1" i="0">
                <a:solidFill>
                  <a:srgbClr val="0A0E27"/>
                </a:solidFill>
                <a:latin typeface="Segoe UI"/>
              </a:rPr>
              <a:t>✓</a:t>
            </a:r>
          </a:p>
        </p:txBody>
      </p:sp>
      <p:sp>
        <p:nvSpPr>
          <p:cNvPr id="33" name="TextBox 32"/>
          <p:cNvSpPr txBox="1"/>
          <p:nvPr/>
        </p:nvSpPr>
        <p:spPr>
          <a:xfrm>
            <a:off x="7132320" y="5020055"/>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10B981"/>
                </a:solidFill>
                <a:latin typeface="Segoe UI"/>
              </a:rPr>
              <a:t>Self-documenting</a:t>
            </a:r>
          </a:p>
          <a:p>
            <a:pPr algn="l">
              <a:lnSpc>
                <a:spcPct val="115000"/>
              </a:lnSpc>
              <a:spcBef>
                <a:spcPts val="0"/>
              </a:spcBef>
              <a:spcAft>
                <a:spcPts val="0"/>
              </a:spcAft>
            </a:pPr>
            <a:r>
              <a:rPr sz="1100" b="0" i="0">
                <a:solidFill>
                  <a:srgbClr val="9CA9D0"/>
                </a:solidFill>
                <a:latin typeface="Segoe UI"/>
              </a:rPr>
              <a:t>Reports and all charts auto-generated to reports/ and images/ for audit.</a:t>
            </a:r>
          </a:p>
        </p:txBody>
      </p:sp>
      <p:sp>
        <p:nvSpPr>
          <p:cNvPr id="34" name="TextBox 33"/>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5" name="TextBox 34"/>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27 · LIMITATIONS</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Limitations &amp; Honest Assessment</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1874519"/>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960" y="2331719"/>
            <a:ext cx="457200" cy="457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331719"/>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0A0E27"/>
                </a:solidFill>
                <a:latin typeface="Segoe UI"/>
              </a:rPr>
              <a:t>✕</a:t>
            </a:r>
          </a:p>
        </p:txBody>
      </p:sp>
      <p:sp>
        <p:nvSpPr>
          <p:cNvPr id="13" name="TextBox 12"/>
          <p:cNvSpPr txBox="1"/>
          <p:nvPr/>
        </p:nvSpPr>
        <p:spPr>
          <a:xfrm>
            <a:off x="1508760" y="2057399"/>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EF4444"/>
                </a:solidFill>
                <a:latin typeface="Segoe UI"/>
              </a:rPr>
              <a:t>English only</a:t>
            </a:r>
          </a:p>
          <a:p>
            <a:pPr algn="l">
              <a:lnSpc>
                <a:spcPct val="115000"/>
              </a:lnSpc>
              <a:spcBef>
                <a:spcPts val="0"/>
              </a:spcBef>
              <a:spcAft>
                <a:spcPts val="0"/>
              </a:spcAft>
            </a:pPr>
            <a:r>
              <a:rPr sz="1100" b="0" i="0">
                <a:solidFill>
                  <a:srgbClr val="9CA9D0"/>
                </a:solidFill>
                <a:latin typeface="Segoe UI"/>
              </a:rPr>
              <a:t>Corpus and NLP pipeline are English-centric; non-English phishing is out of scope.</a:t>
            </a:r>
          </a:p>
        </p:txBody>
      </p:sp>
      <p:sp>
        <p:nvSpPr>
          <p:cNvPr id="14" name="Rounded Rectangle 13"/>
          <p:cNvSpPr/>
          <p:nvPr/>
        </p:nvSpPr>
        <p:spPr>
          <a:xfrm>
            <a:off x="6172200" y="1874519"/>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46520" y="2331719"/>
            <a:ext cx="457200" cy="457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331719"/>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0A0E27"/>
                </a:solidFill>
                <a:latin typeface="Segoe UI"/>
              </a:rPr>
              <a:t>✕</a:t>
            </a:r>
          </a:p>
        </p:txBody>
      </p:sp>
      <p:sp>
        <p:nvSpPr>
          <p:cNvPr id="17" name="TextBox 16"/>
          <p:cNvSpPr txBox="1"/>
          <p:nvPr/>
        </p:nvSpPr>
        <p:spPr>
          <a:xfrm>
            <a:off x="7132320" y="2057399"/>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EF4444"/>
                </a:solidFill>
                <a:latin typeface="Segoe UI"/>
              </a:rPr>
              <a:t>No attachments / images</a:t>
            </a:r>
          </a:p>
          <a:p>
            <a:pPr algn="l">
              <a:lnSpc>
                <a:spcPct val="115000"/>
              </a:lnSpc>
              <a:spcBef>
                <a:spcPts val="0"/>
              </a:spcBef>
              <a:spcAft>
                <a:spcPts val="0"/>
              </a:spcAft>
            </a:pPr>
            <a:r>
              <a:rPr sz="1100" b="0" i="0">
                <a:solidFill>
                  <a:srgbClr val="9CA9D0"/>
                </a:solidFill>
                <a:latin typeface="Segoe UI"/>
              </a:rPr>
              <a:t>Analysis covers text and metadata, not attachment payloads or image content.</a:t>
            </a:r>
          </a:p>
        </p:txBody>
      </p:sp>
      <p:sp>
        <p:nvSpPr>
          <p:cNvPr id="18" name="Rounded Rectangle 17"/>
          <p:cNvSpPr/>
          <p:nvPr/>
        </p:nvSpPr>
        <p:spPr>
          <a:xfrm>
            <a:off x="548640" y="3355847"/>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60" y="3813047"/>
            <a:ext cx="457200" cy="457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813047"/>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0A0E27"/>
                </a:solidFill>
                <a:latin typeface="Segoe UI"/>
              </a:rPr>
              <a:t>✕</a:t>
            </a:r>
          </a:p>
        </p:txBody>
      </p:sp>
      <p:sp>
        <p:nvSpPr>
          <p:cNvPr id="21" name="TextBox 20"/>
          <p:cNvSpPr txBox="1"/>
          <p:nvPr/>
        </p:nvSpPr>
        <p:spPr>
          <a:xfrm>
            <a:off x="1508760" y="3538727"/>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EF4444"/>
                </a:solidFill>
                <a:latin typeface="Segoe UI"/>
              </a:rPr>
              <a:t>Adversarial text</a:t>
            </a:r>
          </a:p>
          <a:p>
            <a:pPr algn="l">
              <a:lnSpc>
                <a:spcPct val="115000"/>
              </a:lnSpc>
              <a:spcBef>
                <a:spcPts val="0"/>
              </a:spcBef>
              <a:spcAft>
                <a:spcPts val="0"/>
              </a:spcAft>
            </a:pPr>
            <a:r>
              <a:rPr sz="1100" b="0" i="0">
                <a:solidFill>
                  <a:srgbClr val="9CA9D0"/>
                </a:solidFill>
                <a:latin typeface="Segoe UI"/>
              </a:rPr>
              <a:t>Carefully rewritten messages avoiding typical phrasing may still evade detection, though metadata helps.</a:t>
            </a:r>
          </a:p>
        </p:txBody>
      </p:sp>
      <p:sp>
        <p:nvSpPr>
          <p:cNvPr id="22" name="Rounded Rectangle 21"/>
          <p:cNvSpPr/>
          <p:nvPr/>
        </p:nvSpPr>
        <p:spPr>
          <a:xfrm>
            <a:off x="6172200" y="3355847"/>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46520" y="3813047"/>
            <a:ext cx="457200" cy="457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813047"/>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0A0E27"/>
                </a:solidFill>
                <a:latin typeface="Segoe UI"/>
              </a:rPr>
              <a:t>✕</a:t>
            </a:r>
          </a:p>
        </p:txBody>
      </p:sp>
      <p:sp>
        <p:nvSpPr>
          <p:cNvPr id="25" name="TextBox 24"/>
          <p:cNvSpPr txBox="1"/>
          <p:nvPr/>
        </p:nvSpPr>
        <p:spPr>
          <a:xfrm>
            <a:off x="7132320" y="3538727"/>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EF4444"/>
                </a:solidFill>
                <a:latin typeface="Segoe UI"/>
              </a:rPr>
              <a:t>Memory &amp; time</a:t>
            </a:r>
          </a:p>
          <a:p>
            <a:pPr algn="l">
              <a:lnSpc>
                <a:spcPct val="115000"/>
              </a:lnSpc>
              <a:spcBef>
                <a:spcPts val="0"/>
              </a:spcBef>
              <a:spcAft>
                <a:spcPts val="0"/>
              </a:spcAft>
            </a:pPr>
            <a:r>
              <a:rPr sz="1100" b="0" i="0">
                <a:solidFill>
                  <a:srgbClr val="9CA9D0"/>
                </a:solidFill>
                <a:latin typeface="Segoe UI"/>
              </a:rPr>
              <a:t>MLP training takes ≈13 min and several GB of RAM; full runs ≈25–30 min.</a:t>
            </a:r>
          </a:p>
        </p:txBody>
      </p:sp>
      <p:sp>
        <p:nvSpPr>
          <p:cNvPr id="26" name="Rounded Rectangle 25"/>
          <p:cNvSpPr/>
          <p:nvPr/>
        </p:nvSpPr>
        <p:spPr>
          <a:xfrm>
            <a:off x="548640" y="4837175"/>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294375"/>
            <a:ext cx="457200" cy="457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294375"/>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0A0E27"/>
                </a:solidFill>
                <a:latin typeface="Segoe UI"/>
              </a:rPr>
              <a:t>✕</a:t>
            </a:r>
          </a:p>
        </p:txBody>
      </p:sp>
      <p:sp>
        <p:nvSpPr>
          <p:cNvPr id="29" name="TextBox 28"/>
          <p:cNvSpPr txBox="1"/>
          <p:nvPr/>
        </p:nvSpPr>
        <p:spPr>
          <a:xfrm>
            <a:off x="1508760" y="5020055"/>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EF4444"/>
                </a:solidFill>
                <a:latin typeface="Segoe UI"/>
              </a:rPr>
              <a:t>Static snapshot</a:t>
            </a:r>
          </a:p>
          <a:p>
            <a:pPr algn="l">
              <a:lnSpc>
                <a:spcPct val="115000"/>
              </a:lnSpc>
              <a:spcBef>
                <a:spcPts val="0"/>
              </a:spcBef>
              <a:spcAft>
                <a:spcPts val="0"/>
              </a:spcAft>
            </a:pPr>
            <a:r>
              <a:rPr sz="1100" b="0" i="0">
                <a:solidFill>
                  <a:srgbClr val="9CA9D0"/>
                </a:solidFill>
                <a:latin typeface="Segoe UI"/>
              </a:rPr>
              <a:t>Point-in-time model — periodic retraining is needed as attack language evolves.</a:t>
            </a:r>
          </a:p>
        </p:txBody>
      </p:sp>
      <p:sp>
        <p:nvSpPr>
          <p:cNvPr id="30" name="Rounded Rectangle 29"/>
          <p:cNvSpPr/>
          <p:nvPr/>
        </p:nvSpPr>
        <p:spPr>
          <a:xfrm>
            <a:off x="6172200" y="4837175"/>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46520" y="5294375"/>
            <a:ext cx="457200" cy="457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5294375"/>
            <a:ext cx="457200" cy="457200"/>
          </a:xfrm>
          <a:prstGeom prst="rect">
            <a:avLst/>
          </a:prstGeom>
          <a:noFill/>
        </p:spPr>
        <p:txBody>
          <a:bodyPr wrap="square" anchor="ctr" lIns="0" rIns="0" tIns="0" bIns="0">
            <a:spAutoFit/>
          </a:bodyPr>
          <a:lstStyle/>
          <a:p>
            <a:pPr algn="ctr">
              <a:lnSpc>
                <a:spcPct val="100000"/>
              </a:lnSpc>
              <a:spcBef>
                <a:spcPts val="0"/>
              </a:spcBef>
              <a:spcAft>
                <a:spcPts val="0"/>
              </a:spcAft>
            </a:pPr>
            <a:r>
              <a:rPr sz="1800" b="1" i="0">
                <a:solidFill>
                  <a:srgbClr val="0A0E27"/>
                </a:solidFill>
                <a:latin typeface="Segoe UI"/>
              </a:rPr>
              <a:t>✕</a:t>
            </a:r>
          </a:p>
        </p:txBody>
      </p:sp>
      <p:sp>
        <p:nvSpPr>
          <p:cNvPr id="33" name="TextBox 32"/>
          <p:cNvSpPr txBox="1"/>
          <p:nvPr/>
        </p:nvSpPr>
        <p:spPr>
          <a:xfrm>
            <a:off x="7132320" y="5020055"/>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EF4444"/>
                </a:solidFill>
                <a:latin typeface="Segoe UI"/>
              </a:rPr>
              <a:t>AI-generated phishing</a:t>
            </a:r>
          </a:p>
          <a:p>
            <a:pPr algn="l">
              <a:lnSpc>
                <a:spcPct val="115000"/>
              </a:lnSpc>
              <a:spcBef>
                <a:spcPts val="0"/>
              </a:spcBef>
              <a:spcAft>
                <a:spcPts val="0"/>
              </a:spcAft>
            </a:pPr>
            <a:r>
              <a:rPr sz="1100" b="0" i="0">
                <a:solidFill>
                  <a:srgbClr val="9CA9D0"/>
                </a:solidFill>
                <a:latin typeface="Segoe UI"/>
              </a:rPr>
              <a:t>Fluent generative-AI phishing that mimics legitimate writing raises the detection ceiling.</a:t>
            </a:r>
          </a:p>
        </p:txBody>
      </p:sp>
      <p:sp>
        <p:nvSpPr>
          <p:cNvPr id="34" name="TextBox 33"/>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5" name="TextBox 34"/>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28 · FUTURE SCOPE</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Future Scope</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1874519"/>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exagon 10"/>
          <p:cNvSpPr/>
          <p:nvPr/>
        </p:nvSpPr>
        <p:spPr>
          <a:xfrm>
            <a:off x="914400" y="2423159"/>
            <a:ext cx="274320" cy="274320"/>
          </a:xfrm>
          <a:prstGeom prst="hexag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5528" y="2304287"/>
            <a:ext cx="128016" cy="12801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79576" y="2304287"/>
            <a:ext cx="128016" cy="12801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5528" y="2688335"/>
            <a:ext cx="128016" cy="12801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9576" y="2688335"/>
            <a:ext cx="128016" cy="128016"/>
          </a:xfrm>
          <a:prstGeom prst="ellipse">
            <a:avLst/>
          </a:prstGeom>
          <a:solidFill>
            <a:srgbClr val="151A38"/>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08760" y="2057399"/>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7C3AED"/>
                </a:solidFill>
                <a:latin typeface="Segoe UI"/>
              </a:rPr>
              <a:t>Model architecture</a:t>
            </a:r>
          </a:p>
          <a:p>
            <a:pPr algn="l">
              <a:lnSpc>
                <a:spcPct val="115000"/>
              </a:lnSpc>
              <a:spcBef>
                <a:spcPts val="0"/>
              </a:spcBef>
              <a:spcAft>
                <a:spcPts val="0"/>
              </a:spcAft>
            </a:pPr>
            <a:r>
              <a:rPr sz="1100" b="0" i="0">
                <a:solidFill>
                  <a:srgbClr val="9CA9D0"/>
                </a:solidFill>
                <a:latin typeface="Segoe UI"/>
              </a:rPr>
              <a:t>Fine-tune transformer (BERT-family) models on the cleaned corpus for deeper semantics.</a:t>
            </a:r>
          </a:p>
        </p:txBody>
      </p:sp>
      <p:sp>
        <p:nvSpPr>
          <p:cNvPr id="17" name="Rounded Rectangle 16"/>
          <p:cNvSpPr/>
          <p:nvPr/>
        </p:nvSpPr>
        <p:spPr>
          <a:xfrm>
            <a:off x="6172200" y="1874519"/>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n 17"/>
          <p:cNvSpPr/>
          <p:nvPr/>
        </p:nvSpPr>
        <p:spPr>
          <a:xfrm>
            <a:off x="6469380" y="2331719"/>
            <a:ext cx="411480" cy="457200"/>
          </a:xfrm>
          <a:prstGeom prst="can">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2057399"/>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3B82F6"/>
                </a:solidFill>
                <a:latin typeface="Segoe UI"/>
              </a:rPr>
              <a:t>URL &amp; domain intelligence</a:t>
            </a:r>
          </a:p>
          <a:p>
            <a:pPr algn="l">
              <a:lnSpc>
                <a:spcPct val="115000"/>
              </a:lnSpc>
              <a:spcBef>
                <a:spcPts val="0"/>
              </a:spcBef>
              <a:spcAft>
                <a:spcPts val="0"/>
              </a:spcAft>
            </a:pPr>
            <a:r>
              <a:rPr sz="1100" b="0" i="0">
                <a:solidFill>
                  <a:srgbClr val="9CA9D0"/>
                </a:solidFill>
                <a:latin typeface="Segoe UI"/>
              </a:rPr>
              <a:t>Lexical URL analysis, domain-age checks and URL reputation at inference time.</a:t>
            </a:r>
          </a:p>
        </p:txBody>
      </p:sp>
      <p:sp>
        <p:nvSpPr>
          <p:cNvPr id="20" name="Rounded Rectangle 19"/>
          <p:cNvSpPr/>
          <p:nvPr/>
        </p:nvSpPr>
        <p:spPr>
          <a:xfrm>
            <a:off x="548640" y="3355847"/>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50976" y="3822191"/>
            <a:ext cx="201168" cy="182880"/>
          </a:xfrm>
          <a:prstGeom prst="ellipse">
            <a:avLst/>
          </a:prstGeom>
          <a:noFill/>
          <a:ln w="32004">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6968" y="3950207"/>
            <a:ext cx="329184" cy="301752"/>
          </a:xfrm>
          <a:prstGeom prst="roundRect">
            <a:avLst>
              <a:gd name="adj" fmla="val 1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9556" y="4059935"/>
            <a:ext cx="64008" cy="109728"/>
          </a:xfrm>
          <a:prstGeom prst="roundRect">
            <a:avLst>
              <a:gd name="adj" fmla="val 50000"/>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08760" y="3538727"/>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F59E0B"/>
                </a:solidFill>
                <a:latin typeface="Segoe UI"/>
              </a:rPr>
              <a:t>Header authentication</a:t>
            </a:r>
          </a:p>
          <a:p>
            <a:pPr algn="l">
              <a:lnSpc>
                <a:spcPct val="115000"/>
              </a:lnSpc>
              <a:spcBef>
                <a:spcPts val="0"/>
              </a:spcBef>
              <a:spcAft>
                <a:spcPts val="0"/>
              </a:spcAft>
            </a:pPr>
            <a:r>
              <a:rPr sz="1100" b="0" i="0">
                <a:solidFill>
                  <a:srgbClr val="9CA9D0"/>
                </a:solidFill>
                <a:latin typeface="Segoe UI"/>
              </a:rPr>
              <a:t>Inspect SPF / DKIM / DMARC records and sender reputation.</a:t>
            </a:r>
          </a:p>
        </p:txBody>
      </p:sp>
      <p:sp>
        <p:nvSpPr>
          <p:cNvPr id="25" name="Rounded Rectangle 24"/>
          <p:cNvSpPr/>
          <p:nvPr/>
        </p:nvSpPr>
        <p:spPr>
          <a:xfrm>
            <a:off x="6172200" y="3355847"/>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46520" y="3877055"/>
            <a:ext cx="457200" cy="310896"/>
          </a:xfrm>
          <a:prstGeom prst="roundRect">
            <a:avLst>
              <a:gd name="adj" fmla="val 14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6446520" y="3877055"/>
            <a:ext cx="457200" cy="251460"/>
          </a:xfrm>
          <a:prstGeom prst="triangl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0" y="3538727"/>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10B981"/>
                </a:solidFill>
                <a:latin typeface="Segoe UI"/>
              </a:rPr>
              <a:t>Real-time integration</a:t>
            </a:r>
          </a:p>
          <a:p>
            <a:pPr algn="l">
              <a:lnSpc>
                <a:spcPct val="115000"/>
              </a:lnSpc>
              <a:spcBef>
                <a:spcPts val="0"/>
              </a:spcBef>
              <a:spcAft>
                <a:spcPts val="0"/>
              </a:spcAft>
            </a:pPr>
            <a:r>
              <a:rPr sz="1100" b="0" i="0">
                <a:solidFill>
                  <a:srgbClr val="9CA9D0"/>
                </a:solidFill>
                <a:latin typeface="Segoe UI"/>
              </a:rPr>
              <a:t>Wire the FastAPI service into mail servers for inline quarantine decisions.</a:t>
            </a:r>
          </a:p>
        </p:txBody>
      </p:sp>
      <p:sp>
        <p:nvSpPr>
          <p:cNvPr id="29" name="Rounded Rectangle 28"/>
          <p:cNvSpPr/>
          <p:nvPr/>
        </p:nvSpPr>
        <p:spPr>
          <a:xfrm>
            <a:off x="548640" y="4837175"/>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ear 6 29"/>
          <p:cNvSpPr/>
          <p:nvPr/>
        </p:nvSpPr>
        <p:spPr>
          <a:xfrm>
            <a:off x="822960" y="5294375"/>
            <a:ext cx="457200" cy="457200"/>
          </a:xfrm>
          <a:prstGeom prst="gear6">
            <a:avLst>
              <a:gd name="adj1" fmla="val 18000"/>
              <a:gd name="adj2" fmla="val 18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08760" y="5020055"/>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00D4FF"/>
                </a:solidFill>
                <a:latin typeface="Segoe UI"/>
              </a:rPr>
              <a:t>Continuous retraining</a:t>
            </a:r>
          </a:p>
          <a:p>
            <a:pPr algn="l">
              <a:lnSpc>
                <a:spcPct val="115000"/>
              </a:lnSpc>
              <a:spcBef>
                <a:spcPts val="0"/>
              </a:spcBef>
              <a:spcAft>
                <a:spcPts val="0"/>
              </a:spcAft>
            </a:pPr>
            <a:r>
              <a:rPr sz="1100" b="0" i="0">
                <a:solidFill>
                  <a:srgbClr val="9CA9D0"/>
                </a:solidFill>
                <a:latin typeface="Segoe UI"/>
              </a:rPr>
              <a:t>Online learning as newly labeled samples arrive to counter evolving attacks.</a:t>
            </a:r>
          </a:p>
        </p:txBody>
      </p:sp>
      <p:sp>
        <p:nvSpPr>
          <p:cNvPr id="32" name="Rounded Rectangle 31"/>
          <p:cNvSpPr/>
          <p:nvPr/>
        </p:nvSpPr>
        <p:spPr>
          <a:xfrm>
            <a:off x="6172200" y="4837175"/>
            <a:ext cx="5440680" cy="1371600"/>
          </a:xfrm>
          <a:prstGeom prst="roundRect">
            <a:avLst>
              <a:gd name="adj" fmla="val 12000"/>
            </a:avLst>
          </a:prstGeom>
          <a:solidFill>
            <a:srgbClr val="151A38"/>
          </a:solidFill>
          <a:ln w="9525">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69380" y="5568695"/>
            <a:ext cx="118872" cy="18288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15684" y="5500115"/>
            <a:ext cx="118872" cy="25146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761988" y="5385815"/>
            <a:ext cx="118872" cy="36576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0" y="5020055"/>
            <a:ext cx="4297680" cy="1097280"/>
          </a:xfrm>
          <a:prstGeom prst="rect">
            <a:avLst/>
          </a:prstGeom>
          <a:noFill/>
        </p:spPr>
        <p:txBody>
          <a:bodyPr wrap="square" anchor="t" lIns="0" rIns="0" tIns="0" bIns="0">
            <a:spAutoFit/>
          </a:bodyPr>
          <a:lstStyle/>
          <a:p>
            <a:pPr algn="l">
              <a:lnSpc>
                <a:spcPct val="100000"/>
              </a:lnSpc>
              <a:spcBef>
                <a:spcPts val="0"/>
              </a:spcBef>
              <a:spcAft>
                <a:spcPts val="300"/>
              </a:spcAft>
            </a:pPr>
            <a:r>
              <a:rPr sz="1350" b="1" i="0">
                <a:solidFill>
                  <a:srgbClr val="EF4444"/>
                </a:solidFill>
                <a:latin typeface="Segoe UI"/>
              </a:rPr>
              <a:t>Research extensions</a:t>
            </a:r>
          </a:p>
          <a:p>
            <a:pPr algn="l">
              <a:lnSpc>
                <a:spcPct val="115000"/>
              </a:lnSpc>
              <a:spcBef>
                <a:spcPts val="0"/>
              </a:spcBef>
              <a:spcAft>
                <a:spcPts val="0"/>
              </a:spcAft>
            </a:pPr>
            <a:r>
              <a:rPr sz="1100" b="0" i="0">
                <a:solidFill>
                  <a:srgbClr val="9CA9D0"/>
                </a:solidFill>
                <a:latin typeface="Segoe UI"/>
              </a:rPr>
              <a:t>Adversarial robustness testing and SHAP-style explainability for stronger papers.</a:t>
            </a:r>
          </a:p>
        </p:txBody>
      </p:sp>
      <p:sp>
        <p:nvSpPr>
          <p:cNvPr id="37" name="TextBox 36"/>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38" name="TextBox 37"/>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29 · CONCLUSION</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Conclusion</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874519"/>
            <a:ext cx="10424160" cy="1554480"/>
          </a:xfrm>
          <a:prstGeom prst="rect">
            <a:avLst/>
          </a:prstGeom>
          <a:noFill/>
        </p:spPr>
        <p:txBody>
          <a:bodyPr wrap="square" anchor="t" lIns="0" rIns="0" tIns="0" bIns="0">
            <a:spAutoFit/>
          </a:bodyPr>
          <a:lstStyle/>
          <a:p>
            <a:pPr algn="l">
              <a:lnSpc>
                <a:spcPct val="130000"/>
              </a:lnSpc>
              <a:spcBef>
                <a:spcPts val="0"/>
              </a:spcBef>
              <a:spcAft>
                <a:spcPts val="1000"/>
              </a:spcAft>
            </a:pPr>
            <a:r>
              <a:rPr sz="1500" b="0" i="0">
                <a:solidFill>
                  <a:srgbClr val="E2E8F0"/>
                </a:solidFill>
                <a:latin typeface="Segoe UI"/>
              </a:rPr>
              <a:t>We designed, implemented, evaluated and deployed an end-to-end machine-learning system for phishing email detection.</a:t>
            </a:r>
          </a:p>
          <a:p>
            <a:pPr algn="l">
              <a:lnSpc>
                <a:spcPct val="135000"/>
              </a:lnSpc>
              <a:spcBef>
                <a:spcPts val="0"/>
              </a:spcBef>
              <a:spcAft>
                <a:spcPts val="1000"/>
              </a:spcAft>
            </a:pPr>
            <a:r>
              <a:rPr sz="1400" b="1" i="0">
                <a:solidFill>
                  <a:srgbClr val="FFFFFF"/>
                </a:solidFill>
                <a:latin typeface="Segoe UI"/>
              </a:rPr>
              <a:t>7 datasets merged → 127,428-email corpus → 12-step NLP pipeline → 10,015 features → 6 models benchmarked → best model 99.31% accuracy / 99.34% F1.</a:t>
            </a:r>
          </a:p>
          <a:p>
            <a:pPr algn="l">
              <a:lnSpc>
                <a:spcPct val="130000"/>
              </a:lnSpc>
              <a:spcBef>
                <a:spcPts val="0"/>
              </a:spcBef>
              <a:spcAft>
                <a:spcPts val="0"/>
              </a:spcAft>
            </a:pPr>
            <a:r>
              <a:rPr sz="1350" b="0" i="0">
                <a:solidFill>
                  <a:srgbClr val="9CA9D0"/>
                </a:solidFill>
                <a:latin typeface="Segoe UI"/>
              </a:rPr>
              <a:t>The system is production-ready: Streamlit dashboard, FastAPI REST API, Docker, plus auto-generated reports and charts for full transparency.</a:t>
            </a:r>
          </a:p>
        </p:txBody>
      </p:sp>
      <p:sp>
        <p:nvSpPr>
          <p:cNvPr id="11" name="Rounded Rectangle 10"/>
          <p:cNvSpPr/>
          <p:nvPr/>
        </p:nvSpPr>
        <p:spPr>
          <a:xfrm>
            <a:off x="548640" y="4023359"/>
            <a:ext cx="2679192" cy="1371600"/>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215383"/>
            <a:ext cx="50800" cy="987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187951"/>
            <a:ext cx="2404872" cy="1170432"/>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99.31%</a:t>
            </a:r>
          </a:p>
          <a:p>
            <a:pPr algn="l">
              <a:lnSpc>
                <a:spcPct val="100000"/>
              </a:lnSpc>
              <a:spcBef>
                <a:spcPts val="200"/>
              </a:spcBef>
              <a:spcAft>
                <a:spcPts val="0"/>
              </a:spcAft>
            </a:pPr>
            <a:r>
              <a:rPr sz="1100" b="0" i="0">
                <a:solidFill>
                  <a:srgbClr val="9CA9D0"/>
                </a:solidFill>
                <a:latin typeface="Segoe UI"/>
              </a:rPr>
              <a:t>Best Accuracy</a:t>
            </a:r>
          </a:p>
        </p:txBody>
      </p:sp>
      <p:sp>
        <p:nvSpPr>
          <p:cNvPr id="14" name="Rounded Rectangle 13"/>
          <p:cNvSpPr/>
          <p:nvPr/>
        </p:nvSpPr>
        <p:spPr>
          <a:xfrm>
            <a:off x="3337560" y="4023359"/>
            <a:ext cx="2679192" cy="1371600"/>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4215383"/>
            <a:ext cx="50800" cy="98755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2152" y="4187951"/>
            <a:ext cx="2404872" cy="1170432"/>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99.34%</a:t>
            </a:r>
          </a:p>
          <a:p>
            <a:pPr algn="l">
              <a:lnSpc>
                <a:spcPct val="100000"/>
              </a:lnSpc>
              <a:spcBef>
                <a:spcPts val="200"/>
              </a:spcBef>
              <a:spcAft>
                <a:spcPts val="0"/>
              </a:spcAft>
            </a:pPr>
            <a:r>
              <a:rPr sz="1100" b="0" i="0">
                <a:solidFill>
                  <a:srgbClr val="9CA9D0"/>
                </a:solidFill>
                <a:latin typeface="Segoe UI"/>
              </a:rPr>
              <a:t>Best F1 Score</a:t>
            </a:r>
          </a:p>
        </p:txBody>
      </p:sp>
      <p:sp>
        <p:nvSpPr>
          <p:cNvPr id="17" name="Rounded Rectangle 16"/>
          <p:cNvSpPr/>
          <p:nvPr/>
        </p:nvSpPr>
        <p:spPr>
          <a:xfrm>
            <a:off x="6126480" y="4023359"/>
            <a:ext cx="2679192" cy="1371600"/>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4215383"/>
            <a:ext cx="50800" cy="987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91072" y="4187951"/>
            <a:ext cx="2404872" cy="1170432"/>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0.9996</a:t>
            </a:r>
          </a:p>
          <a:p>
            <a:pPr algn="l">
              <a:lnSpc>
                <a:spcPct val="100000"/>
              </a:lnSpc>
              <a:spcBef>
                <a:spcPts val="200"/>
              </a:spcBef>
              <a:spcAft>
                <a:spcPts val="0"/>
              </a:spcAft>
            </a:pPr>
            <a:r>
              <a:rPr sz="1100" b="0" i="0">
                <a:solidFill>
                  <a:srgbClr val="9CA9D0"/>
                </a:solidFill>
                <a:latin typeface="Segoe UI"/>
              </a:rPr>
              <a:t>Best ROC-AUC</a:t>
            </a:r>
          </a:p>
        </p:txBody>
      </p:sp>
      <p:sp>
        <p:nvSpPr>
          <p:cNvPr id="20" name="Rounded Rectangle 19"/>
          <p:cNvSpPr/>
          <p:nvPr/>
        </p:nvSpPr>
        <p:spPr>
          <a:xfrm>
            <a:off x="8915400" y="4023359"/>
            <a:ext cx="2679192" cy="1371600"/>
          </a:xfrm>
          <a:prstGeom prst="roundRect">
            <a:avLst>
              <a:gd name="adj" fmla="val 9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15400" y="4215383"/>
            <a:ext cx="50800" cy="987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9992" y="4187951"/>
            <a:ext cx="2404872" cy="1170432"/>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FFFFFF"/>
                </a:solidFill>
                <a:latin typeface="Segoe UI"/>
              </a:rPr>
              <a:t>6</a:t>
            </a:r>
          </a:p>
          <a:p>
            <a:pPr algn="l">
              <a:lnSpc>
                <a:spcPct val="100000"/>
              </a:lnSpc>
              <a:spcBef>
                <a:spcPts val="200"/>
              </a:spcBef>
              <a:spcAft>
                <a:spcPts val="0"/>
              </a:spcAft>
            </a:pPr>
            <a:r>
              <a:rPr sz="1100" b="0" i="0">
                <a:solidFill>
                  <a:srgbClr val="9CA9D0"/>
                </a:solidFill>
                <a:latin typeface="Segoe UI"/>
              </a:rPr>
              <a:t>Models Compared</a:t>
            </a:r>
          </a:p>
        </p:txBody>
      </p:sp>
      <p:sp>
        <p:nvSpPr>
          <p:cNvPr id="23" name="Rounded Rectangle 22"/>
          <p:cNvSpPr/>
          <p:nvPr/>
        </p:nvSpPr>
        <p:spPr>
          <a:xfrm>
            <a:off x="548640" y="5669279"/>
            <a:ext cx="11091672" cy="685800"/>
          </a:xfrm>
          <a:prstGeom prst="roundRect">
            <a:avLst>
              <a:gd name="adj" fmla="val 50000"/>
            </a:avLst>
          </a:prstGeom>
          <a:solidFill>
            <a:srgbClr val="1A1F3A"/>
          </a:solidFill>
          <a:ln w="127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669279"/>
            <a:ext cx="10607040" cy="685800"/>
          </a:xfrm>
          <a:prstGeom prst="rect">
            <a:avLst/>
          </a:prstGeom>
          <a:noFill/>
        </p:spPr>
        <p:txBody>
          <a:bodyPr wrap="square" anchor="ctr" lIns="0" rIns="0" tIns="0" bIns="0">
            <a:spAutoFit/>
          </a:bodyPr>
          <a:lstStyle/>
          <a:p>
            <a:pPr algn="ctr">
              <a:lnSpc>
                <a:spcPct val="100000"/>
              </a:lnSpc>
              <a:spcBef>
                <a:spcPts val="0"/>
              </a:spcBef>
              <a:spcAft>
                <a:spcPts val="0"/>
              </a:spcAft>
            </a:pPr>
            <a:r>
              <a:rPr sz="1300" b="1" i="0">
                <a:solidFill>
                  <a:srgbClr val="00D4FF"/>
                </a:solidFill>
                <a:latin typeface="Segoe UI"/>
              </a:rPr>
              <a:t>From raw data to a deployed, explainable product — the complete ML lifecycle in one project.</a:t>
            </a:r>
          </a:p>
        </p:txBody>
      </p:sp>
      <p:sp>
        <p:nvSpPr>
          <p:cNvPr id="25" name="TextBox 24"/>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26" name="TextBox 25"/>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0896"/>
            <a:ext cx="11064240" cy="310896"/>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00D4FF"/>
                </a:solidFill>
                <a:latin typeface="Segoe UI"/>
              </a:rPr>
              <a:t>30 · REFERENCES</a:t>
            </a:r>
          </a:p>
        </p:txBody>
      </p:sp>
      <p:sp>
        <p:nvSpPr>
          <p:cNvPr id="7" name="TextBox 6"/>
          <p:cNvSpPr txBox="1"/>
          <p:nvPr/>
        </p:nvSpPr>
        <p:spPr>
          <a:xfrm>
            <a:off x="548640" y="603504"/>
            <a:ext cx="11064240" cy="658368"/>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FFFFFF"/>
                </a:solidFill>
                <a:latin typeface="Segoe UI"/>
              </a:rPr>
              <a:t>References</a:t>
            </a:r>
          </a:p>
        </p:txBody>
      </p:sp>
      <p:cxnSp>
        <p:nvCxnSpPr>
          <p:cNvPr id="8" name="Connector 7"/>
          <p:cNvCxnSpPr/>
          <p:nvPr/>
        </p:nvCxnSpPr>
        <p:spPr>
          <a:xfrm>
            <a:off x="566928" y="1335024"/>
            <a:ext cx="11064240" cy="0"/>
          </a:xfrm>
          <a:prstGeom prst="line">
            <a:avLst/>
          </a:prstGeom>
          <a:ln w="15875">
            <a:solidFill>
              <a:srgbClr val="2A32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6928" y="1335024"/>
            <a:ext cx="1444752" cy="0"/>
          </a:xfrm>
          <a:prstGeom prst="line">
            <a:avLst/>
          </a:prstGeom>
          <a:ln w="28575">
            <a:solidFill>
              <a:srgbClr val="00D4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1874519"/>
            <a:ext cx="5440680" cy="214884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075687"/>
            <a:ext cx="4937760" cy="1828800"/>
          </a:xfrm>
          <a:prstGeom prst="rect">
            <a:avLst/>
          </a:prstGeom>
          <a:noFill/>
        </p:spPr>
        <p:txBody>
          <a:bodyPr wrap="square" anchor="t" lIns="0" rIns="0" tIns="0" bIns="0">
            <a:spAutoFit/>
          </a:bodyPr>
          <a:lstStyle/>
          <a:p>
            <a:pPr algn="l">
              <a:lnSpc>
                <a:spcPct val="100000"/>
              </a:lnSpc>
              <a:spcBef>
                <a:spcPts val="0"/>
              </a:spcBef>
              <a:spcAft>
                <a:spcPts val="600"/>
              </a:spcAft>
            </a:pPr>
            <a:r>
              <a:rPr sz="1350" b="1" i="0">
                <a:solidFill>
                  <a:srgbClr val="00D4FF"/>
                </a:solidFill>
                <a:latin typeface="Segoe UI"/>
              </a:rPr>
              <a:t>Datasets</a:t>
            </a:r>
          </a:p>
          <a:p>
            <a:pPr algn="l" marL="183000" indent="-183000">
              <a:lnSpc>
                <a:spcPct val="100000"/>
              </a:lnSpc>
              <a:spcBef>
                <a:spcPts val="0"/>
              </a:spcBef>
              <a:spcAft>
                <a:spcPts val="350"/>
              </a:spcAft>
            </a:pPr>
            <a:r>
              <a:rPr sz="1150" b="1">
                <a:solidFill>
                  <a:srgbClr val="00D4FF"/>
                </a:solidFill>
                <a:latin typeface="Segoe UI"/>
              </a:rPr>
              <a:t>▪  </a:t>
            </a:r>
            <a:r>
              <a:rPr sz="1150" b="0" i="0">
                <a:solidFill>
                  <a:srgbClr val="E2E8F0"/>
                </a:solidFill>
                <a:latin typeface="Segoe UI"/>
              </a:rPr>
              <a:t>Phishing Email dataset</a:t>
            </a:r>
          </a:p>
          <a:p>
            <a:pPr algn="l" marL="183000" indent="-183000">
              <a:lnSpc>
                <a:spcPct val="100000"/>
              </a:lnSpc>
              <a:spcBef>
                <a:spcPts val="0"/>
              </a:spcBef>
              <a:spcAft>
                <a:spcPts val="350"/>
              </a:spcAft>
            </a:pPr>
            <a:r>
              <a:rPr sz="1150" b="1">
                <a:solidFill>
                  <a:srgbClr val="00D4FF"/>
                </a:solidFill>
                <a:latin typeface="Segoe UI"/>
              </a:rPr>
              <a:t>▪  </a:t>
            </a:r>
            <a:r>
              <a:rPr sz="1150" b="0" i="0">
                <a:solidFill>
                  <a:srgbClr val="E2E8F0"/>
                </a:solidFill>
                <a:latin typeface="Segoe UI"/>
              </a:rPr>
              <a:t>CEAS 2008 — spam benchmark</a:t>
            </a:r>
          </a:p>
          <a:p>
            <a:pPr algn="l" marL="183000" indent="-183000">
              <a:lnSpc>
                <a:spcPct val="100000"/>
              </a:lnSpc>
              <a:spcBef>
                <a:spcPts val="0"/>
              </a:spcBef>
              <a:spcAft>
                <a:spcPts val="350"/>
              </a:spcAft>
            </a:pPr>
            <a:r>
              <a:rPr sz="1150" b="1">
                <a:solidFill>
                  <a:srgbClr val="00D4FF"/>
                </a:solidFill>
                <a:latin typeface="Segoe UI"/>
              </a:rPr>
              <a:t>▪  </a:t>
            </a:r>
            <a:r>
              <a:rPr sz="1150" b="0" i="0">
                <a:solidFill>
                  <a:srgbClr val="E2E8F0"/>
                </a:solidFill>
                <a:latin typeface="Segoe UI"/>
              </a:rPr>
              <a:t>Enron email corpus</a:t>
            </a:r>
          </a:p>
          <a:p>
            <a:pPr algn="l" marL="183000" indent="-183000">
              <a:lnSpc>
                <a:spcPct val="100000"/>
              </a:lnSpc>
              <a:spcBef>
                <a:spcPts val="0"/>
              </a:spcBef>
              <a:spcAft>
                <a:spcPts val="350"/>
              </a:spcAft>
            </a:pPr>
            <a:r>
              <a:rPr sz="1150" b="1">
                <a:solidFill>
                  <a:srgbClr val="00D4FF"/>
                </a:solidFill>
                <a:latin typeface="Segoe UI"/>
              </a:rPr>
              <a:t>▪  </a:t>
            </a:r>
            <a:r>
              <a:rPr sz="1150" b="0" i="0">
                <a:solidFill>
                  <a:srgbClr val="E2E8F0"/>
                </a:solidFill>
                <a:latin typeface="Segoe UI"/>
              </a:rPr>
              <a:t>SpamAssassin corpus</a:t>
            </a:r>
          </a:p>
          <a:p>
            <a:pPr algn="l" marL="183000" indent="-183000">
              <a:lnSpc>
                <a:spcPct val="100000"/>
              </a:lnSpc>
              <a:spcBef>
                <a:spcPts val="0"/>
              </a:spcBef>
              <a:spcAft>
                <a:spcPts val="350"/>
              </a:spcAft>
            </a:pPr>
            <a:r>
              <a:rPr sz="1150" b="1">
                <a:solidFill>
                  <a:srgbClr val="00D4FF"/>
                </a:solidFill>
                <a:latin typeface="Segoe UI"/>
              </a:rPr>
              <a:t>▪  </a:t>
            </a:r>
            <a:r>
              <a:rPr sz="1150" b="0" i="0">
                <a:solidFill>
                  <a:srgbClr val="E2E8F0"/>
                </a:solidFill>
                <a:latin typeface="Segoe UI"/>
              </a:rPr>
              <a:t>Ling-Spam · Nazario · Nigerian Fraud (419)</a:t>
            </a:r>
          </a:p>
        </p:txBody>
      </p:sp>
      <p:sp>
        <p:nvSpPr>
          <p:cNvPr id="12" name="Rounded Rectangle 11"/>
          <p:cNvSpPr/>
          <p:nvPr/>
        </p:nvSpPr>
        <p:spPr>
          <a:xfrm>
            <a:off x="6199632" y="1874519"/>
            <a:ext cx="5440680" cy="214884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075687"/>
            <a:ext cx="4937760" cy="1828800"/>
          </a:xfrm>
          <a:prstGeom prst="rect">
            <a:avLst/>
          </a:prstGeom>
          <a:noFill/>
        </p:spPr>
        <p:txBody>
          <a:bodyPr wrap="square" anchor="t" lIns="0" rIns="0" tIns="0" bIns="0">
            <a:spAutoFit/>
          </a:bodyPr>
          <a:lstStyle/>
          <a:p>
            <a:pPr algn="l">
              <a:lnSpc>
                <a:spcPct val="100000"/>
              </a:lnSpc>
              <a:spcBef>
                <a:spcPts val="0"/>
              </a:spcBef>
              <a:spcAft>
                <a:spcPts val="600"/>
              </a:spcAft>
            </a:pPr>
            <a:r>
              <a:rPr sz="1350" b="1" i="0">
                <a:solidFill>
                  <a:srgbClr val="7C3AED"/>
                </a:solidFill>
                <a:latin typeface="Segoe UI"/>
              </a:rPr>
              <a:t>Libraries &amp; Frameworks</a:t>
            </a:r>
          </a:p>
          <a:p>
            <a:pPr algn="l" marL="183000" indent="-183000">
              <a:lnSpc>
                <a:spcPct val="100000"/>
              </a:lnSpc>
              <a:spcBef>
                <a:spcPts val="0"/>
              </a:spcBef>
              <a:spcAft>
                <a:spcPts val="350"/>
              </a:spcAft>
            </a:pPr>
            <a:r>
              <a:rPr sz="1150" b="1">
                <a:solidFill>
                  <a:srgbClr val="7C3AED"/>
                </a:solidFill>
                <a:latin typeface="Segoe UI"/>
              </a:rPr>
              <a:t>▪  </a:t>
            </a:r>
            <a:r>
              <a:rPr sz="1150" b="0" i="0">
                <a:solidFill>
                  <a:srgbClr val="E2E8F0"/>
                </a:solidFill>
                <a:latin typeface="Segoe UI"/>
              </a:rPr>
              <a:t>scikit-learn — preprocessing, models, metrics</a:t>
            </a:r>
          </a:p>
          <a:p>
            <a:pPr algn="l" marL="183000" indent="-183000">
              <a:lnSpc>
                <a:spcPct val="100000"/>
              </a:lnSpc>
              <a:spcBef>
                <a:spcPts val="0"/>
              </a:spcBef>
              <a:spcAft>
                <a:spcPts val="350"/>
              </a:spcAft>
            </a:pPr>
            <a:r>
              <a:rPr sz="1150" b="1">
                <a:solidFill>
                  <a:srgbClr val="7C3AED"/>
                </a:solidFill>
                <a:latin typeface="Segoe UI"/>
              </a:rPr>
              <a:t>▪  </a:t>
            </a:r>
            <a:r>
              <a:rPr sz="1150" b="0" i="0">
                <a:solidFill>
                  <a:srgbClr val="E2E8F0"/>
                </a:solidFill>
                <a:latin typeface="Segoe UI"/>
              </a:rPr>
              <a:t>NLTK + WordNet — tokenization, lemmatization</a:t>
            </a:r>
          </a:p>
          <a:p>
            <a:pPr algn="l" marL="183000" indent="-183000">
              <a:lnSpc>
                <a:spcPct val="100000"/>
              </a:lnSpc>
              <a:spcBef>
                <a:spcPts val="0"/>
              </a:spcBef>
              <a:spcAft>
                <a:spcPts val="350"/>
              </a:spcAft>
            </a:pPr>
            <a:r>
              <a:rPr sz="1150" b="1">
                <a:solidFill>
                  <a:srgbClr val="7C3AED"/>
                </a:solidFill>
                <a:latin typeface="Segoe UI"/>
              </a:rPr>
              <a:t>▪  </a:t>
            </a:r>
            <a:r>
              <a:rPr sz="1150" b="0" i="0">
                <a:solidFill>
                  <a:srgbClr val="E2E8F0"/>
                </a:solidFill>
                <a:latin typeface="Segoe UI"/>
              </a:rPr>
              <a:t>XGBoost · LightGBM — gradient-boosted trees</a:t>
            </a:r>
          </a:p>
          <a:p>
            <a:pPr algn="l" marL="183000" indent="-183000">
              <a:lnSpc>
                <a:spcPct val="100000"/>
              </a:lnSpc>
              <a:spcBef>
                <a:spcPts val="0"/>
              </a:spcBef>
              <a:spcAft>
                <a:spcPts val="350"/>
              </a:spcAft>
            </a:pPr>
            <a:r>
              <a:rPr sz="1150" b="1">
                <a:solidFill>
                  <a:srgbClr val="7C3AED"/>
                </a:solidFill>
                <a:latin typeface="Segoe UI"/>
              </a:rPr>
              <a:t>▪  </a:t>
            </a:r>
            <a:r>
              <a:rPr sz="1150" b="0" i="0">
                <a:solidFill>
                  <a:srgbClr val="E2E8F0"/>
                </a:solidFill>
                <a:latin typeface="Segoe UI"/>
              </a:rPr>
              <a:t>Streamlit — web UI · FastAPI + Uvicorn — REST API</a:t>
            </a:r>
          </a:p>
          <a:p>
            <a:pPr algn="l" marL="183000" indent="-183000">
              <a:lnSpc>
                <a:spcPct val="100000"/>
              </a:lnSpc>
              <a:spcBef>
                <a:spcPts val="0"/>
              </a:spcBef>
              <a:spcAft>
                <a:spcPts val="350"/>
              </a:spcAft>
            </a:pPr>
            <a:r>
              <a:rPr sz="1150" b="1">
                <a:solidFill>
                  <a:srgbClr val="7C3AED"/>
                </a:solidFill>
                <a:latin typeface="Segoe UI"/>
              </a:rPr>
              <a:t>▪  </a:t>
            </a:r>
            <a:r>
              <a:rPr sz="1150" b="0" i="0">
                <a:solidFill>
                  <a:srgbClr val="E2E8F0"/>
                </a:solidFill>
                <a:latin typeface="Segoe UI"/>
              </a:rPr>
              <a:t>Docker · Plotly · matplotlib · joblib · pytest</a:t>
            </a:r>
          </a:p>
        </p:txBody>
      </p:sp>
      <p:sp>
        <p:nvSpPr>
          <p:cNvPr id="14" name="Rounded Rectangle 13"/>
          <p:cNvSpPr/>
          <p:nvPr/>
        </p:nvSpPr>
        <p:spPr>
          <a:xfrm>
            <a:off x="548640" y="4206239"/>
            <a:ext cx="11091672" cy="1371600"/>
          </a:xfrm>
          <a:prstGeom prst="roundRect">
            <a:avLst>
              <a:gd name="adj" fmla="val 10000"/>
            </a:avLst>
          </a:prstGeom>
          <a:solidFill>
            <a:srgbClr val="151A38"/>
          </a:solidFill>
          <a:ln w="12700">
            <a:solidFill>
              <a:srgbClr val="2A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361687"/>
            <a:ext cx="10607040" cy="1097280"/>
          </a:xfrm>
          <a:prstGeom prst="rect">
            <a:avLst/>
          </a:prstGeom>
          <a:noFill/>
        </p:spPr>
        <p:txBody>
          <a:bodyPr wrap="square" anchor="t" lIns="0" rIns="0" tIns="0" bIns="0">
            <a:spAutoFit/>
          </a:bodyPr>
          <a:lstStyle/>
          <a:p>
            <a:pPr algn="l">
              <a:lnSpc>
                <a:spcPct val="100000"/>
              </a:lnSpc>
              <a:spcBef>
                <a:spcPts val="0"/>
              </a:spcBef>
              <a:spcAft>
                <a:spcPts val="500"/>
              </a:spcAft>
            </a:pPr>
            <a:r>
              <a:rPr sz="1350" b="1" i="0">
                <a:solidFill>
                  <a:srgbClr val="10B981"/>
                </a:solidFill>
                <a:latin typeface="Segoe UI"/>
              </a:rPr>
              <a:t>Reproducibility</a:t>
            </a:r>
          </a:p>
          <a:p>
            <a:pPr algn="l">
              <a:lnSpc>
                <a:spcPct val="130000"/>
              </a:lnSpc>
              <a:spcBef>
                <a:spcPts val="0"/>
              </a:spcBef>
              <a:spcAft>
                <a:spcPts val="0"/>
              </a:spcAft>
            </a:pPr>
            <a:r>
              <a:rPr sz="1150" b="0" i="0">
                <a:solidFill>
                  <a:srgbClr val="9CA9D0"/>
                </a:solidFill>
                <a:latin typeface="Segoe UI"/>
              </a:rPr>
              <a:t>Version pins in requirements.txt · Dockerfile mirrors the exact ML versions that trained the serialized models · seed 42 for all random operations · reports/ holds every number used in this deck.</a:t>
            </a:r>
          </a:p>
        </p:txBody>
      </p:sp>
      <p:sp>
        <p:nvSpPr>
          <p:cNvPr id="16" name="TextBox 15"/>
          <p:cNvSpPr txBox="1"/>
          <p:nvPr/>
        </p:nvSpPr>
        <p:spPr>
          <a:xfrm>
            <a:off x="548640" y="6473952"/>
            <a:ext cx="7772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CA9D0"/>
                </a:solidFill>
                <a:latin typeface="Segoe UI"/>
              </a:rPr>
              <a:t>AI-Driven Phishing Email Detection Using NLP  ·  IICT New Delhi</a:t>
            </a:r>
          </a:p>
        </p:txBody>
      </p:sp>
      <p:sp>
        <p:nvSpPr>
          <p:cNvPr id="17" name="TextBox 16"/>
          <p:cNvSpPr txBox="1"/>
          <p:nvPr/>
        </p:nvSpPr>
        <p:spPr>
          <a:xfrm>
            <a:off x="10972800" y="6473952"/>
            <a:ext cx="685800" cy="274320"/>
          </a:xfrm>
          <a:prstGeom prst="rect">
            <a:avLst/>
          </a:prstGeom>
          <a:noFill/>
        </p:spPr>
        <p:txBody>
          <a:bodyPr wrap="square" anchor="t" lIns="0" rIns="0" tIns="0" bIns="0">
            <a:spAutoFit/>
          </a:bodyPr>
          <a:lstStyle/>
          <a:p>
            <a:pPr algn="r">
              <a:lnSpc>
                <a:spcPct val="100000"/>
              </a:lnSpc>
              <a:spcBef>
                <a:spcPts val="0"/>
              </a:spcBef>
              <a:spcAft>
                <a:spcPts val="0"/>
              </a:spcAft>
            </a:pPr>
            <a:r>
              <a:rPr sz="1000" b="1" i="0">
                <a:solidFill>
                  <a:srgbClr val="00D4FF"/>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377440" cy="2377440"/>
          </a:xfrm>
          <a:prstGeom prst="ellipse">
            <a:avLst/>
          </a:prstGeom>
          <a:solidFill>
            <a:srgbClr val="00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28655" y="5394960"/>
            <a:ext cx="2377440" cy="2377440"/>
          </a:xfrm>
          <a:prstGeom prst="ellipse">
            <a:avLst/>
          </a:prstGeom>
          <a:solidFill>
            <a:srgbClr val="7C3AED">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381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221224" y="1280160"/>
            <a:ext cx="1755648" cy="1207008"/>
          </a:xfrm>
          <a:prstGeom prst="roundRect">
            <a:avLst>
              <a:gd name="adj" fmla="val 35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rot="10800000">
            <a:off x="5001768" y="2245766"/>
            <a:ext cx="2194560" cy="1141171"/>
          </a:xfrm>
          <a:prstGeom prst="triangl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657600"/>
            <a:ext cx="10515600" cy="822960"/>
          </a:xfrm>
          <a:prstGeom prst="rect">
            <a:avLst/>
          </a:prstGeom>
          <a:noFill/>
        </p:spPr>
        <p:txBody>
          <a:bodyPr wrap="square" anchor="t" lIns="0" rIns="0" tIns="0" bIns="0">
            <a:spAutoFit/>
          </a:bodyPr>
          <a:lstStyle/>
          <a:p>
            <a:pPr algn="ctr">
              <a:lnSpc>
                <a:spcPct val="100000"/>
              </a:lnSpc>
              <a:spcBef>
                <a:spcPts val="0"/>
              </a:spcBef>
              <a:spcAft>
                <a:spcPts val="0"/>
              </a:spcAft>
            </a:pPr>
            <a:r>
              <a:rPr sz="4800" b="1" i="0">
                <a:solidFill>
                  <a:srgbClr val="FFFFFF"/>
                </a:solidFill>
                <a:latin typeface="Segoe UI"/>
              </a:rPr>
              <a:t>Thank You</a:t>
            </a:r>
          </a:p>
        </p:txBody>
      </p:sp>
      <p:sp>
        <p:nvSpPr>
          <p:cNvPr id="9" name="TextBox 8"/>
          <p:cNvSpPr txBox="1"/>
          <p:nvPr/>
        </p:nvSpPr>
        <p:spPr>
          <a:xfrm>
            <a:off x="822960" y="4572000"/>
            <a:ext cx="10515600" cy="457200"/>
          </a:xfrm>
          <a:prstGeom prst="rect">
            <a:avLst/>
          </a:prstGeom>
          <a:noFill/>
        </p:spPr>
        <p:txBody>
          <a:bodyPr wrap="square" anchor="t" lIns="0" rIns="0" tIns="0" bIns="0">
            <a:spAutoFit/>
          </a:bodyPr>
          <a:lstStyle/>
          <a:p>
            <a:pPr algn="ctr">
              <a:lnSpc>
                <a:spcPct val="100000"/>
              </a:lnSpc>
              <a:spcBef>
                <a:spcPts val="0"/>
              </a:spcBef>
              <a:spcAft>
                <a:spcPts val="0"/>
              </a:spcAft>
            </a:pPr>
            <a:r>
              <a:rPr sz="2000" b="0" i="0">
                <a:solidFill>
                  <a:srgbClr val="00D4FF"/>
                </a:solidFill>
                <a:latin typeface="Segoe UI"/>
              </a:rPr>
              <a:t>Questions &amp; Discussion Welcome</a:t>
            </a:r>
          </a:p>
        </p:txBody>
      </p:sp>
      <p:sp>
        <p:nvSpPr>
          <p:cNvPr id="10" name="TextBox 9"/>
          <p:cNvSpPr txBox="1"/>
          <p:nvPr/>
        </p:nvSpPr>
        <p:spPr>
          <a:xfrm>
            <a:off x="822960" y="5303520"/>
            <a:ext cx="10515600" cy="457200"/>
          </a:xfrm>
          <a:prstGeom prst="rect">
            <a:avLst/>
          </a:prstGeom>
          <a:noFill/>
        </p:spPr>
        <p:txBody>
          <a:bodyPr wrap="square" anchor="t" lIns="0" rIns="0" tIns="0" bIns="0">
            <a:spAutoFit/>
          </a:bodyPr>
          <a:lstStyle/>
          <a:p>
            <a:pPr algn="ctr">
              <a:lnSpc>
                <a:spcPct val="100000"/>
              </a:lnSpc>
              <a:spcBef>
                <a:spcPts val="0"/>
              </a:spcBef>
              <a:spcAft>
                <a:spcPts val="0"/>
              </a:spcAft>
            </a:pPr>
            <a:r>
              <a:rPr sz="1300" b="0" i="0">
                <a:solidFill>
                  <a:srgbClr val="9CA9D0"/>
                </a:solidFill>
                <a:latin typeface="Segoe UI"/>
              </a:rPr>
              <a:t>Lahya Sree Bollinkala  ·  Indian Institute of Computing &amp; Technology (IICT), New Delhi  ·  2026–2027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